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notesMasters/notesMaster1.xml" ContentType="application/vnd.openxmlformats-officedocument.presentationml.notes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theme/theme2.xml" ContentType="application/vnd.openxmlformats-officedocument.them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diagrams/data2.xml" ContentType="application/vnd.openxmlformats-officedocument.drawingml.diagramData+xml"/>
  <Override PartName="/ppt/diagrams/layout2.xml" ContentType="application/vnd.openxmlformats-officedocument.drawingml.diagramLayout+xml"/>
  <Override PartName="/ppt/diagrams/quickStyle2.xml" ContentType="application/vnd.openxmlformats-officedocument.drawingml.diagramStyle+xml"/>
  <Override PartName="/ppt/diagrams/colors2.xml" ContentType="application/vnd.openxmlformats-officedocument.drawingml.diagramColors+xml"/>
  <Override PartName="/ppt/diagrams/drawing2.xml" ContentType="application/vnd.ms-office.drawingml.diagramDrawing+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78" r:id="rId1"/>
  </p:sldMasterIdLst>
  <p:notesMasterIdLst>
    <p:notesMasterId r:id="rId42"/>
  </p:notesMasterIdLst>
  <p:sldIdLst>
    <p:sldId id="256" r:id="rId2"/>
    <p:sldId id="257" r:id="rId3"/>
    <p:sldId id="258" r:id="rId4"/>
    <p:sldId id="259" r:id="rId5"/>
    <p:sldId id="260" r:id="rId6"/>
    <p:sldId id="284" r:id="rId7"/>
    <p:sldId id="261" r:id="rId8"/>
    <p:sldId id="262" r:id="rId9"/>
    <p:sldId id="265" r:id="rId10"/>
    <p:sldId id="264" r:id="rId11"/>
    <p:sldId id="308" r:id="rId12"/>
    <p:sldId id="283" r:id="rId13"/>
    <p:sldId id="282" r:id="rId14"/>
    <p:sldId id="280" r:id="rId15"/>
    <p:sldId id="281" r:id="rId16"/>
    <p:sldId id="288" r:id="rId17"/>
    <p:sldId id="263" r:id="rId18"/>
    <p:sldId id="287" r:id="rId19"/>
    <p:sldId id="289" r:id="rId20"/>
    <p:sldId id="309" r:id="rId21"/>
    <p:sldId id="285" r:id="rId22"/>
    <p:sldId id="286" r:id="rId23"/>
    <p:sldId id="290" r:id="rId24"/>
    <p:sldId id="310" r:id="rId25"/>
    <p:sldId id="292" r:id="rId26"/>
    <p:sldId id="311" r:id="rId27"/>
    <p:sldId id="293" r:id="rId28"/>
    <p:sldId id="312" r:id="rId29"/>
    <p:sldId id="295" r:id="rId30"/>
    <p:sldId id="297" r:id="rId31"/>
    <p:sldId id="299" r:id="rId32"/>
    <p:sldId id="300" r:id="rId33"/>
    <p:sldId id="301" r:id="rId34"/>
    <p:sldId id="302" r:id="rId35"/>
    <p:sldId id="303" r:id="rId36"/>
    <p:sldId id="305" r:id="rId37"/>
    <p:sldId id="304" r:id="rId38"/>
    <p:sldId id="298" r:id="rId39"/>
    <p:sldId id="294" r:id="rId40"/>
    <p:sldId id="291" r:id="rId41"/>
  </p:sldIdLst>
  <p:sldSz cx="12192000" cy="7127875"/>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mayar sy" initials="ms" lastIdx="2" clrIdx="0">
    <p:extLst>
      <p:ext uri="{19B8F6BF-5375-455C-9EA6-DF929625EA0E}">
        <p15:presenceInfo xmlns:p15="http://schemas.microsoft.com/office/powerpoint/2012/main" userId="c679c751f07748c1" providerId="Windows Live"/>
      </p:ext>
    </p:extLst>
  </p:cmAuthor>
</p:cmAuthorLst>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6844" autoAdjust="0"/>
    <p:restoredTop sz="94660"/>
  </p:normalViewPr>
  <p:slideViewPr>
    <p:cSldViewPr snapToGrid="0">
      <p:cViewPr varScale="1">
        <p:scale>
          <a:sx n="82" d="100"/>
          <a:sy n="82" d="100"/>
        </p:scale>
        <p:origin x="1094" y="67"/>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notesMaster" Target="notesMasters/notesMaster1.xml"/><Relationship Id="rId47" Type="http://schemas.openxmlformats.org/officeDocument/2006/relationships/tableStyles" Target="tableStyles.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viewProps" Target="view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commentAuthors" Target="commentAuthors.xml"/><Relationship Id="rId8" Type="http://schemas.openxmlformats.org/officeDocument/2006/relationships/slide" Target="slides/slide7.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theme" Target="theme/theme1.xml"/><Relationship Id="rId20" Type="http://schemas.openxmlformats.org/officeDocument/2006/relationships/slide" Target="slides/slide19.xml"/><Relationship Id="rId41" Type="http://schemas.openxmlformats.org/officeDocument/2006/relationships/slide" Target="slides/slide40.xml"/></Relationships>
</file>

<file path=ppt/diagrams/colors1.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D6D4E0A5-0A4F-4752-BB80-DFDD38730B88}" type="doc">
      <dgm:prSet loTypeId="urn:microsoft.com/office/officeart/2005/8/layout/process1" loCatId="process" qsTypeId="urn:microsoft.com/office/officeart/2005/8/quickstyle/simple1" qsCatId="simple" csTypeId="urn:microsoft.com/office/officeart/2005/8/colors/accent1_2" csCatId="accent1" phldr="1"/>
      <dgm:spPr/>
    </dgm:pt>
    <dgm:pt modelId="{F182810E-8505-4F98-9750-311FA020D461}">
      <dgm:prSet phldrT="[Text]"/>
      <dgm:spPr>
        <a:solidFill>
          <a:srgbClr val="7030A0"/>
        </a:solidFill>
        <a:ln>
          <a:solidFill>
            <a:schemeClr val="tx1"/>
          </a:solidFill>
        </a:ln>
        <a:scene3d>
          <a:camera prst="perspectiveRelaxedModerately"/>
          <a:lightRig rig="threePt" dir="t"/>
        </a:scene3d>
      </dgm:spPr>
      <dgm:t>
        <a:bodyPr/>
        <a:lstStyle/>
        <a:p>
          <a:r>
            <a:rPr lang="en-US" dirty="0"/>
            <a:t>MRI Picture</a:t>
          </a:r>
        </a:p>
      </dgm:t>
    </dgm:pt>
    <dgm:pt modelId="{975DF2B5-B2E6-48AE-B5B0-EA533F982211}" type="parTrans" cxnId="{A04D8A5C-0F40-4EAF-8050-5A4121174134}">
      <dgm:prSet/>
      <dgm:spPr/>
      <dgm:t>
        <a:bodyPr/>
        <a:lstStyle/>
        <a:p>
          <a:endParaRPr lang="en-US"/>
        </a:p>
      </dgm:t>
    </dgm:pt>
    <dgm:pt modelId="{D687A1BA-B0A5-40FE-A6F4-E760402CC13D}" type="sibTrans" cxnId="{A04D8A5C-0F40-4EAF-8050-5A4121174134}">
      <dgm:prSet/>
      <dgm:spPr/>
      <dgm:t>
        <a:bodyPr/>
        <a:lstStyle/>
        <a:p>
          <a:endParaRPr lang="en-US"/>
        </a:p>
      </dgm:t>
    </dgm:pt>
    <dgm:pt modelId="{38F589EF-22ED-4B24-A0F6-0639A5E73D2B}">
      <dgm:prSet phldrT="[Text]"/>
      <dgm:spPr>
        <a:solidFill>
          <a:srgbClr val="00B0F0"/>
        </a:solidFill>
        <a:scene3d>
          <a:camera prst="perspectiveRight"/>
          <a:lightRig rig="threePt" dir="t"/>
        </a:scene3d>
      </dgm:spPr>
      <dgm:t>
        <a:bodyPr/>
        <a:lstStyle/>
        <a:p>
          <a:r>
            <a:rPr lang="en-US" dirty="0"/>
            <a:t>AI MODEL</a:t>
          </a:r>
        </a:p>
        <a:p>
          <a:r>
            <a:rPr lang="en-US" dirty="0"/>
            <a:t>(VGG16)</a:t>
          </a:r>
        </a:p>
        <a:p>
          <a:r>
            <a:rPr lang="en-US" dirty="0"/>
            <a:t>+</a:t>
          </a:r>
        </a:p>
        <a:p>
          <a:r>
            <a:rPr lang="en-US" dirty="0"/>
            <a:t>(Resnet101)</a:t>
          </a:r>
        </a:p>
      </dgm:t>
    </dgm:pt>
    <dgm:pt modelId="{11561770-D81F-4067-A0E7-0A6B92BA6C8D}" type="parTrans" cxnId="{0CC611A7-885E-480E-A598-0D32B3762107}">
      <dgm:prSet/>
      <dgm:spPr/>
      <dgm:t>
        <a:bodyPr/>
        <a:lstStyle/>
        <a:p>
          <a:endParaRPr lang="en-US"/>
        </a:p>
      </dgm:t>
    </dgm:pt>
    <dgm:pt modelId="{0AA3C01C-A15B-4959-9BED-C4E4F7FA20C1}" type="sibTrans" cxnId="{0CC611A7-885E-480E-A598-0D32B3762107}">
      <dgm:prSet/>
      <dgm:spPr/>
      <dgm:t>
        <a:bodyPr/>
        <a:lstStyle/>
        <a:p>
          <a:endParaRPr lang="en-US"/>
        </a:p>
      </dgm:t>
    </dgm:pt>
    <dgm:pt modelId="{D14C6365-02A8-4213-A45E-B309DE305F48}">
      <dgm:prSet phldrT="[Text]"/>
      <dgm:spPr>
        <a:solidFill>
          <a:srgbClr val="00B050"/>
        </a:solidFill>
        <a:scene3d>
          <a:camera prst="perspectiveRelaxedModerately"/>
          <a:lightRig rig="threePt" dir="t"/>
        </a:scene3d>
      </dgm:spPr>
      <dgm:t>
        <a:bodyPr/>
        <a:lstStyle/>
        <a:p>
          <a:r>
            <a:rPr lang="en-US" dirty="0"/>
            <a:t>OUTPUT</a:t>
          </a:r>
          <a:br>
            <a:rPr lang="en-US" dirty="0"/>
          </a:br>
          <a:r>
            <a:rPr lang="en-US" dirty="0"/>
            <a:t>[Classification]</a:t>
          </a:r>
        </a:p>
      </dgm:t>
    </dgm:pt>
    <dgm:pt modelId="{ED48DCE7-F513-41A5-AAFF-3B5431553CF1}" type="parTrans" cxnId="{C94FC4CB-1193-4F7F-8F1D-AF37E0E82395}">
      <dgm:prSet/>
      <dgm:spPr/>
      <dgm:t>
        <a:bodyPr/>
        <a:lstStyle/>
        <a:p>
          <a:endParaRPr lang="en-US"/>
        </a:p>
      </dgm:t>
    </dgm:pt>
    <dgm:pt modelId="{E2AF5FB6-D440-4E5D-95E9-093E0CC8C147}" type="sibTrans" cxnId="{C94FC4CB-1193-4F7F-8F1D-AF37E0E82395}">
      <dgm:prSet/>
      <dgm:spPr/>
      <dgm:t>
        <a:bodyPr/>
        <a:lstStyle/>
        <a:p>
          <a:endParaRPr lang="en-US"/>
        </a:p>
      </dgm:t>
    </dgm:pt>
    <dgm:pt modelId="{24912BD2-84D5-4286-8308-9345FC557AF8}" type="pres">
      <dgm:prSet presAssocID="{D6D4E0A5-0A4F-4752-BB80-DFDD38730B88}" presName="Name0" presStyleCnt="0">
        <dgm:presLayoutVars>
          <dgm:dir/>
          <dgm:resizeHandles val="exact"/>
        </dgm:presLayoutVars>
      </dgm:prSet>
      <dgm:spPr/>
    </dgm:pt>
    <dgm:pt modelId="{3D60B4F6-EA4D-43CA-9443-C5504213208A}" type="pres">
      <dgm:prSet presAssocID="{F182810E-8505-4F98-9750-311FA020D461}" presName="node" presStyleLbl="node1" presStyleIdx="0" presStyleCnt="3">
        <dgm:presLayoutVars>
          <dgm:bulletEnabled val="1"/>
        </dgm:presLayoutVars>
      </dgm:prSet>
      <dgm:spPr/>
    </dgm:pt>
    <dgm:pt modelId="{6A011C06-5EDC-41ED-BCF0-BC5798991088}" type="pres">
      <dgm:prSet presAssocID="{D687A1BA-B0A5-40FE-A6F4-E760402CC13D}" presName="sibTrans" presStyleLbl="sibTrans2D1" presStyleIdx="0" presStyleCnt="2"/>
      <dgm:spPr/>
    </dgm:pt>
    <dgm:pt modelId="{A7B91A1B-D209-4B47-89FE-C5FB3830D27E}" type="pres">
      <dgm:prSet presAssocID="{D687A1BA-B0A5-40FE-A6F4-E760402CC13D}" presName="connectorText" presStyleLbl="sibTrans2D1" presStyleIdx="0" presStyleCnt="2"/>
      <dgm:spPr/>
    </dgm:pt>
    <dgm:pt modelId="{682205AA-FAA2-48C7-8E48-0001155F951C}" type="pres">
      <dgm:prSet presAssocID="{38F589EF-22ED-4B24-A0F6-0639A5E73D2B}" presName="node" presStyleLbl="node1" presStyleIdx="1" presStyleCnt="3">
        <dgm:presLayoutVars>
          <dgm:bulletEnabled val="1"/>
        </dgm:presLayoutVars>
      </dgm:prSet>
      <dgm:spPr/>
    </dgm:pt>
    <dgm:pt modelId="{42B91C1B-C61C-4691-BBAF-AEB593A7536E}" type="pres">
      <dgm:prSet presAssocID="{0AA3C01C-A15B-4959-9BED-C4E4F7FA20C1}" presName="sibTrans" presStyleLbl="sibTrans2D1" presStyleIdx="1" presStyleCnt="2"/>
      <dgm:spPr/>
    </dgm:pt>
    <dgm:pt modelId="{82F8B915-02F2-47C2-9BF5-C184F99DCBA2}" type="pres">
      <dgm:prSet presAssocID="{0AA3C01C-A15B-4959-9BED-C4E4F7FA20C1}" presName="connectorText" presStyleLbl="sibTrans2D1" presStyleIdx="1" presStyleCnt="2"/>
      <dgm:spPr/>
    </dgm:pt>
    <dgm:pt modelId="{CD7E95AD-4828-4E8D-A234-0A5883722564}" type="pres">
      <dgm:prSet presAssocID="{D14C6365-02A8-4213-A45E-B309DE305F48}" presName="node" presStyleLbl="node1" presStyleIdx="2" presStyleCnt="3">
        <dgm:presLayoutVars>
          <dgm:bulletEnabled val="1"/>
        </dgm:presLayoutVars>
      </dgm:prSet>
      <dgm:spPr/>
    </dgm:pt>
  </dgm:ptLst>
  <dgm:cxnLst>
    <dgm:cxn modelId="{0295B102-2CEF-40E9-8192-6050E86C3427}" type="presOf" srcId="{D687A1BA-B0A5-40FE-A6F4-E760402CC13D}" destId="{A7B91A1B-D209-4B47-89FE-C5FB3830D27E}" srcOrd="1" destOrd="0" presId="urn:microsoft.com/office/officeart/2005/8/layout/process1"/>
    <dgm:cxn modelId="{A04D8A5C-0F40-4EAF-8050-5A4121174134}" srcId="{D6D4E0A5-0A4F-4752-BB80-DFDD38730B88}" destId="{F182810E-8505-4F98-9750-311FA020D461}" srcOrd="0" destOrd="0" parTransId="{975DF2B5-B2E6-48AE-B5B0-EA533F982211}" sibTransId="{D687A1BA-B0A5-40FE-A6F4-E760402CC13D}"/>
    <dgm:cxn modelId="{E9DBD377-D260-45C9-8588-E793FF112321}" type="presOf" srcId="{F182810E-8505-4F98-9750-311FA020D461}" destId="{3D60B4F6-EA4D-43CA-9443-C5504213208A}" srcOrd="0" destOrd="0" presId="urn:microsoft.com/office/officeart/2005/8/layout/process1"/>
    <dgm:cxn modelId="{4E266183-EDC2-42F1-A1BE-A23372FBD2C6}" type="presOf" srcId="{D6D4E0A5-0A4F-4752-BB80-DFDD38730B88}" destId="{24912BD2-84D5-4286-8308-9345FC557AF8}" srcOrd="0" destOrd="0" presId="urn:microsoft.com/office/officeart/2005/8/layout/process1"/>
    <dgm:cxn modelId="{0CC611A7-885E-480E-A598-0D32B3762107}" srcId="{D6D4E0A5-0A4F-4752-BB80-DFDD38730B88}" destId="{38F589EF-22ED-4B24-A0F6-0639A5E73D2B}" srcOrd="1" destOrd="0" parTransId="{11561770-D81F-4067-A0E7-0A6B92BA6C8D}" sibTransId="{0AA3C01C-A15B-4959-9BED-C4E4F7FA20C1}"/>
    <dgm:cxn modelId="{343EB4A8-428E-40B4-9450-AB1F9DD863AE}" type="presOf" srcId="{0AA3C01C-A15B-4959-9BED-C4E4F7FA20C1}" destId="{42B91C1B-C61C-4691-BBAF-AEB593A7536E}" srcOrd="0" destOrd="0" presId="urn:microsoft.com/office/officeart/2005/8/layout/process1"/>
    <dgm:cxn modelId="{33B24ABB-CC62-4692-8B90-A249B0064B6B}" type="presOf" srcId="{D687A1BA-B0A5-40FE-A6F4-E760402CC13D}" destId="{6A011C06-5EDC-41ED-BCF0-BC5798991088}" srcOrd="0" destOrd="0" presId="urn:microsoft.com/office/officeart/2005/8/layout/process1"/>
    <dgm:cxn modelId="{C94FC4CB-1193-4F7F-8F1D-AF37E0E82395}" srcId="{D6D4E0A5-0A4F-4752-BB80-DFDD38730B88}" destId="{D14C6365-02A8-4213-A45E-B309DE305F48}" srcOrd="2" destOrd="0" parTransId="{ED48DCE7-F513-41A5-AAFF-3B5431553CF1}" sibTransId="{E2AF5FB6-D440-4E5D-95E9-093E0CC8C147}"/>
    <dgm:cxn modelId="{D88812D3-EE98-4E45-8287-1014E9E2858A}" type="presOf" srcId="{D14C6365-02A8-4213-A45E-B309DE305F48}" destId="{CD7E95AD-4828-4E8D-A234-0A5883722564}" srcOrd="0" destOrd="0" presId="urn:microsoft.com/office/officeart/2005/8/layout/process1"/>
    <dgm:cxn modelId="{C91958D8-86AD-4E8D-81CF-3447C59DF774}" type="presOf" srcId="{38F589EF-22ED-4B24-A0F6-0639A5E73D2B}" destId="{682205AA-FAA2-48C7-8E48-0001155F951C}" srcOrd="0" destOrd="0" presId="urn:microsoft.com/office/officeart/2005/8/layout/process1"/>
    <dgm:cxn modelId="{8C053AF7-F6D9-44F5-9578-37A3AE42D32D}" type="presOf" srcId="{0AA3C01C-A15B-4959-9BED-C4E4F7FA20C1}" destId="{82F8B915-02F2-47C2-9BF5-C184F99DCBA2}" srcOrd="1" destOrd="0" presId="urn:microsoft.com/office/officeart/2005/8/layout/process1"/>
    <dgm:cxn modelId="{B9C3DF48-C76C-4AC8-BA24-498C7F1E7C76}" type="presParOf" srcId="{24912BD2-84D5-4286-8308-9345FC557AF8}" destId="{3D60B4F6-EA4D-43CA-9443-C5504213208A}" srcOrd="0" destOrd="0" presId="urn:microsoft.com/office/officeart/2005/8/layout/process1"/>
    <dgm:cxn modelId="{0CF6518E-73F8-4DEE-8F47-8A5B05A01813}" type="presParOf" srcId="{24912BD2-84D5-4286-8308-9345FC557AF8}" destId="{6A011C06-5EDC-41ED-BCF0-BC5798991088}" srcOrd="1" destOrd="0" presId="urn:microsoft.com/office/officeart/2005/8/layout/process1"/>
    <dgm:cxn modelId="{2497B982-4947-47C4-8A4C-0FFC7841803B}" type="presParOf" srcId="{6A011C06-5EDC-41ED-BCF0-BC5798991088}" destId="{A7B91A1B-D209-4B47-89FE-C5FB3830D27E}" srcOrd="0" destOrd="0" presId="urn:microsoft.com/office/officeart/2005/8/layout/process1"/>
    <dgm:cxn modelId="{DAA8CC81-FFD8-41A0-B7A9-0A7B42DB6C75}" type="presParOf" srcId="{24912BD2-84D5-4286-8308-9345FC557AF8}" destId="{682205AA-FAA2-48C7-8E48-0001155F951C}" srcOrd="2" destOrd="0" presId="urn:microsoft.com/office/officeart/2005/8/layout/process1"/>
    <dgm:cxn modelId="{E8C9D5DC-646F-4BF8-BADD-8B2617A379C2}" type="presParOf" srcId="{24912BD2-84D5-4286-8308-9345FC557AF8}" destId="{42B91C1B-C61C-4691-BBAF-AEB593A7536E}" srcOrd="3" destOrd="0" presId="urn:microsoft.com/office/officeart/2005/8/layout/process1"/>
    <dgm:cxn modelId="{BE5811D5-DF66-4F02-8274-22424FE52DEE}" type="presParOf" srcId="{42B91C1B-C61C-4691-BBAF-AEB593A7536E}" destId="{82F8B915-02F2-47C2-9BF5-C184F99DCBA2}" srcOrd="0" destOrd="0" presId="urn:microsoft.com/office/officeart/2005/8/layout/process1"/>
    <dgm:cxn modelId="{A8E7502D-A109-48B6-9860-2472B27DA4F2}" type="presParOf" srcId="{24912BD2-84D5-4286-8308-9345FC557AF8}" destId="{CD7E95AD-4828-4E8D-A234-0A5883722564}" srcOrd="4" destOrd="0" presId="urn:microsoft.com/office/officeart/2005/8/layout/process1"/>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2.xml><?xml version="1.0" encoding="utf-8"?>
<dgm:dataModel xmlns:dgm="http://schemas.openxmlformats.org/drawingml/2006/diagram" xmlns:a="http://schemas.openxmlformats.org/drawingml/2006/main">
  <dgm:ptLst>
    <dgm:pt modelId="{7136E1C9-9A69-4073-BB78-2ACE31DAF4A3}" type="doc">
      <dgm:prSet loTypeId="urn:microsoft.com/office/officeart/2005/8/layout/process2" loCatId="process" qsTypeId="urn:microsoft.com/office/officeart/2005/8/quickstyle/simple1" qsCatId="simple" csTypeId="urn:microsoft.com/office/officeart/2005/8/colors/accent1_2" csCatId="accent1" phldr="1"/>
      <dgm:spPr/>
    </dgm:pt>
    <dgm:pt modelId="{13F4DA81-6F17-4E31-9C05-350E8052F24C}">
      <dgm:prSet phldrT="[Text]"/>
      <dgm:spPr/>
      <dgm:t>
        <a:bodyPr/>
        <a:lstStyle/>
        <a:p>
          <a:r>
            <a:rPr lang="en-US" dirty="0"/>
            <a:t>Start</a:t>
          </a:r>
        </a:p>
      </dgm:t>
    </dgm:pt>
    <dgm:pt modelId="{F5174471-61D0-4565-858B-A536F9C8FD47}" type="sibTrans" cxnId="{91FD3CF9-CCB7-43EB-8929-FE95A2625C32}">
      <dgm:prSet/>
      <dgm:spPr/>
      <dgm:t>
        <a:bodyPr/>
        <a:lstStyle/>
        <a:p>
          <a:endParaRPr lang="en-US"/>
        </a:p>
      </dgm:t>
    </dgm:pt>
    <dgm:pt modelId="{5243681C-B61D-455D-8B85-840E098FD919}" type="parTrans" cxnId="{91FD3CF9-CCB7-43EB-8929-FE95A2625C32}">
      <dgm:prSet/>
      <dgm:spPr/>
      <dgm:t>
        <a:bodyPr/>
        <a:lstStyle/>
        <a:p>
          <a:endParaRPr lang="en-US"/>
        </a:p>
      </dgm:t>
    </dgm:pt>
    <dgm:pt modelId="{3674EF79-6B9F-40B0-88CE-49EB780839FD}">
      <dgm:prSet phldrT="[Text]"/>
      <dgm:spPr>
        <a:solidFill>
          <a:schemeClr val="accent1"/>
        </a:solidFill>
        <a:ln>
          <a:solidFill>
            <a:schemeClr val="tx1"/>
          </a:solidFill>
        </a:ln>
      </dgm:spPr>
      <dgm:t>
        <a:bodyPr/>
        <a:lstStyle/>
        <a:p>
          <a:r>
            <a:rPr lang="en-US" dirty="0"/>
            <a:t>Reference study</a:t>
          </a:r>
        </a:p>
      </dgm:t>
    </dgm:pt>
    <dgm:pt modelId="{6CC91359-40E3-4F61-8934-8AB06CC17158}" type="sibTrans" cxnId="{E7BA65E9-9F7E-487B-936F-40A4610EED05}">
      <dgm:prSet/>
      <dgm:spPr/>
      <dgm:t>
        <a:bodyPr/>
        <a:lstStyle/>
        <a:p>
          <a:endParaRPr lang="en-US"/>
        </a:p>
      </dgm:t>
    </dgm:pt>
    <dgm:pt modelId="{11E685C5-995E-42EC-90D3-62D2DD747560}" type="parTrans" cxnId="{E7BA65E9-9F7E-487B-936F-40A4610EED05}">
      <dgm:prSet/>
      <dgm:spPr/>
      <dgm:t>
        <a:bodyPr/>
        <a:lstStyle/>
        <a:p>
          <a:endParaRPr lang="en-US"/>
        </a:p>
      </dgm:t>
    </dgm:pt>
    <dgm:pt modelId="{BB1FF74E-F278-4DAE-97ED-B2C7E82F3FE4}">
      <dgm:prSet phldrT="[Text]"/>
      <dgm:spPr/>
      <dgm:t>
        <a:bodyPr/>
        <a:lstStyle/>
        <a:p>
          <a:pPr algn="l"/>
          <a:r>
            <a:rPr lang="en-US" dirty="0"/>
            <a:t>Dataset cleaning</a:t>
          </a:r>
        </a:p>
      </dgm:t>
    </dgm:pt>
    <dgm:pt modelId="{C0209354-23C9-4253-B217-F2416FEFC0D8}" type="sibTrans" cxnId="{0B2472BE-DAD4-40F1-99D6-83A09593C3F8}">
      <dgm:prSet/>
      <dgm:spPr/>
      <dgm:t>
        <a:bodyPr/>
        <a:lstStyle/>
        <a:p>
          <a:endParaRPr lang="en-US"/>
        </a:p>
      </dgm:t>
    </dgm:pt>
    <dgm:pt modelId="{E334EE90-3546-4554-97E6-D70A246D2024}" type="parTrans" cxnId="{0B2472BE-DAD4-40F1-99D6-83A09593C3F8}">
      <dgm:prSet/>
      <dgm:spPr/>
      <dgm:t>
        <a:bodyPr/>
        <a:lstStyle/>
        <a:p>
          <a:endParaRPr lang="en-US"/>
        </a:p>
      </dgm:t>
    </dgm:pt>
    <dgm:pt modelId="{08001498-596C-4FFE-A284-88A0B21B9AC3}">
      <dgm:prSet/>
      <dgm:spPr/>
      <dgm:t>
        <a:bodyPr/>
        <a:lstStyle/>
        <a:p>
          <a:r>
            <a:rPr lang="en-US" dirty="0"/>
            <a:t>Preprocessing </a:t>
          </a:r>
        </a:p>
      </dgm:t>
    </dgm:pt>
    <dgm:pt modelId="{7F6186E1-774A-4F7F-A798-87CE834006F0}" type="sibTrans" cxnId="{26246D08-66EF-4E8D-B33A-20776FA6EA1C}">
      <dgm:prSet/>
      <dgm:spPr/>
      <dgm:t>
        <a:bodyPr/>
        <a:lstStyle/>
        <a:p>
          <a:endParaRPr lang="en-US"/>
        </a:p>
      </dgm:t>
    </dgm:pt>
    <dgm:pt modelId="{770428DD-4F55-4B73-9BF9-F3AF1EE3E0C2}" type="parTrans" cxnId="{26246D08-66EF-4E8D-B33A-20776FA6EA1C}">
      <dgm:prSet/>
      <dgm:spPr/>
      <dgm:t>
        <a:bodyPr/>
        <a:lstStyle/>
        <a:p>
          <a:endParaRPr lang="en-US"/>
        </a:p>
      </dgm:t>
    </dgm:pt>
    <dgm:pt modelId="{29F9A1B2-1A0F-4500-9AA7-33434F03036D}">
      <dgm:prSet/>
      <dgm:spPr/>
      <dgm:t>
        <a:bodyPr/>
        <a:lstStyle/>
        <a:p>
          <a:r>
            <a:rPr lang="en-US" dirty="0"/>
            <a:t>Applying VGG16+ Resnet</a:t>
          </a:r>
        </a:p>
      </dgm:t>
    </dgm:pt>
    <dgm:pt modelId="{B995DCBB-5295-4A75-8239-379185EBD5F4}" type="sibTrans" cxnId="{52F2EA17-F169-40E4-B979-DBED5224FD51}">
      <dgm:prSet/>
      <dgm:spPr/>
      <dgm:t>
        <a:bodyPr/>
        <a:lstStyle/>
        <a:p>
          <a:endParaRPr lang="en-US"/>
        </a:p>
      </dgm:t>
    </dgm:pt>
    <dgm:pt modelId="{5519C2C6-6E5B-4E03-A370-A2110A88A4DD}" type="parTrans" cxnId="{52F2EA17-F169-40E4-B979-DBED5224FD51}">
      <dgm:prSet/>
      <dgm:spPr/>
      <dgm:t>
        <a:bodyPr/>
        <a:lstStyle/>
        <a:p>
          <a:endParaRPr lang="en-US"/>
        </a:p>
      </dgm:t>
    </dgm:pt>
    <dgm:pt modelId="{2FE23A7A-C3BA-4688-842C-BF277AF9F9B7}">
      <dgm:prSet/>
      <dgm:spPr/>
      <dgm:t>
        <a:bodyPr/>
        <a:lstStyle/>
        <a:p>
          <a:r>
            <a:rPr lang="en-US" dirty="0"/>
            <a:t>Training</a:t>
          </a:r>
        </a:p>
      </dgm:t>
    </dgm:pt>
    <dgm:pt modelId="{2EC1060E-8D70-453A-AF3E-BD3C9E4D5DC3}" type="parTrans" cxnId="{17FB91D6-615D-4EE7-94D9-EE6C454A33EF}">
      <dgm:prSet/>
      <dgm:spPr/>
      <dgm:t>
        <a:bodyPr/>
        <a:lstStyle/>
        <a:p>
          <a:endParaRPr lang="en-US"/>
        </a:p>
      </dgm:t>
    </dgm:pt>
    <dgm:pt modelId="{AC5D4EAE-987B-4A99-B3C4-AA3C3DCF9223}" type="sibTrans" cxnId="{17FB91D6-615D-4EE7-94D9-EE6C454A33EF}">
      <dgm:prSet/>
      <dgm:spPr/>
      <dgm:t>
        <a:bodyPr/>
        <a:lstStyle/>
        <a:p>
          <a:endParaRPr lang="en-US"/>
        </a:p>
      </dgm:t>
    </dgm:pt>
    <dgm:pt modelId="{8AD3A255-ACDC-418E-98F3-7F31F00B3345}">
      <dgm:prSet/>
      <dgm:spPr/>
      <dgm:t>
        <a:bodyPr/>
        <a:lstStyle/>
        <a:p>
          <a:r>
            <a:rPr lang="en-US" dirty="0"/>
            <a:t>Testing</a:t>
          </a:r>
        </a:p>
      </dgm:t>
    </dgm:pt>
    <dgm:pt modelId="{26A568D3-5CFB-415C-BF87-C4D992E175B2}" type="parTrans" cxnId="{14FE2571-9852-4ABB-BD6D-C72AC7175CA6}">
      <dgm:prSet/>
      <dgm:spPr/>
      <dgm:t>
        <a:bodyPr/>
        <a:lstStyle/>
        <a:p>
          <a:endParaRPr lang="en-US"/>
        </a:p>
      </dgm:t>
    </dgm:pt>
    <dgm:pt modelId="{A2FF0172-3C23-4B09-93E8-7388FE9BF0EF}" type="sibTrans" cxnId="{14FE2571-9852-4ABB-BD6D-C72AC7175CA6}">
      <dgm:prSet/>
      <dgm:spPr/>
      <dgm:t>
        <a:bodyPr/>
        <a:lstStyle/>
        <a:p>
          <a:endParaRPr lang="en-US"/>
        </a:p>
      </dgm:t>
    </dgm:pt>
    <dgm:pt modelId="{BEFA7F1A-B867-4AA1-A566-86ACECBA2E3F}">
      <dgm:prSet/>
      <dgm:spPr/>
      <dgm:t>
        <a:bodyPr/>
        <a:lstStyle/>
        <a:p>
          <a:r>
            <a:rPr lang="en-US" dirty="0"/>
            <a:t>Evaluation </a:t>
          </a:r>
        </a:p>
      </dgm:t>
    </dgm:pt>
    <dgm:pt modelId="{D8B0715F-C50B-4821-94CD-B8220F9C448C}" type="parTrans" cxnId="{396E7BEA-B9CC-41E2-AC26-DE239E66A456}">
      <dgm:prSet/>
      <dgm:spPr/>
      <dgm:t>
        <a:bodyPr/>
        <a:lstStyle/>
        <a:p>
          <a:endParaRPr lang="en-US"/>
        </a:p>
      </dgm:t>
    </dgm:pt>
    <dgm:pt modelId="{5E7E421E-D8E7-4B60-8AE0-DFDFE064A15C}" type="sibTrans" cxnId="{396E7BEA-B9CC-41E2-AC26-DE239E66A456}">
      <dgm:prSet/>
      <dgm:spPr/>
      <dgm:t>
        <a:bodyPr/>
        <a:lstStyle/>
        <a:p>
          <a:endParaRPr lang="en-US"/>
        </a:p>
      </dgm:t>
    </dgm:pt>
    <dgm:pt modelId="{A28AA25B-AB90-4230-9450-3390343FAE02}">
      <dgm:prSet/>
      <dgm:spPr>
        <a:solidFill>
          <a:schemeClr val="accent1">
            <a:lumMod val="75000"/>
          </a:schemeClr>
        </a:solidFill>
      </dgm:spPr>
      <dgm:t>
        <a:bodyPr/>
        <a:lstStyle/>
        <a:p>
          <a:r>
            <a:rPr lang="en-US" dirty="0"/>
            <a:t>Output</a:t>
          </a:r>
        </a:p>
      </dgm:t>
    </dgm:pt>
    <dgm:pt modelId="{1A132B10-2527-4827-9E80-26B946E64977}" type="parTrans" cxnId="{AC91BBC0-732B-4B18-8DFF-348AE444BE87}">
      <dgm:prSet/>
      <dgm:spPr/>
      <dgm:t>
        <a:bodyPr/>
        <a:lstStyle/>
        <a:p>
          <a:endParaRPr lang="en-US"/>
        </a:p>
      </dgm:t>
    </dgm:pt>
    <dgm:pt modelId="{FDD94D83-1779-461A-81A4-D8BF3EE8E273}" type="sibTrans" cxnId="{AC91BBC0-732B-4B18-8DFF-348AE444BE87}">
      <dgm:prSet/>
      <dgm:spPr/>
      <dgm:t>
        <a:bodyPr/>
        <a:lstStyle/>
        <a:p>
          <a:endParaRPr lang="en-US"/>
        </a:p>
      </dgm:t>
    </dgm:pt>
    <dgm:pt modelId="{182D2636-C9BF-4F4E-BE0E-4CC2424C7474}">
      <dgm:prSet/>
      <dgm:spPr/>
      <dgm:t>
        <a:bodyPr/>
        <a:lstStyle/>
        <a:p>
          <a:r>
            <a:rPr lang="en-US" dirty="0"/>
            <a:t>End</a:t>
          </a:r>
        </a:p>
      </dgm:t>
    </dgm:pt>
    <dgm:pt modelId="{3D5CFA61-6D07-43BD-B932-DF3A2A1485A9}" type="parTrans" cxnId="{3BBA87D9-BA81-48CD-9171-627CDABBEC68}">
      <dgm:prSet/>
      <dgm:spPr/>
      <dgm:t>
        <a:bodyPr/>
        <a:lstStyle/>
        <a:p>
          <a:endParaRPr lang="en-US"/>
        </a:p>
      </dgm:t>
    </dgm:pt>
    <dgm:pt modelId="{62FF3C10-9FDF-4B58-858A-D0CE4F48EE38}" type="sibTrans" cxnId="{3BBA87D9-BA81-48CD-9171-627CDABBEC68}">
      <dgm:prSet/>
      <dgm:spPr/>
      <dgm:t>
        <a:bodyPr/>
        <a:lstStyle/>
        <a:p>
          <a:endParaRPr lang="en-US"/>
        </a:p>
      </dgm:t>
    </dgm:pt>
    <dgm:pt modelId="{5D279652-C496-492F-A2AB-59C7737A4DE7}" type="pres">
      <dgm:prSet presAssocID="{7136E1C9-9A69-4073-BB78-2ACE31DAF4A3}" presName="linearFlow" presStyleCnt="0">
        <dgm:presLayoutVars>
          <dgm:resizeHandles val="exact"/>
        </dgm:presLayoutVars>
      </dgm:prSet>
      <dgm:spPr/>
    </dgm:pt>
    <dgm:pt modelId="{ED7904D4-6D86-4144-8C7C-56F98EFA6E75}" type="pres">
      <dgm:prSet presAssocID="{13F4DA81-6F17-4E31-9C05-350E8052F24C}" presName="node" presStyleLbl="node1" presStyleIdx="0" presStyleCnt="10">
        <dgm:presLayoutVars>
          <dgm:bulletEnabled val="1"/>
        </dgm:presLayoutVars>
      </dgm:prSet>
      <dgm:spPr>
        <a:prstGeom prst="ellipse">
          <a:avLst/>
        </a:prstGeom>
      </dgm:spPr>
    </dgm:pt>
    <dgm:pt modelId="{416C1A6C-6A2A-4618-9265-684B85FEC44E}" type="pres">
      <dgm:prSet presAssocID="{F5174471-61D0-4565-858B-A536F9C8FD47}" presName="sibTrans" presStyleLbl="sibTrans2D1" presStyleIdx="0" presStyleCnt="9"/>
      <dgm:spPr/>
    </dgm:pt>
    <dgm:pt modelId="{1BC7B6CA-FD48-43FE-8F06-E00F55004D70}" type="pres">
      <dgm:prSet presAssocID="{F5174471-61D0-4565-858B-A536F9C8FD47}" presName="connectorText" presStyleLbl="sibTrans2D1" presStyleIdx="0" presStyleCnt="9"/>
      <dgm:spPr/>
    </dgm:pt>
    <dgm:pt modelId="{5422124A-5E72-4EFF-BE80-D8306E81C040}" type="pres">
      <dgm:prSet presAssocID="{3674EF79-6B9F-40B0-88CE-49EB780839FD}" presName="node" presStyleLbl="node1" presStyleIdx="1" presStyleCnt="10">
        <dgm:presLayoutVars>
          <dgm:bulletEnabled val="1"/>
        </dgm:presLayoutVars>
      </dgm:prSet>
      <dgm:spPr/>
    </dgm:pt>
    <dgm:pt modelId="{2087D882-E045-4A1C-A538-A7A5DC7BF114}" type="pres">
      <dgm:prSet presAssocID="{6CC91359-40E3-4F61-8934-8AB06CC17158}" presName="sibTrans" presStyleLbl="sibTrans2D1" presStyleIdx="1" presStyleCnt="9"/>
      <dgm:spPr/>
    </dgm:pt>
    <dgm:pt modelId="{9B7ACC7B-4960-405A-990F-D8BB6B1A4B5D}" type="pres">
      <dgm:prSet presAssocID="{6CC91359-40E3-4F61-8934-8AB06CC17158}" presName="connectorText" presStyleLbl="sibTrans2D1" presStyleIdx="1" presStyleCnt="9"/>
      <dgm:spPr/>
    </dgm:pt>
    <dgm:pt modelId="{3E432083-E827-4C4A-8880-FFD257D1B2C8}" type="pres">
      <dgm:prSet presAssocID="{BB1FF74E-F278-4DAE-97ED-B2C7E82F3FE4}" presName="node" presStyleLbl="node1" presStyleIdx="2" presStyleCnt="10">
        <dgm:presLayoutVars>
          <dgm:bulletEnabled val="1"/>
        </dgm:presLayoutVars>
      </dgm:prSet>
      <dgm:spPr/>
    </dgm:pt>
    <dgm:pt modelId="{67597B0C-D8F3-449E-8858-F1CF4E39F1E2}" type="pres">
      <dgm:prSet presAssocID="{C0209354-23C9-4253-B217-F2416FEFC0D8}" presName="sibTrans" presStyleLbl="sibTrans2D1" presStyleIdx="2" presStyleCnt="9"/>
      <dgm:spPr/>
    </dgm:pt>
    <dgm:pt modelId="{7862DD20-1860-4C3F-890D-25008581A9F6}" type="pres">
      <dgm:prSet presAssocID="{C0209354-23C9-4253-B217-F2416FEFC0D8}" presName="connectorText" presStyleLbl="sibTrans2D1" presStyleIdx="2" presStyleCnt="9"/>
      <dgm:spPr/>
    </dgm:pt>
    <dgm:pt modelId="{AFC07EE1-1F0C-42F5-81EB-D8C265C10C2C}" type="pres">
      <dgm:prSet presAssocID="{08001498-596C-4FFE-A284-88A0B21B9AC3}" presName="node" presStyleLbl="node1" presStyleIdx="3" presStyleCnt="10">
        <dgm:presLayoutVars>
          <dgm:bulletEnabled val="1"/>
        </dgm:presLayoutVars>
      </dgm:prSet>
      <dgm:spPr/>
    </dgm:pt>
    <dgm:pt modelId="{744EE4C5-4164-4414-B3AB-727304E9494C}" type="pres">
      <dgm:prSet presAssocID="{7F6186E1-774A-4F7F-A798-87CE834006F0}" presName="sibTrans" presStyleLbl="sibTrans2D1" presStyleIdx="3" presStyleCnt="9"/>
      <dgm:spPr/>
    </dgm:pt>
    <dgm:pt modelId="{3DD6A7AE-515F-4B72-B460-8B8EBBBB8783}" type="pres">
      <dgm:prSet presAssocID="{7F6186E1-774A-4F7F-A798-87CE834006F0}" presName="connectorText" presStyleLbl="sibTrans2D1" presStyleIdx="3" presStyleCnt="9"/>
      <dgm:spPr/>
    </dgm:pt>
    <dgm:pt modelId="{C6863D87-3998-4DE7-864B-901AD0685ECD}" type="pres">
      <dgm:prSet presAssocID="{29F9A1B2-1A0F-4500-9AA7-33434F03036D}" presName="node" presStyleLbl="node1" presStyleIdx="4" presStyleCnt="10">
        <dgm:presLayoutVars>
          <dgm:bulletEnabled val="1"/>
        </dgm:presLayoutVars>
      </dgm:prSet>
      <dgm:spPr/>
    </dgm:pt>
    <dgm:pt modelId="{C2927EC7-1020-4065-A559-09BD30706AF6}" type="pres">
      <dgm:prSet presAssocID="{B995DCBB-5295-4A75-8239-379185EBD5F4}" presName="sibTrans" presStyleLbl="sibTrans2D1" presStyleIdx="4" presStyleCnt="9"/>
      <dgm:spPr/>
    </dgm:pt>
    <dgm:pt modelId="{E07F3A71-C504-4C31-8155-0CBF54D58082}" type="pres">
      <dgm:prSet presAssocID="{B995DCBB-5295-4A75-8239-379185EBD5F4}" presName="connectorText" presStyleLbl="sibTrans2D1" presStyleIdx="4" presStyleCnt="9"/>
      <dgm:spPr/>
    </dgm:pt>
    <dgm:pt modelId="{C7CAA363-F8BB-4555-B02C-CE49B1D8383C}" type="pres">
      <dgm:prSet presAssocID="{2FE23A7A-C3BA-4688-842C-BF277AF9F9B7}" presName="node" presStyleLbl="node1" presStyleIdx="5" presStyleCnt="10">
        <dgm:presLayoutVars>
          <dgm:bulletEnabled val="1"/>
        </dgm:presLayoutVars>
      </dgm:prSet>
      <dgm:spPr/>
    </dgm:pt>
    <dgm:pt modelId="{5C8F59FA-2068-43E8-B549-EEA4D6EBA488}" type="pres">
      <dgm:prSet presAssocID="{AC5D4EAE-987B-4A99-B3C4-AA3C3DCF9223}" presName="sibTrans" presStyleLbl="sibTrans2D1" presStyleIdx="5" presStyleCnt="9"/>
      <dgm:spPr/>
    </dgm:pt>
    <dgm:pt modelId="{AF01D141-D997-4796-BC47-FD57656B4EEC}" type="pres">
      <dgm:prSet presAssocID="{AC5D4EAE-987B-4A99-B3C4-AA3C3DCF9223}" presName="connectorText" presStyleLbl="sibTrans2D1" presStyleIdx="5" presStyleCnt="9"/>
      <dgm:spPr/>
    </dgm:pt>
    <dgm:pt modelId="{C57A1CC5-23D7-4B92-A5D8-85858B5BFAF3}" type="pres">
      <dgm:prSet presAssocID="{8AD3A255-ACDC-418E-98F3-7F31F00B3345}" presName="node" presStyleLbl="node1" presStyleIdx="6" presStyleCnt="10">
        <dgm:presLayoutVars>
          <dgm:bulletEnabled val="1"/>
        </dgm:presLayoutVars>
      </dgm:prSet>
      <dgm:spPr/>
    </dgm:pt>
    <dgm:pt modelId="{416D3639-C3F4-4FA8-8A2A-D47D95A223B7}" type="pres">
      <dgm:prSet presAssocID="{A2FF0172-3C23-4B09-93E8-7388FE9BF0EF}" presName="sibTrans" presStyleLbl="sibTrans2D1" presStyleIdx="6" presStyleCnt="9"/>
      <dgm:spPr/>
    </dgm:pt>
    <dgm:pt modelId="{2DD5FFC5-5B88-4A96-9BAC-4B860C623302}" type="pres">
      <dgm:prSet presAssocID="{A2FF0172-3C23-4B09-93E8-7388FE9BF0EF}" presName="connectorText" presStyleLbl="sibTrans2D1" presStyleIdx="6" presStyleCnt="9"/>
      <dgm:spPr/>
    </dgm:pt>
    <dgm:pt modelId="{33D033D1-A316-497B-8DB9-A5429760FE18}" type="pres">
      <dgm:prSet presAssocID="{BEFA7F1A-B867-4AA1-A566-86ACECBA2E3F}" presName="node" presStyleLbl="node1" presStyleIdx="7" presStyleCnt="10">
        <dgm:presLayoutVars>
          <dgm:bulletEnabled val="1"/>
        </dgm:presLayoutVars>
      </dgm:prSet>
      <dgm:spPr/>
    </dgm:pt>
    <dgm:pt modelId="{7685F20A-44F3-4DDF-A4B7-FE05D6777050}" type="pres">
      <dgm:prSet presAssocID="{5E7E421E-D8E7-4B60-8AE0-DFDFE064A15C}" presName="sibTrans" presStyleLbl="sibTrans2D1" presStyleIdx="7" presStyleCnt="9"/>
      <dgm:spPr/>
    </dgm:pt>
    <dgm:pt modelId="{E643265D-81AD-4461-B25C-E080BAE845F2}" type="pres">
      <dgm:prSet presAssocID="{5E7E421E-D8E7-4B60-8AE0-DFDFE064A15C}" presName="connectorText" presStyleLbl="sibTrans2D1" presStyleIdx="7" presStyleCnt="9"/>
      <dgm:spPr/>
    </dgm:pt>
    <dgm:pt modelId="{328BBEBF-C5F0-4903-80FD-6981E81DD711}" type="pres">
      <dgm:prSet presAssocID="{A28AA25B-AB90-4230-9450-3390343FAE02}" presName="node" presStyleLbl="node1" presStyleIdx="8" presStyleCnt="10">
        <dgm:presLayoutVars>
          <dgm:bulletEnabled val="1"/>
        </dgm:presLayoutVars>
      </dgm:prSet>
      <dgm:spPr/>
    </dgm:pt>
    <dgm:pt modelId="{175C1670-DCC1-4E5B-94CB-DCE9D9E624E6}" type="pres">
      <dgm:prSet presAssocID="{FDD94D83-1779-461A-81A4-D8BF3EE8E273}" presName="sibTrans" presStyleLbl="sibTrans2D1" presStyleIdx="8" presStyleCnt="9"/>
      <dgm:spPr/>
    </dgm:pt>
    <dgm:pt modelId="{97139057-BF5D-48EA-9D4E-A51C9FAC7666}" type="pres">
      <dgm:prSet presAssocID="{FDD94D83-1779-461A-81A4-D8BF3EE8E273}" presName="connectorText" presStyleLbl="sibTrans2D1" presStyleIdx="8" presStyleCnt="9"/>
      <dgm:spPr/>
    </dgm:pt>
    <dgm:pt modelId="{3C037B64-FFA4-4170-8F49-E74997088F59}" type="pres">
      <dgm:prSet presAssocID="{182D2636-C9BF-4F4E-BE0E-4CC2424C7474}" presName="node" presStyleLbl="node1" presStyleIdx="9" presStyleCnt="10">
        <dgm:presLayoutVars>
          <dgm:bulletEnabled val="1"/>
        </dgm:presLayoutVars>
      </dgm:prSet>
      <dgm:spPr>
        <a:prstGeom prst="ellipse">
          <a:avLst/>
        </a:prstGeom>
      </dgm:spPr>
    </dgm:pt>
  </dgm:ptLst>
  <dgm:cxnLst>
    <dgm:cxn modelId="{26246D08-66EF-4E8D-B33A-20776FA6EA1C}" srcId="{7136E1C9-9A69-4073-BB78-2ACE31DAF4A3}" destId="{08001498-596C-4FFE-A284-88A0B21B9AC3}" srcOrd="3" destOrd="0" parTransId="{770428DD-4F55-4B73-9BF9-F3AF1EE3E0C2}" sibTransId="{7F6186E1-774A-4F7F-A798-87CE834006F0}"/>
    <dgm:cxn modelId="{A0E29D10-9E39-4B37-A05C-AE851656BCE2}" type="presOf" srcId="{5E7E421E-D8E7-4B60-8AE0-DFDFE064A15C}" destId="{7685F20A-44F3-4DDF-A4B7-FE05D6777050}" srcOrd="0" destOrd="0" presId="urn:microsoft.com/office/officeart/2005/8/layout/process2"/>
    <dgm:cxn modelId="{B55F5013-5E03-4242-8133-467656C08851}" type="presOf" srcId="{6CC91359-40E3-4F61-8934-8AB06CC17158}" destId="{2087D882-E045-4A1C-A538-A7A5DC7BF114}" srcOrd="0" destOrd="0" presId="urn:microsoft.com/office/officeart/2005/8/layout/process2"/>
    <dgm:cxn modelId="{2EEDDA14-F564-4A5A-A254-D1404C13CC5B}" type="presOf" srcId="{F5174471-61D0-4565-858B-A536F9C8FD47}" destId="{416C1A6C-6A2A-4618-9265-684B85FEC44E}" srcOrd="0" destOrd="0" presId="urn:microsoft.com/office/officeart/2005/8/layout/process2"/>
    <dgm:cxn modelId="{52F2EA17-F169-40E4-B979-DBED5224FD51}" srcId="{7136E1C9-9A69-4073-BB78-2ACE31DAF4A3}" destId="{29F9A1B2-1A0F-4500-9AA7-33434F03036D}" srcOrd="4" destOrd="0" parTransId="{5519C2C6-6E5B-4E03-A370-A2110A88A4DD}" sibTransId="{B995DCBB-5295-4A75-8239-379185EBD5F4}"/>
    <dgm:cxn modelId="{F563F223-14B2-4312-9BB7-FDC8F06A879B}" type="presOf" srcId="{29F9A1B2-1A0F-4500-9AA7-33434F03036D}" destId="{C6863D87-3998-4DE7-864B-901AD0685ECD}" srcOrd="0" destOrd="0" presId="urn:microsoft.com/office/officeart/2005/8/layout/process2"/>
    <dgm:cxn modelId="{73729931-368F-412E-BB07-721A41577382}" type="presOf" srcId="{C0209354-23C9-4253-B217-F2416FEFC0D8}" destId="{67597B0C-D8F3-449E-8858-F1CF4E39F1E2}" srcOrd="0" destOrd="0" presId="urn:microsoft.com/office/officeart/2005/8/layout/process2"/>
    <dgm:cxn modelId="{F5360549-49D7-4DAF-B263-5EE756772133}" type="presOf" srcId="{BB1FF74E-F278-4DAE-97ED-B2C7E82F3FE4}" destId="{3E432083-E827-4C4A-8880-FFD257D1B2C8}" srcOrd="0" destOrd="0" presId="urn:microsoft.com/office/officeart/2005/8/layout/process2"/>
    <dgm:cxn modelId="{14FE2571-9852-4ABB-BD6D-C72AC7175CA6}" srcId="{7136E1C9-9A69-4073-BB78-2ACE31DAF4A3}" destId="{8AD3A255-ACDC-418E-98F3-7F31F00B3345}" srcOrd="6" destOrd="0" parTransId="{26A568D3-5CFB-415C-BF87-C4D992E175B2}" sibTransId="{A2FF0172-3C23-4B09-93E8-7388FE9BF0EF}"/>
    <dgm:cxn modelId="{F0BE0D57-246F-4DD4-A990-6744C510D17D}" type="presOf" srcId="{A2FF0172-3C23-4B09-93E8-7388FE9BF0EF}" destId="{2DD5FFC5-5B88-4A96-9BAC-4B860C623302}" srcOrd="1" destOrd="0" presId="urn:microsoft.com/office/officeart/2005/8/layout/process2"/>
    <dgm:cxn modelId="{838CE479-F241-4BA5-9AA7-A9842EE3A4F7}" type="presOf" srcId="{C0209354-23C9-4253-B217-F2416FEFC0D8}" destId="{7862DD20-1860-4C3F-890D-25008581A9F6}" srcOrd="1" destOrd="0" presId="urn:microsoft.com/office/officeart/2005/8/layout/process2"/>
    <dgm:cxn modelId="{21828083-01D4-4717-BD3A-16CE0CEB1140}" type="presOf" srcId="{3674EF79-6B9F-40B0-88CE-49EB780839FD}" destId="{5422124A-5E72-4EFF-BE80-D8306E81C040}" srcOrd="0" destOrd="0" presId="urn:microsoft.com/office/officeart/2005/8/layout/process2"/>
    <dgm:cxn modelId="{B54EA089-1C18-4998-93A6-917303E7521A}" type="presOf" srcId="{A2FF0172-3C23-4B09-93E8-7388FE9BF0EF}" destId="{416D3639-C3F4-4FA8-8A2A-D47D95A223B7}" srcOrd="0" destOrd="0" presId="urn:microsoft.com/office/officeart/2005/8/layout/process2"/>
    <dgm:cxn modelId="{A98DDF8B-EA03-42C4-9730-6557875AB263}" type="presOf" srcId="{7136E1C9-9A69-4073-BB78-2ACE31DAF4A3}" destId="{5D279652-C496-492F-A2AB-59C7737A4DE7}" srcOrd="0" destOrd="0" presId="urn:microsoft.com/office/officeart/2005/8/layout/process2"/>
    <dgm:cxn modelId="{D7A39994-D2F2-4266-8D2E-804838B27283}" type="presOf" srcId="{2FE23A7A-C3BA-4688-842C-BF277AF9F9B7}" destId="{C7CAA363-F8BB-4555-B02C-CE49B1D8383C}" srcOrd="0" destOrd="0" presId="urn:microsoft.com/office/officeart/2005/8/layout/process2"/>
    <dgm:cxn modelId="{983D1595-E74E-47E8-8F26-697DB12DDFD7}" type="presOf" srcId="{B995DCBB-5295-4A75-8239-379185EBD5F4}" destId="{E07F3A71-C504-4C31-8155-0CBF54D58082}" srcOrd="1" destOrd="0" presId="urn:microsoft.com/office/officeart/2005/8/layout/process2"/>
    <dgm:cxn modelId="{2F50329C-B294-495C-8976-66EE1D252D8C}" type="presOf" srcId="{6CC91359-40E3-4F61-8934-8AB06CC17158}" destId="{9B7ACC7B-4960-405A-990F-D8BB6B1A4B5D}" srcOrd="1" destOrd="0" presId="urn:microsoft.com/office/officeart/2005/8/layout/process2"/>
    <dgm:cxn modelId="{1CA640A1-62A1-4F64-A436-5D1EA0065DC3}" type="presOf" srcId="{7F6186E1-774A-4F7F-A798-87CE834006F0}" destId="{3DD6A7AE-515F-4B72-B460-8B8EBBBB8783}" srcOrd="1" destOrd="0" presId="urn:microsoft.com/office/officeart/2005/8/layout/process2"/>
    <dgm:cxn modelId="{CF3FDEB6-4D5C-4424-8C12-741120EBAB28}" type="presOf" srcId="{7F6186E1-774A-4F7F-A798-87CE834006F0}" destId="{744EE4C5-4164-4414-B3AB-727304E9494C}" srcOrd="0" destOrd="0" presId="urn:microsoft.com/office/officeart/2005/8/layout/process2"/>
    <dgm:cxn modelId="{69E1FDB7-1DFB-4FA2-8776-37ECB838BCE8}" type="presOf" srcId="{F5174471-61D0-4565-858B-A536F9C8FD47}" destId="{1BC7B6CA-FD48-43FE-8F06-E00F55004D70}" srcOrd="1" destOrd="0" presId="urn:microsoft.com/office/officeart/2005/8/layout/process2"/>
    <dgm:cxn modelId="{0B2472BE-DAD4-40F1-99D6-83A09593C3F8}" srcId="{7136E1C9-9A69-4073-BB78-2ACE31DAF4A3}" destId="{BB1FF74E-F278-4DAE-97ED-B2C7E82F3FE4}" srcOrd="2" destOrd="0" parTransId="{E334EE90-3546-4554-97E6-D70A246D2024}" sibTransId="{C0209354-23C9-4253-B217-F2416FEFC0D8}"/>
    <dgm:cxn modelId="{AC91BBC0-732B-4B18-8DFF-348AE444BE87}" srcId="{7136E1C9-9A69-4073-BB78-2ACE31DAF4A3}" destId="{A28AA25B-AB90-4230-9450-3390343FAE02}" srcOrd="8" destOrd="0" parTransId="{1A132B10-2527-4827-9E80-26B946E64977}" sibTransId="{FDD94D83-1779-461A-81A4-D8BF3EE8E273}"/>
    <dgm:cxn modelId="{7B9E82C6-DCA7-4E49-9A07-CC2805F4C685}" type="presOf" srcId="{AC5D4EAE-987B-4A99-B3C4-AA3C3DCF9223}" destId="{AF01D141-D997-4796-BC47-FD57656B4EEC}" srcOrd="1" destOrd="0" presId="urn:microsoft.com/office/officeart/2005/8/layout/process2"/>
    <dgm:cxn modelId="{DB2EAACC-BEDB-45B0-ADAD-6B9CEC90040D}" type="presOf" srcId="{BEFA7F1A-B867-4AA1-A566-86ACECBA2E3F}" destId="{33D033D1-A316-497B-8DB9-A5429760FE18}" srcOrd="0" destOrd="0" presId="urn:microsoft.com/office/officeart/2005/8/layout/process2"/>
    <dgm:cxn modelId="{8ACCD5D5-F7C9-43E3-81A7-3356D7ADF4A2}" type="presOf" srcId="{AC5D4EAE-987B-4A99-B3C4-AA3C3DCF9223}" destId="{5C8F59FA-2068-43E8-B549-EEA4D6EBA488}" srcOrd="0" destOrd="0" presId="urn:microsoft.com/office/officeart/2005/8/layout/process2"/>
    <dgm:cxn modelId="{17FB91D6-615D-4EE7-94D9-EE6C454A33EF}" srcId="{7136E1C9-9A69-4073-BB78-2ACE31DAF4A3}" destId="{2FE23A7A-C3BA-4688-842C-BF277AF9F9B7}" srcOrd="5" destOrd="0" parTransId="{2EC1060E-8D70-453A-AF3E-BD3C9E4D5DC3}" sibTransId="{AC5D4EAE-987B-4A99-B3C4-AA3C3DCF9223}"/>
    <dgm:cxn modelId="{3BBA87D9-BA81-48CD-9171-627CDABBEC68}" srcId="{7136E1C9-9A69-4073-BB78-2ACE31DAF4A3}" destId="{182D2636-C9BF-4F4E-BE0E-4CC2424C7474}" srcOrd="9" destOrd="0" parTransId="{3D5CFA61-6D07-43BD-B932-DF3A2A1485A9}" sibTransId="{62FF3C10-9FDF-4B58-858A-D0CE4F48EE38}"/>
    <dgm:cxn modelId="{9244D3DD-6C35-48B7-A221-23F06471C27A}" type="presOf" srcId="{8AD3A255-ACDC-418E-98F3-7F31F00B3345}" destId="{C57A1CC5-23D7-4B92-A5D8-85858B5BFAF3}" srcOrd="0" destOrd="0" presId="urn:microsoft.com/office/officeart/2005/8/layout/process2"/>
    <dgm:cxn modelId="{B2A982E5-A69F-49EF-881A-BBCE4A4E8007}" type="presOf" srcId="{A28AA25B-AB90-4230-9450-3390343FAE02}" destId="{328BBEBF-C5F0-4903-80FD-6981E81DD711}" srcOrd="0" destOrd="0" presId="urn:microsoft.com/office/officeart/2005/8/layout/process2"/>
    <dgm:cxn modelId="{E7BA65E9-9F7E-487B-936F-40A4610EED05}" srcId="{7136E1C9-9A69-4073-BB78-2ACE31DAF4A3}" destId="{3674EF79-6B9F-40B0-88CE-49EB780839FD}" srcOrd="1" destOrd="0" parTransId="{11E685C5-995E-42EC-90D3-62D2DD747560}" sibTransId="{6CC91359-40E3-4F61-8934-8AB06CC17158}"/>
    <dgm:cxn modelId="{396E7BEA-B9CC-41E2-AC26-DE239E66A456}" srcId="{7136E1C9-9A69-4073-BB78-2ACE31DAF4A3}" destId="{BEFA7F1A-B867-4AA1-A566-86ACECBA2E3F}" srcOrd="7" destOrd="0" parTransId="{D8B0715F-C50B-4821-94CD-B8220F9C448C}" sibTransId="{5E7E421E-D8E7-4B60-8AE0-DFDFE064A15C}"/>
    <dgm:cxn modelId="{DA2CB0F4-A18A-482F-8578-B5A6CDDB7A0F}" type="presOf" srcId="{B995DCBB-5295-4A75-8239-379185EBD5F4}" destId="{C2927EC7-1020-4065-A559-09BD30706AF6}" srcOrd="0" destOrd="0" presId="urn:microsoft.com/office/officeart/2005/8/layout/process2"/>
    <dgm:cxn modelId="{81AC5DF5-AA9F-4174-9285-E2547DD5F3E5}" type="presOf" srcId="{5E7E421E-D8E7-4B60-8AE0-DFDFE064A15C}" destId="{E643265D-81AD-4461-B25C-E080BAE845F2}" srcOrd="1" destOrd="0" presId="urn:microsoft.com/office/officeart/2005/8/layout/process2"/>
    <dgm:cxn modelId="{ED6929F6-806B-4474-9943-FAFB17E24BF1}" type="presOf" srcId="{FDD94D83-1779-461A-81A4-D8BF3EE8E273}" destId="{97139057-BF5D-48EA-9D4E-A51C9FAC7666}" srcOrd="1" destOrd="0" presId="urn:microsoft.com/office/officeart/2005/8/layout/process2"/>
    <dgm:cxn modelId="{D65842F7-0C7E-430D-AB58-4464B5B5A512}" type="presOf" srcId="{FDD94D83-1779-461A-81A4-D8BF3EE8E273}" destId="{175C1670-DCC1-4E5B-94CB-DCE9D9E624E6}" srcOrd="0" destOrd="0" presId="urn:microsoft.com/office/officeart/2005/8/layout/process2"/>
    <dgm:cxn modelId="{91FD3CF9-CCB7-43EB-8929-FE95A2625C32}" srcId="{7136E1C9-9A69-4073-BB78-2ACE31DAF4A3}" destId="{13F4DA81-6F17-4E31-9C05-350E8052F24C}" srcOrd="0" destOrd="0" parTransId="{5243681C-B61D-455D-8B85-840E098FD919}" sibTransId="{F5174471-61D0-4565-858B-A536F9C8FD47}"/>
    <dgm:cxn modelId="{1AA4FEFC-6499-4D70-AD4C-B25EBB8A43E4}" type="presOf" srcId="{182D2636-C9BF-4F4E-BE0E-4CC2424C7474}" destId="{3C037B64-FFA4-4170-8F49-E74997088F59}" srcOrd="0" destOrd="0" presId="urn:microsoft.com/office/officeart/2005/8/layout/process2"/>
    <dgm:cxn modelId="{4EDC27FF-3C72-4C20-846C-34989F582270}" type="presOf" srcId="{08001498-596C-4FFE-A284-88A0B21B9AC3}" destId="{AFC07EE1-1F0C-42F5-81EB-D8C265C10C2C}" srcOrd="0" destOrd="0" presId="urn:microsoft.com/office/officeart/2005/8/layout/process2"/>
    <dgm:cxn modelId="{5C9660FF-84C6-4AA4-82BE-AD255893058B}" type="presOf" srcId="{13F4DA81-6F17-4E31-9C05-350E8052F24C}" destId="{ED7904D4-6D86-4144-8C7C-56F98EFA6E75}" srcOrd="0" destOrd="0" presId="urn:microsoft.com/office/officeart/2005/8/layout/process2"/>
    <dgm:cxn modelId="{6CE51326-36F8-47E5-A098-B736158A2CD3}" type="presParOf" srcId="{5D279652-C496-492F-A2AB-59C7737A4DE7}" destId="{ED7904D4-6D86-4144-8C7C-56F98EFA6E75}" srcOrd="0" destOrd="0" presId="urn:microsoft.com/office/officeart/2005/8/layout/process2"/>
    <dgm:cxn modelId="{23C23A11-2A43-4473-9C0A-E83BBC3DBF3D}" type="presParOf" srcId="{5D279652-C496-492F-A2AB-59C7737A4DE7}" destId="{416C1A6C-6A2A-4618-9265-684B85FEC44E}" srcOrd="1" destOrd="0" presId="urn:microsoft.com/office/officeart/2005/8/layout/process2"/>
    <dgm:cxn modelId="{CF45C712-4B75-4C58-A6E3-51BA885330A6}" type="presParOf" srcId="{416C1A6C-6A2A-4618-9265-684B85FEC44E}" destId="{1BC7B6CA-FD48-43FE-8F06-E00F55004D70}" srcOrd="0" destOrd="0" presId="urn:microsoft.com/office/officeart/2005/8/layout/process2"/>
    <dgm:cxn modelId="{B917DCD0-1FAD-4B3A-AA1A-90F9507F911E}" type="presParOf" srcId="{5D279652-C496-492F-A2AB-59C7737A4DE7}" destId="{5422124A-5E72-4EFF-BE80-D8306E81C040}" srcOrd="2" destOrd="0" presId="urn:microsoft.com/office/officeart/2005/8/layout/process2"/>
    <dgm:cxn modelId="{817D0EA6-0D1B-46A5-B1B5-BB8E26DFAAD2}" type="presParOf" srcId="{5D279652-C496-492F-A2AB-59C7737A4DE7}" destId="{2087D882-E045-4A1C-A538-A7A5DC7BF114}" srcOrd="3" destOrd="0" presId="urn:microsoft.com/office/officeart/2005/8/layout/process2"/>
    <dgm:cxn modelId="{00F46B19-A241-49E0-BD7F-869548EC88DE}" type="presParOf" srcId="{2087D882-E045-4A1C-A538-A7A5DC7BF114}" destId="{9B7ACC7B-4960-405A-990F-D8BB6B1A4B5D}" srcOrd="0" destOrd="0" presId="urn:microsoft.com/office/officeart/2005/8/layout/process2"/>
    <dgm:cxn modelId="{FD4E2A73-F214-44A8-BA6D-1412DCE4BB8A}" type="presParOf" srcId="{5D279652-C496-492F-A2AB-59C7737A4DE7}" destId="{3E432083-E827-4C4A-8880-FFD257D1B2C8}" srcOrd="4" destOrd="0" presId="urn:microsoft.com/office/officeart/2005/8/layout/process2"/>
    <dgm:cxn modelId="{A4E467D8-D7A0-47D7-B19F-FF362A9CB926}" type="presParOf" srcId="{5D279652-C496-492F-A2AB-59C7737A4DE7}" destId="{67597B0C-D8F3-449E-8858-F1CF4E39F1E2}" srcOrd="5" destOrd="0" presId="urn:microsoft.com/office/officeart/2005/8/layout/process2"/>
    <dgm:cxn modelId="{FB1FF2C0-A286-4844-941A-9937366A8A39}" type="presParOf" srcId="{67597B0C-D8F3-449E-8858-F1CF4E39F1E2}" destId="{7862DD20-1860-4C3F-890D-25008581A9F6}" srcOrd="0" destOrd="0" presId="urn:microsoft.com/office/officeart/2005/8/layout/process2"/>
    <dgm:cxn modelId="{D6DE5ED0-1711-4A82-83E2-34D7BA0BB4B0}" type="presParOf" srcId="{5D279652-C496-492F-A2AB-59C7737A4DE7}" destId="{AFC07EE1-1F0C-42F5-81EB-D8C265C10C2C}" srcOrd="6" destOrd="0" presId="urn:microsoft.com/office/officeart/2005/8/layout/process2"/>
    <dgm:cxn modelId="{DAA8817E-542A-4734-8B6F-4C9907BB7DF8}" type="presParOf" srcId="{5D279652-C496-492F-A2AB-59C7737A4DE7}" destId="{744EE4C5-4164-4414-B3AB-727304E9494C}" srcOrd="7" destOrd="0" presId="urn:microsoft.com/office/officeart/2005/8/layout/process2"/>
    <dgm:cxn modelId="{2AC31B06-2587-4E25-82A3-D14545C99F51}" type="presParOf" srcId="{744EE4C5-4164-4414-B3AB-727304E9494C}" destId="{3DD6A7AE-515F-4B72-B460-8B8EBBBB8783}" srcOrd="0" destOrd="0" presId="urn:microsoft.com/office/officeart/2005/8/layout/process2"/>
    <dgm:cxn modelId="{9E7F86C7-4F9A-4540-BDDA-43D86D418285}" type="presParOf" srcId="{5D279652-C496-492F-A2AB-59C7737A4DE7}" destId="{C6863D87-3998-4DE7-864B-901AD0685ECD}" srcOrd="8" destOrd="0" presId="urn:microsoft.com/office/officeart/2005/8/layout/process2"/>
    <dgm:cxn modelId="{B5F282D0-9067-4E73-A947-6FD4505A56F7}" type="presParOf" srcId="{5D279652-C496-492F-A2AB-59C7737A4DE7}" destId="{C2927EC7-1020-4065-A559-09BD30706AF6}" srcOrd="9" destOrd="0" presId="urn:microsoft.com/office/officeart/2005/8/layout/process2"/>
    <dgm:cxn modelId="{BB2FBBF8-450F-4DF4-861A-D69089328E19}" type="presParOf" srcId="{C2927EC7-1020-4065-A559-09BD30706AF6}" destId="{E07F3A71-C504-4C31-8155-0CBF54D58082}" srcOrd="0" destOrd="0" presId="urn:microsoft.com/office/officeart/2005/8/layout/process2"/>
    <dgm:cxn modelId="{E18F9A2F-F12C-4365-860A-549DB370C5E6}" type="presParOf" srcId="{5D279652-C496-492F-A2AB-59C7737A4DE7}" destId="{C7CAA363-F8BB-4555-B02C-CE49B1D8383C}" srcOrd="10" destOrd="0" presId="urn:microsoft.com/office/officeart/2005/8/layout/process2"/>
    <dgm:cxn modelId="{17BD763B-7CEF-49FB-8663-1743DB929533}" type="presParOf" srcId="{5D279652-C496-492F-A2AB-59C7737A4DE7}" destId="{5C8F59FA-2068-43E8-B549-EEA4D6EBA488}" srcOrd="11" destOrd="0" presId="urn:microsoft.com/office/officeart/2005/8/layout/process2"/>
    <dgm:cxn modelId="{9CFB7FB9-14E5-4D07-BF4C-9EFBF782F4DA}" type="presParOf" srcId="{5C8F59FA-2068-43E8-B549-EEA4D6EBA488}" destId="{AF01D141-D997-4796-BC47-FD57656B4EEC}" srcOrd="0" destOrd="0" presId="urn:microsoft.com/office/officeart/2005/8/layout/process2"/>
    <dgm:cxn modelId="{C893CF3F-2900-4C01-8475-89ED5B555101}" type="presParOf" srcId="{5D279652-C496-492F-A2AB-59C7737A4DE7}" destId="{C57A1CC5-23D7-4B92-A5D8-85858B5BFAF3}" srcOrd="12" destOrd="0" presId="urn:microsoft.com/office/officeart/2005/8/layout/process2"/>
    <dgm:cxn modelId="{889E8DFD-407D-4880-8BB9-478DF7557B4B}" type="presParOf" srcId="{5D279652-C496-492F-A2AB-59C7737A4DE7}" destId="{416D3639-C3F4-4FA8-8A2A-D47D95A223B7}" srcOrd="13" destOrd="0" presId="urn:microsoft.com/office/officeart/2005/8/layout/process2"/>
    <dgm:cxn modelId="{F9F470D3-F09C-4110-B480-2F31CA2BE5E1}" type="presParOf" srcId="{416D3639-C3F4-4FA8-8A2A-D47D95A223B7}" destId="{2DD5FFC5-5B88-4A96-9BAC-4B860C623302}" srcOrd="0" destOrd="0" presId="urn:microsoft.com/office/officeart/2005/8/layout/process2"/>
    <dgm:cxn modelId="{81CAD033-287B-43B6-B472-43FA08E9B83E}" type="presParOf" srcId="{5D279652-C496-492F-A2AB-59C7737A4DE7}" destId="{33D033D1-A316-497B-8DB9-A5429760FE18}" srcOrd="14" destOrd="0" presId="urn:microsoft.com/office/officeart/2005/8/layout/process2"/>
    <dgm:cxn modelId="{05B9D082-EA06-434C-B1A3-7AFDB837ECF4}" type="presParOf" srcId="{5D279652-C496-492F-A2AB-59C7737A4DE7}" destId="{7685F20A-44F3-4DDF-A4B7-FE05D6777050}" srcOrd="15" destOrd="0" presId="urn:microsoft.com/office/officeart/2005/8/layout/process2"/>
    <dgm:cxn modelId="{20E8BF92-BFA8-49A0-BBA1-27633889BC10}" type="presParOf" srcId="{7685F20A-44F3-4DDF-A4B7-FE05D6777050}" destId="{E643265D-81AD-4461-B25C-E080BAE845F2}" srcOrd="0" destOrd="0" presId="urn:microsoft.com/office/officeart/2005/8/layout/process2"/>
    <dgm:cxn modelId="{0D9E0153-D089-4B25-B4BD-EFC35408DAED}" type="presParOf" srcId="{5D279652-C496-492F-A2AB-59C7737A4DE7}" destId="{328BBEBF-C5F0-4903-80FD-6981E81DD711}" srcOrd="16" destOrd="0" presId="urn:microsoft.com/office/officeart/2005/8/layout/process2"/>
    <dgm:cxn modelId="{2676640B-7E20-4D0E-A94D-1C2195408AEB}" type="presParOf" srcId="{5D279652-C496-492F-A2AB-59C7737A4DE7}" destId="{175C1670-DCC1-4E5B-94CB-DCE9D9E624E6}" srcOrd="17" destOrd="0" presId="urn:microsoft.com/office/officeart/2005/8/layout/process2"/>
    <dgm:cxn modelId="{0FC47487-FFA1-448E-9820-167735A9114B}" type="presParOf" srcId="{175C1670-DCC1-4E5B-94CB-DCE9D9E624E6}" destId="{97139057-BF5D-48EA-9D4E-A51C9FAC7666}" srcOrd="0" destOrd="0" presId="urn:microsoft.com/office/officeart/2005/8/layout/process2"/>
    <dgm:cxn modelId="{DB60F6A9-9FDF-4FF5-B8CC-DCE7A69CC0B3}" type="presParOf" srcId="{5D279652-C496-492F-A2AB-59C7737A4DE7}" destId="{3C037B64-FFA4-4170-8F49-E74997088F59}" srcOrd="18" destOrd="0" presId="urn:microsoft.com/office/officeart/2005/8/layout/process2"/>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3D60B4F6-EA4D-43CA-9443-C5504213208A}">
      <dsp:nvSpPr>
        <dsp:cNvPr id="0" name=""/>
        <dsp:cNvSpPr/>
      </dsp:nvSpPr>
      <dsp:spPr>
        <a:xfrm>
          <a:off x="10223" y="1504790"/>
          <a:ext cx="3055714" cy="1833428"/>
        </a:xfrm>
        <a:prstGeom prst="roundRect">
          <a:avLst>
            <a:gd name="adj" fmla="val 10000"/>
          </a:avLst>
        </a:prstGeom>
        <a:solidFill>
          <a:srgbClr val="7030A0"/>
        </a:solidFill>
        <a:ln w="19050" cap="rnd" cmpd="sng" algn="ctr">
          <a:solidFill>
            <a:schemeClr val="tx1"/>
          </a:solidFill>
          <a:prstDash val="solid"/>
        </a:ln>
        <a:effectLst/>
        <a:scene3d>
          <a:camera prst="perspectiveRelaxedModerately"/>
          <a:lightRig rig="threePt" dir="t"/>
        </a:scene3d>
      </dsp:spPr>
      <dsp:style>
        <a:lnRef idx="2">
          <a:scrgbClr r="0" g="0" b="0"/>
        </a:lnRef>
        <a:fillRef idx="1">
          <a:scrgbClr r="0" g="0" b="0"/>
        </a:fillRef>
        <a:effectRef idx="0">
          <a:scrgbClr r="0" g="0" b="0"/>
        </a:effectRef>
        <a:fontRef idx="minor">
          <a:schemeClr val="lt1"/>
        </a:fontRef>
      </dsp:style>
      <dsp:txBody>
        <a:bodyPr spcFirstLastPara="0" vert="horz" wrap="square" lIns="80010" tIns="80010" rIns="80010" bIns="80010" numCol="1" spcCol="1270" anchor="ctr" anchorCtr="0">
          <a:noAutofit/>
        </a:bodyPr>
        <a:lstStyle/>
        <a:p>
          <a:pPr marL="0" lvl="0" indent="0" algn="ctr" defTabSz="933450">
            <a:lnSpc>
              <a:spcPct val="90000"/>
            </a:lnSpc>
            <a:spcBef>
              <a:spcPct val="0"/>
            </a:spcBef>
            <a:spcAft>
              <a:spcPct val="35000"/>
            </a:spcAft>
            <a:buNone/>
          </a:pPr>
          <a:r>
            <a:rPr lang="en-US" sz="2100" kern="1200" dirty="0"/>
            <a:t>MRI Picture</a:t>
          </a:r>
        </a:p>
      </dsp:txBody>
      <dsp:txXfrm>
        <a:off x="63922" y="1558489"/>
        <a:ext cx="2948316" cy="1726030"/>
      </dsp:txXfrm>
    </dsp:sp>
    <dsp:sp modelId="{6A011C06-5EDC-41ED-BCF0-BC5798991088}">
      <dsp:nvSpPr>
        <dsp:cNvPr id="0" name=""/>
        <dsp:cNvSpPr/>
      </dsp:nvSpPr>
      <dsp:spPr>
        <a:xfrm>
          <a:off x="3371510" y="2042595"/>
          <a:ext cx="647811" cy="757817"/>
        </a:xfrm>
        <a:prstGeom prst="rightArrow">
          <a:avLst>
            <a:gd name="adj1" fmla="val 60000"/>
            <a:gd name="adj2" fmla="val 50000"/>
          </a:avLst>
        </a:prstGeom>
        <a:solidFill>
          <a:schemeClr val="accent1">
            <a:tint val="60000"/>
            <a:hueOff val="0"/>
            <a:satOff val="0"/>
            <a:lumOff val="0"/>
            <a:alphaOff val="0"/>
          </a:schemeClr>
        </a:solidFill>
        <a:ln>
          <a:noFill/>
        </a:ln>
        <a:effectLst/>
      </dsp:spPr>
      <dsp:style>
        <a:lnRef idx="0">
          <a:scrgbClr r="0" g="0" b="0"/>
        </a:lnRef>
        <a:fillRef idx="1">
          <a:scrgbClr r="0" g="0" b="0"/>
        </a:fillRef>
        <a:effectRef idx="0">
          <a:scrgbClr r="0" g="0" b="0"/>
        </a:effectRef>
        <a:fontRef idx="minor">
          <a:schemeClr val="lt1"/>
        </a:fontRef>
      </dsp:style>
      <dsp:txBody>
        <a:bodyPr spcFirstLastPara="0" vert="horz" wrap="square" lIns="0" tIns="0" rIns="0" bIns="0" numCol="1" spcCol="1270" anchor="ctr" anchorCtr="0">
          <a:noAutofit/>
        </a:bodyPr>
        <a:lstStyle/>
        <a:p>
          <a:pPr marL="0" lvl="0" indent="0" algn="ctr" defTabSz="755650">
            <a:lnSpc>
              <a:spcPct val="90000"/>
            </a:lnSpc>
            <a:spcBef>
              <a:spcPct val="0"/>
            </a:spcBef>
            <a:spcAft>
              <a:spcPct val="35000"/>
            </a:spcAft>
            <a:buNone/>
          </a:pPr>
          <a:endParaRPr lang="en-US" sz="1700" kern="1200"/>
        </a:p>
      </dsp:txBody>
      <dsp:txXfrm>
        <a:off x="3371510" y="2194158"/>
        <a:ext cx="453468" cy="454691"/>
      </dsp:txXfrm>
    </dsp:sp>
    <dsp:sp modelId="{682205AA-FAA2-48C7-8E48-0001155F951C}">
      <dsp:nvSpPr>
        <dsp:cNvPr id="0" name=""/>
        <dsp:cNvSpPr/>
      </dsp:nvSpPr>
      <dsp:spPr>
        <a:xfrm>
          <a:off x="4288224" y="1504790"/>
          <a:ext cx="3055714" cy="1833428"/>
        </a:xfrm>
        <a:prstGeom prst="roundRect">
          <a:avLst>
            <a:gd name="adj" fmla="val 10000"/>
          </a:avLst>
        </a:prstGeom>
        <a:solidFill>
          <a:srgbClr val="00B0F0"/>
        </a:solidFill>
        <a:ln w="19050" cap="rnd" cmpd="sng" algn="ctr">
          <a:solidFill>
            <a:schemeClr val="lt1">
              <a:hueOff val="0"/>
              <a:satOff val="0"/>
              <a:lumOff val="0"/>
              <a:alphaOff val="0"/>
            </a:schemeClr>
          </a:solidFill>
          <a:prstDash val="solid"/>
        </a:ln>
        <a:effectLst/>
        <a:scene3d>
          <a:camera prst="perspectiveRight"/>
          <a:lightRig rig="threePt" dir="t"/>
        </a:scene3d>
      </dsp:spPr>
      <dsp:style>
        <a:lnRef idx="2">
          <a:scrgbClr r="0" g="0" b="0"/>
        </a:lnRef>
        <a:fillRef idx="1">
          <a:scrgbClr r="0" g="0" b="0"/>
        </a:fillRef>
        <a:effectRef idx="0">
          <a:scrgbClr r="0" g="0" b="0"/>
        </a:effectRef>
        <a:fontRef idx="minor">
          <a:schemeClr val="lt1"/>
        </a:fontRef>
      </dsp:style>
      <dsp:txBody>
        <a:bodyPr spcFirstLastPara="0" vert="horz" wrap="square" lIns="80010" tIns="80010" rIns="80010" bIns="80010" numCol="1" spcCol="1270" anchor="ctr" anchorCtr="0">
          <a:noAutofit/>
        </a:bodyPr>
        <a:lstStyle/>
        <a:p>
          <a:pPr marL="0" lvl="0" indent="0" algn="ctr" defTabSz="933450">
            <a:lnSpc>
              <a:spcPct val="90000"/>
            </a:lnSpc>
            <a:spcBef>
              <a:spcPct val="0"/>
            </a:spcBef>
            <a:spcAft>
              <a:spcPct val="35000"/>
            </a:spcAft>
            <a:buNone/>
          </a:pPr>
          <a:r>
            <a:rPr lang="en-US" sz="2100" kern="1200" dirty="0"/>
            <a:t>AI MODEL</a:t>
          </a:r>
        </a:p>
        <a:p>
          <a:pPr marL="0" lvl="0" indent="0" algn="ctr" defTabSz="933450">
            <a:lnSpc>
              <a:spcPct val="90000"/>
            </a:lnSpc>
            <a:spcBef>
              <a:spcPct val="0"/>
            </a:spcBef>
            <a:spcAft>
              <a:spcPct val="35000"/>
            </a:spcAft>
            <a:buNone/>
          </a:pPr>
          <a:r>
            <a:rPr lang="en-US" sz="2100" kern="1200" dirty="0"/>
            <a:t>(VGG16)</a:t>
          </a:r>
        </a:p>
        <a:p>
          <a:pPr marL="0" lvl="0" indent="0" algn="ctr" defTabSz="933450">
            <a:lnSpc>
              <a:spcPct val="90000"/>
            </a:lnSpc>
            <a:spcBef>
              <a:spcPct val="0"/>
            </a:spcBef>
            <a:spcAft>
              <a:spcPct val="35000"/>
            </a:spcAft>
            <a:buNone/>
          </a:pPr>
          <a:r>
            <a:rPr lang="en-US" sz="2100" kern="1200" dirty="0"/>
            <a:t>+</a:t>
          </a:r>
        </a:p>
        <a:p>
          <a:pPr marL="0" lvl="0" indent="0" algn="ctr" defTabSz="933450">
            <a:lnSpc>
              <a:spcPct val="90000"/>
            </a:lnSpc>
            <a:spcBef>
              <a:spcPct val="0"/>
            </a:spcBef>
            <a:spcAft>
              <a:spcPct val="35000"/>
            </a:spcAft>
            <a:buNone/>
          </a:pPr>
          <a:r>
            <a:rPr lang="en-US" sz="2100" kern="1200" dirty="0"/>
            <a:t>(Resnet101)</a:t>
          </a:r>
        </a:p>
      </dsp:txBody>
      <dsp:txXfrm>
        <a:off x="4341923" y="1558489"/>
        <a:ext cx="2948316" cy="1726030"/>
      </dsp:txXfrm>
    </dsp:sp>
    <dsp:sp modelId="{42B91C1B-C61C-4691-BBAF-AEB593A7536E}">
      <dsp:nvSpPr>
        <dsp:cNvPr id="0" name=""/>
        <dsp:cNvSpPr/>
      </dsp:nvSpPr>
      <dsp:spPr>
        <a:xfrm>
          <a:off x="7649510" y="2042595"/>
          <a:ext cx="647811" cy="757817"/>
        </a:xfrm>
        <a:prstGeom prst="rightArrow">
          <a:avLst>
            <a:gd name="adj1" fmla="val 60000"/>
            <a:gd name="adj2" fmla="val 50000"/>
          </a:avLst>
        </a:prstGeom>
        <a:solidFill>
          <a:schemeClr val="accent1">
            <a:tint val="60000"/>
            <a:hueOff val="0"/>
            <a:satOff val="0"/>
            <a:lumOff val="0"/>
            <a:alphaOff val="0"/>
          </a:schemeClr>
        </a:solidFill>
        <a:ln>
          <a:noFill/>
        </a:ln>
        <a:effectLst/>
      </dsp:spPr>
      <dsp:style>
        <a:lnRef idx="0">
          <a:scrgbClr r="0" g="0" b="0"/>
        </a:lnRef>
        <a:fillRef idx="1">
          <a:scrgbClr r="0" g="0" b="0"/>
        </a:fillRef>
        <a:effectRef idx="0">
          <a:scrgbClr r="0" g="0" b="0"/>
        </a:effectRef>
        <a:fontRef idx="minor">
          <a:schemeClr val="lt1"/>
        </a:fontRef>
      </dsp:style>
      <dsp:txBody>
        <a:bodyPr spcFirstLastPara="0" vert="horz" wrap="square" lIns="0" tIns="0" rIns="0" bIns="0" numCol="1" spcCol="1270" anchor="ctr" anchorCtr="0">
          <a:noAutofit/>
        </a:bodyPr>
        <a:lstStyle/>
        <a:p>
          <a:pPr marL="0" lvl="0" indent="0" algn="ctr" defTabSz="755650">
            <a:lnSpc>
              <a:spcPct val="90000"/>
            </a:lnSpc>
            <a:spcBef>
              <a:spcPct val="0"/>
            </a:spcBef>
            <a:spcAft>
              <a:spcPct val="35000"/>
            </a:spcAft>
            <a:buNone/>
          </a:pPr>
          <a:endParaRPr lang="en-US" sz="1700" kern="1200"/>
        </a:p>
      </dsp:txBody>
      <dsp:txXfrm>
        <a:off x="7649510" y="2194158"/>
        <a:ext cx="453468" cy="454691"/>
      </dsp:txXfrm>
    </dsp:sp>
    <dsp:sp modelId="{CD7E95AD-4828-4E8D-A234-0A5883722564}">
      <dsp:nvSpPr>
        <dsp:cNvPr id="0" name=""/>
        <dsp:cNvSpPr/>
      </dsp:nvSpPr>
      <dsp:spPr>
        <a:xfrm>
          <a:off x="8566225" y="1504790"/>
          <a:ext cx="3055714" cy="1833428"/>
        </a:xfrm>
        <a:prstGeom prst="roundRect">
          <a:avLst>
            <a:gd name="adj" fmla="val 10000"/>
          </a:avLst>
        </a:prstGeom>
        <a:solidFill>
          <a:srgbClr val="00B050"/>
        </a:solidFill>
        <a:ln w="19050" cap="rnd" cmpd="sng" algn="ctr">
          <a:solidFill>
            <a:schemeClr val="lt1">
              <a:hueOff val="0"/>
              <a:satOff val="0"/>
              <a:lumOff val="0"/>
              <a:alphaOff val="0"/>
            </a:schemeClr>
          </a:solidFill>
          <a:prstDash val="solid"/>
        </a:ln>
        <a:effectLst/>
        <a:scene3d>
          <a:camera prst="perspectiveRelaxedModerately"/>
          <a:lightRig rig="threePt" dir="t"/>
        </a:scene3d>
      </dsp:spPr>
      <dsp:style>
        <a:lnRef idx="2">
          <a:scrgbClr r="0" g="0" b="0"/>
        </a:lnRef>
        <a:fillRef idx="1">
          <a:scrgbClr r="0" g="0" b="0"/>
        </a:fillRef>
        <a:effectRef idx="0">
          <a:scrgbClr r="0" g="0" b="0"/>
        </a:effectRef>
        <a:fontRef idx="minor">
          <a:schemeClr val="lt1"/>
        </a:fontRef>
      </dsp:style>
      <dsp:txBody>
        <a:bodyPr spcFirstLastPara="0" vert="horz" wrap="square" lIns="80010" tIns="80010" rIns="80010" bIns="80010" numCol="1" spcCol="1270" anchor="ctr" anchorCtr="0">
          <a:noAutofit/>
        </a:bodyPr>
        <a:lstStyle/>
        <a:p>
          <a:pPr marL="0" lvl="0" indent="0" algn="ctr" defTabSz="933450">
            <a:lnSpc>
              <a:spcPct val="90000"/>
            </a:lnSpc>
            <a:spcBef>
              <a:spcPct val="0"/>
            </a:spcBef>
            <a:spcAft>
              <a:spcPct val="35000"/>
            </a:spcAft>
            <a:buNone/>
          </a:pPr>
          <a:r>
            <a:rPr lang="en-US" sz="2100" kern="1200" dirty="0"/>
            <a:t>OUTPUT</a:t>
          </a:r>
          <a:br>
            <a:rPr lang="en-US" sz="2100" kern="1200" dirty="0"/>
          </a:br>
          <a:r>
            <a:rPr lang="en-US" sz="2100" kern="1200" dirty="0"/>
            <a:t>[Classification]</a:t>
          </a:r>
        </a:p>
      </dsp:txBody>
      <dsp:txXfrm>
        <a:off x="8619924" y="1558489"/>
        <a:ext cx="2948316" cy="1726030"/>
      </dsp:txXfrm>
    </dsp:sp>
  </dsp:spTree>
</dsp:drawing>
</file>

<file path=ppt/diagrams/drawing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ED7904D4-6D86-4144-8C7C-56F98EFA6E75}">
      <dsp:nvSpPr>
        <dsp:cNvPr id="0" name=""/>
        <dsp:cNvSpPr/>
      </dsp:nvSpPr>
      <dsp:spPr>
        <a:xfrm>
          <a:off x="1054205" y="5946"/>
          <a:ext cx="1811631" cy="479082"/>
        </a:xfrm>
        <a:prstGeom prst="ellipse">
          <a:avLst/>
        </a:prstGeom>
        <a:solidFill>
          <a:schemeClr val="accent1">
            <a:hueOff val="0"/>
            <a:satOff val="0"/>
            <a:lumOff val="0"/>
            <a:alphaOff val="0"/>
          </a:schemeClr>
        </a:solidFill>
        <a:ln w="19050" cap="rnd"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49530" tIns="49530" rIns="49530" bIns="49530" numCol="1" spcCol="1270" anchor="ctr" anchorCtr="0">
          <a:noAutofit/>
        </a:bodyPr>
        <a:lstStyle/>
        <a:p>
          <a:pPr marL="0" lvl="0" indent="0" algn="ctr" defTabSz="577850">
            <a:lnSpc>
              <a:spcPct val="90000"/>
            </a:lnSpc>
            <a:spcBef>
              <a:spcPct val="0"/>
            </a:spcBef>
            <a:spcAft>
              <a:spcPct val="35000"/>
            </a:spcAft>
            <a:buNone/>
          </a:pPr>
          <a:r>
            <a:rPr lang="en-US" sz="1300" kern="1200" dirty="0"/>
            <a:t>Start</a:t>
          </a:r>
        </a:p>
      </dsp:txBody>
      <dsp:txXfrm>
        <a:off x="1319512" y="76106"/>
        <a:ext cx="1281017" cy="338762"/>
      </dsp:txXfrm>
    </dsp:sp>
    <dsp:sp modelId="{416C1A6C-6A2A-4618-9265-684B85FEC44E}">
      <dsp:nvSpPr>
        <dsp:cNvPr id="0" name=""/>
        <dsp:cNvSpPr/>
      </dsp:nvSpPr>
      <dsp:spPr>
        <a:xfrm rot="5400000">
          <a:off x="1870193" y="497005"/>
          <a:ext cx="179655" cy="215586"/>
        </a:xfrm>
        <a:prstGeom prst="rightArrow">
          <a:avLst>
            <a:gd name="adj1" fmla="val 60000"/>
            <a:gd name="adj2" fmla="val 50000"/>
          </a:avLst>
        </a:prstGeom>
        <a:solidFill>
          <a:schemeClr val="accent1">
            <a:tint val="60000"/>
            <a:hueOff val="0"/>
            <a:satOff val="0"/>
            <a:lumOff val="0"/>
            <a:alphaOff val="0"/>
          </a:schemeClr>
        </a:solidFill>
        <a:ln>
          <a:noFill/>
        </a:ln>
        <a:effectLst/>
      </dsp:spPr>
      <dsp:style>
        <a:lnRef idx="0">
          <a:scrgbClr r="0" g="0" b="0"/>
        </a:lnRef>
        <a:fillRef idx="1">
          <a:scrgbClr r="0" g="0" b="0"/>
        </a:fillRef>
        <a:effectRef idx="0">
          <a:scrgbClr r="0" g="0" b="0"/>
        </a:effectRef>
        <a:fontRef idx="minor">
          <a:schemeClr val="lt1"/>
        </a:fontRef>
      </dsp:style>
      <dsp:txBody>
        <a:bodyPr spcFirstLastPara="0" vert="horz" wrap="square" lIns="0" tIns="0" rIns="0" bIns="0" numCol="1" spcCol="1270" anchor="ctr" anchorCtr="0">
          <a:noAutofit/>
        </a:bodyPr>
        <a:lstStyle/>
        <a:p>
          <a:pPr marL="0" lvl="0" indent="0" algn="ctr" defTabSz="400050">
            <a:lnSpc>
              <a:spcPct val="90000"/>
            </a:lnSpc>
            <a:spcBef>
              <a:spcPct val="0"/>
            </a:spcBef>
            <a:spcAft>
              <a:spcPct val="35000"/>
            </a:spcAft>
            <a:buNone/>
          </a:pPr>
          <a:endParaRPr lang="en-US" sz="900" kern="1200"/>
        </a:p>
      </dsp:txBody>
      <dsp:txXfrm rot="-5400000">
        <a:off x="1895345" y="514970"/>
        <a:ext cx="129352" cy="125759"/>
      </dsp:txXfrm>
    </dsp:sp>
    <dsp:sp modelId="{5422124A-5E72-4EFF-BE80-D8306E81C040}">
      <dsp:nvSpPr>
        <dsp:cNvPr id="0" name=""/>
        <dsp:cNvSpPr/>
      </dsp:nvSpPr>
      <dsp:spPr>
        <a:xfrm>
          <a:off x="1054205" y="724569"/>
          <a:ext cx="1811631" cy="479082"/>
        </a:xfrm>
        <a:prstGeom prst="roundRect">
          <a:avLst>
            <a:gd name="adj" fmla="val 10000"/>
          </a:avLst>
        </a:prstGeom>
        <a:solidFill>
          <a:schemeClr val="accent1"/>
        </a:solidFill>
        <a:ln w="19050" cap="rnd" cmpd="sng" algn="ctr">
          <a:solidFill>
            <a:schemeClr val="tx1"/>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49530" tIns="49530" rIns="49530" bIns="49530" numCol="1" spcCol="1270" anchor="ctr" anchorCtr="0">
          <a:noAutofit/>
        </a:bodyPr>
        <a:lstStyle/>
        <a:p>
          <a:pPr marL="0" lvl="0" indent="0" algn="ctr" defTabSz="577850">
            <a:lnSpc>
              <a:spcPct val="90000"/>
            </a:lnSpc>
            <a:spcBef>
              <a:spcPct val="0"/>
            </a:spcBef>
            <a:spcAft>
              <a:spcPct val="35000"/>
            </a:spcAft>
            <a:buNone/>
          </a:pPr>
          <a:r>
            <a:rPr lang="en-US" sz="1300" kern="1200" dirty="0"/>
            <a:t>Reference study</a:t>
          </a:r>
        </a:p>
      </dsp:txBody>
      <dsp:txXfrm>
        <a:off x="1068237" y="738601"/>
        <a:ext cx="1783567" cy="451018"/>
      </dsp:txXfrm>
    </dsp:sp>
    <dsp:sp modelId="{2087D882-E045-4A1C-A538-A7A5DC7BF114}">
      <dsp:nvSpPr>
        <dsp:cNvPr id="0" name=""/>
        <dsp:cNvSpPr/>
      </dsp:nvSpPr>
      <dsp:spPr>
        <a:xfrm rot="5400000">
          <a:off x="1870193" y="1215628"/>
          <a:ext cx="179655" cy="215586"/>
        </a:xfrm>
        <a:prstGeom prst="rightArrow">
          <a:avLst>
            <a:gd name="adj1" fmla="val 60000"/>
            <a:gd name="adj2" fmla="val 50000"/>
          </a:avLst>
        </a:prstGeom>
        <a:solidFill>
          <a:schemeClr val="accent1">
            <a:tint val="60000"/>
            <a:hueOff val="0"/>
            <a:satOff val="0"/>
            <a:lumOff val="0"/>
            <a:alphaOff val="0"/>
          </a:schemeClr>
        </a:solidFill>
        <a:ln>
          <a:noFill/>
        </a:ln>
        <a:effectLst/>
      </dsp:spPr>
      <dsp:style>
        <a:lnRef idx="0">
          <a:scrgbClr r="0" g="0" b="0"/>
        </a:lnRef>
        <a:fillRef idx="1">
          <a:scrgbClr r="0" g="0" b="0"/>
        </a:fillRef>
        <a:effectRef idx="0">
          <a:scrgbClr r="0" g="0" b="0"/>
        </a:effectRef>
        <a:fontRef idx="minor">
          <a:schemeClr val="lt1"/>
        </a:fontRef>
      </dsp:style>
      <dsp:txBody>
        <a:bodyPr spcFirstLastPara="0" vert="horz" wrap="square" lIns="0" tIns="0" rIns="0" bIns="0" numCol="1" spcCol="1270" anchor="ctr" anchorCtr="0">
          <a:noAutofit/>
        </a:bodyPr>
        <a:lstStyle/>
        <a:p>
          <a:pPr marL="0" lvl="0" indent="0" algn="ctr" defTabSz="400050">
            <a:lnSpc>
              <a:spcPct val="90000"/>
            </a:lnSpc>
            <a:spcBef>
              <a:spcPct val="0"/>
            </a:spcBef>
            <a:spcAft>
              <a:spcPct val="35000"/>
            </a:spcAft>
            <a:buNone/>
          </a:pPr>
          <a:endParaRPr lang="en-US" sz="900" kern="1200"/>
        </a:p>
      </dsp:txBody>
      <dsp:txXfrm rot="-5400000">
        <a:off x="1895345" y="1233593"/>
        <a:ext cx="129352" cy="125759"/>
      </dsp:txXfrm>
    </dsp:sp>
    <dsp:sp modelId="{3E432083-E827-4C4A-8880-FFD257D1B2C8}">
      <dsp:nvSpPr>
        <dsp:cNvPr id="0" name=""/>
        <dsp:cNvSpPr/>
      </dsp:nvSpPr>
      <dsp:spPr>
        <a:xfrm>
          <a:off x="1054205" y="1443192"/>
          <a:ext cx="1811631" cy="479082"/>
        </a:xfrm>
        <a:prstGeom prst="roundRect">
          <a:avLst>
            <a:gd name="adj" fmla="val 10000"/>
          </a:avLst>
        </a:prstGeom>
        <a:solidFill>
          <a:schemeClr val="accent1">
            <a:hueOff val="0"/>
            <a:satOff val="0"/>
            <a:lumOff val="0"/>
            <a:alphaOff val="0"/>
          </a:schemeClr>
        </a:solidFill>
        <a:ln w="19050" cap="rnd"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49530" tIns="49530" rIns="49530" bIns="49530" numCol="1" spcCol="1270" anchor="ctr" anchorCtr="0">
          <a:noAutofit/>
        </a:bodyPr>
        <a:lstStyle/>
        <a:p>
          <a:pPr marL="0" lvl="0" indent="0" algn="l" defTabSz="577850">
            <a:lnSpc>
              <a:spcPct val="90000"/>
            </a:lnSpc>
            <a:spcBef>
              <a:spcPct val="0"/>
            </a:spcBef>
            <a:spcAft>
              <a:spcPct val="35000"/>
            </a:spcAft>
            <a:buNone/>
          </a:pPr>
          <a:r>
            <a:rPr lang="en-US" sz="1300" kern="1200" dirty="0"/>
            <a:t>Dataset cleaning</a:t>
          </a:r>
        </a:p>
      </dsp:txBody>
      <dsp:txXfrm>
        <a:off x="1068237" y="1457224"/>
        <a:ext cx="1783567" cy="451018"/>
      </dsp:txXfrm>
    </dsp:sp>
    <dsp:sp modelId="{67597B0C-D8F3-449E-8858-F1CF4E39F1E2}">
      <dsp:nvSpPr>
        <dsp:cNvPr id="0" name=""/>
        <dsp:cNvSpPr/>
      </dsp:nvSpPr>
      <dsp:spPr>
        <a:xfrm rot="5400000">
          <a:off x="1870193" y="1934251"/>
          <a:ext cx="179655" cy="215586"/>
        </a:xfrm>
        <a:prstGeom prst="rightArrow">
          <a:avLst>
            <a:gd name="adj1" fmla="val 60000"/>
            <a:gd name="adj2" fmla="val 50000"/>
          </a:avLst>
        </a:prstGeom>
        <a:solidFill>
          <a:schemeClr val="accent1">
            <a:tint val="60000"/>
            <a:hueOff val="0"/>
            <a:satOff val="0"/>
            <a:lumOff val="0"/>
            <a:alphaOff val="0"/>
          </a:schemeClr>
        </a:solidFill>
        <a:ln>
          <a:noFill/>
        </a:ln>
        <a:effectLst/>
      </dsp:spPr>
      <dsp:style>
        <a:lnRef idx="0">
          <a:scrgbClr r="0" g="0" b="0"/>
        </a:lnRef>
        <a:fillRef idx="1">
          <a:scrgbClr r="0" g="0" b="0"/>
        </a:fillRef>
        <a:effectRef idx="0">
          <a:scrgbClr r="0" g="0" b="0"/>
        </a:effectRef>
        <a:fontRef idx="minor">
          <a:schemeClr val="lt1"/>
        </a:fontRef>
      </dsp:style>
      <dsp:txBody>
        <a:bodyPr spcFirstLastPara="0" vert="horz" wrap="square" lIns="0" tIns="0" rIns="0" bIns="0" numCol="1" spcCol="1270" anchor="ctr" anchorCtr="0">
          <a:noAutofit/>
        </a:bodyPr>
        <a:lstStyle/>
        <a:p>
          <a:pPr marL="0" lvl="0" indent="0" algn="ctr" defTabSz="400050">
            <a:lnSpc>
              <a:spcPct val="90000"/>
            </a:lnSpc>
            <a:spcBef>
              <a:spcPct val="0"/>
            </a:spcBef>
            <a:spcAft>
              <a:spcPct val="35000"/>
            </a:spcAft>
            <a:buNone/>
          </a:pPr>
          <a:endParaRPr lang="en-US" sz="900" kern="1200"/>
        </a:p>
      </dsp:txBody>
      <dsp:txXfrm rot="-5400000">
        <a:off x="1895345" y="1952216"/>
        <a:ext cx="129352" cy="125759"/>
      </dsp:txXfrm>
    </dsp:sp>
    <dsp:sp modelId="{AFC07EE1-1F0C-42F5-81EB-D8C265C10C2C}">
      <dsp:nvSpPr>
        <dsp:cNvPr id="0" name=""/>
        <dsp:cNvSpPr/>
      </dsp:nvSpPr>
      <dsp:spPr>
        <a:xfrm>
          <a:off x="1054205" y="2161815"/>
          <a:ext cx="1811631" cy="479082"/>
        </a:xfrm>
        <a:prstGeom prst="roundRect">
          <a:avLst>
            <a:gd name="adj" fmla="val 10000"/>
          </a:avLst>
        </a:prstGeom>
        <a:solidFill>
          <a:schemeClr val="accent1">
            <a:hueOff val="0"/>
            <a:satOff val="0"/>
            <a:lumOff val="0"/>
            <a:alphaOff val="0"/>
          </a:schemeClr>
        </a:solidFill>
        <a:ln w="19050" cap="rnd"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49530" tIns="49530" rIns="49530" bIns="49530" numCol="1" spcCol="1270" anchor="ctr" anchorCtr="0">
          <a:noAutofit/>
        </a:bodyPr>
        <a:lstStyle/>
        <a:p>
          <a:pPr marL="0" lvl="0" indent="0" algn="ctr" defTabSz="577850">
            <a:lnSpc>
              <a:spcPct val="90000"/>
            </a:lnSpc>
            <a:spcBef>
              <a:spcPct val="0"/>
            </a:spcBef>
            <a:spcAft>
              <a:spcPct val="35000"/>
            </a:spcAft>
            <a:buNone/>
          </a:pPr>
          <a:r>
            <a:rPr lang="en-US" sz="1300" kern="1200" dirty="0"/>
            <a:t>Preprocessing </a:t>
          </a:r>
        </a:p>
      </dsp:txBody>
      <dsp:txXfrm>
        <a:off x="1068237" y="2175847"/>
        <a:ext cx="1783567" cy="451018"/>
      </dsp:txXfrm>
    </dsp:sp>
    <dsp:sp modelId="{744EE4C5-4164-4414-B3AB-727304E9494C}">
      <dsp:nvSpPr>
        <dsp:cNvPr id="0" name=""/>
        <dsp:cNvSpPr/>
      </dsp:nvSpPr>
      <dsp:spPr>
        <a:xfrm rot="5400000">
          <a:off x="1870193" y="2652874"/>
          <a:ext cx="179655" cy="215586"/>
        </a:xfrm>
        <a:prstGeom prst="rightArrow">
          <a:avLst>
            <a:gd name="adj1" fmla="val 60000"/>
            <a:gd name="adj2" fmla="val 50000"/>
          </a:avLst>
        </a:prstGeom>
        <a:solidFill>
          <a:schemeClr val="accent1">
            <a:tint val="60000"/>
            <a:hueOff val="0"/>
            <a:satOff val="0"/>
            <a:lumOff val="0"/>
            <a:alphaOff val="0"/>
          </a:schemeClr>
        </a:solidFill>
        <a:ln>
          <a:noFill/>
        </a:ln>
        <a:effectLst/>
      </dsp:spPr>
      <dsp:style>
        <a:lnRef idx="0">
          <a:scrgbClr r="0" g="0" b="0"/>
        </a:lnRef>
        <a:fillRef idx="1">
          <a:scrgbClr r="0" g="0" b="0"/>
        </a:fillRef>
        <a:effectRef idx="0">
          <a:scrgbClr r="0" g="0" b="0"/>
        </a:effectRef>
        <a:fontRef idx="minor">
          <a:schemeClr val="lt1"/>
        </a:fontRef>
      </dsp:style>
      <dsp:txBody>
        <a:bodyPr spcFirstLastPara="0" vert="horz" wrap="square" lIns="0" tIns="0" rIns="0" bIns="0" numCol="1" spcCol="1270" anchor="ctr" anchorCtr="0">
          <a:noAutofit/>
        </a:bodyPr>
        <a:lstStyle/>
        <a:p>
          <a:pPr marL="0" lvl="0" indent="0" algn="ctr" defTabSz="400050">
            <a:lnSpc>
              <a:spcPct val="90000"/>
            </a:lnSpc>
            <a:spcBef>
              <a:spcPct val="0"/>
            </a:spcBef>
            <a:spcAft>
              <a:spcPct val="35000"/>
            </a:spcAft>
            <a:buNone/>
          </a:pPr>
          <a:endParaRPr lang="en-US" sz="900" kern="1200"/>
        </a:p>
      </dsp:txBody>
      <dsp:txXfrm rot="-5400000">
        <a:off x="1895345" y="2670839"/>
        <a:ext cx="129352" cy="125759"/>
      </dsp:txXfrm>
    </dsp:sp>
    <dsp:sp modelId="{C6863D87-3998-4DE7-864B-901AD0685ECD}">
      <dsp:nvSpPr>
        <dsp:cNvPr id="0" name=""/>
        <dsp:cNvSpPr/>
      </dsp:nvSpPr>
      <dsp:spPr>
        <a:xfrm>
          <a:off x="1054205" y="2880438"/>
          <a:ext cx="1811631" cy="479082"/>
        </a:xfrm>
        <a:prstGeom prst="roundRect">
          <a:avLst>
            <a:gd name="adj" fmla="val 10000"/>
          </a:avLst>
        </a:prstGeom>
        <a:solidFill>
          <a:schemeClr val="accent1">
            <a:hueOff val="0"/>
            <a:satOff val="0"/>
            <a:lumOff val="0"/>
            <a:alphaOff val="0"/>
          </a:schemeClr>
        </a:solidFill>
        <a:ln w="19050" cap="rnd"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49530" tIns="49530" rIns="49530" bIns="49530" numCol="1" spcCol="1270" anchor="ctr" anchorCtr="0">
          <a:noAutofit/>
        </a:bodyPr>
        <a:lstStyle/>
        <a:p>
          <a:pPr marL="0" lvl="0" indent="0" algn="ctr" defTabSz="577850">
            <a:lnSpc>
              <a:spcPct val="90000"/>
            </a:lnSpc>
            <a:spcBef>
              <a:spcPct val="0"/>
            </a:spcBef>
            <a:spcAft>
              <a:spcPct val="35000"/>
            </a:spcAft>
            <a:buNone/>
          </a:pPr>
          <a:r>
            <a:rPr lang="en-US" sz="1300" kern="1200" dirty="0"/>
            <a:t>Applying VGG16+ Resnet</a:t>
          </a:r>
        </a:p>
      </dsp:txBody>
      <dsp:txXfrm>
        <a:off x="1068237" y="2894470"/>
        <a:ext cx="1783567" cy="451018"/>
      </dsp:txXfrm>
    </dsp:sp>
    <dsp:sp modelId="{C2927EC7-1020-4065-A559-09BD30706AF6}">
      <dsp:nvSpPr>
        <dsp:cNvPr id="0" name=""/>
        <dsp:cNvSpPr/>
      </dsp:nvSpPr>
      <dsp:spPr>
        <a:xfrm rot="5400000">
          <a:off x="1870193" y="3371498"/>
          <a:ext cx="179655" cy="215586"/>
        </a:xfrm>
        <a:prstGeom prst="rightArrow">
          <a:avLst>
            <a:gd name="adj1" fmla="val 60000"/>
            <a:gd name="adj2" fmla="val 50000"/>
          </a:avLst>
        </a:prstGeom>
        <a:solidFill>
          <a:schemeClr val="accent1">
            <a:tint val="60000"/>
            <a:hueOff val="0"/>
            <a:satOff val="0"/>
            <a:lumOff val="0"/>
            <a:alphaOff val="0"/>
          </a:schemeClr>
        </a:solidFill>
        <a:ln>
          <a:noFill/>
        </a:ln>
        <a:effectLst/>
      </dsp:spPr>
      <dsp:style>
        <a:lnRef idx="0">
          <a:scrgbClr r="0" g="0" b="0"/>
        </a:lnRef>
        <a:fillRef idx="1">
          <a:scrgbClr r="0" g="0" b="0"/>
        </a:fillRef>
        <a:effectRef idx="0">
          <a:scrgbClr r="0" g="0" b="0"/>
        </a:effectRef>
        <a:fontRef idx="minor">
          <a:schemeClr val="lt1"/>
        </a:fontRef>
      </dsp:style>
      <dsp:txBody>
        <a:bodyPr spcFirstLastPara="0" vert="horz" wrap="square" lIns="0" tIns="0" rIns="0" bIns="0" numCol="1" spcCol="1270" anchor="ctr" anchorCtr="0">
          <a:noAutofit/>
        </a:bodyPr>
        <a:lstStyle/>
        <a:p>
          <a:pPr marL="0" lvl="0" indent="0" algn="ctr" defTabSz="400050">
            <a:lnSpc>
              <a:spcPct val="90000"/>
            </a:lnSpc>
            <a:spcBef>
              <a:spcPct val="0"/>
            </a:spcBef>
            <a:spcAft>
              <a:spcPct val="35000"/>
            </a:spcAft>
            <a:buNone/>
          </a:pPr>
          <a:endParaRPr lang="en-US" sz="900" kern="1200"/>
        </a:p>
      </dsp:txBody>
      <dsp:txXfrm rot="-5400000">
        <a:off x="1895345" y="3389463"/>
        <a:ext cx="129352" cy="125759"/>
      </dsp:txXfrm>
    </dsp:sp>
    <dsp:sp modelId="{C7CAA363-F8BB-4555-B02C-CE49B1D8383C}">
      <dsp:nvSpPr>
        <dsp:cNvPr id="0" name=""/>
        <dsp:cNvSpPr/>
      </dsp:nvSpPr>
      <dsp:spPr>
        <a:xfrm>
          <a:off x="1054205" y="3599062"/>
          <a:ext cx="1811631" cy="479082"/>
        </a:xfrm>
        <a:prstGeom prst="roundRect">
          <a:avLst>
            <a:gd name="adj" fmla="val 10000"/>
          </a:avLst>
        </a:prstGeom>
        <a:solidFill>
          <a:schemeClr val="accent1">
            <a:hueOff val="0"/>
            <a:satOff val="0"/>
            <a:lumOff val="0"/>
            <a:alphaOff val="0"/>
          </a:schemeClr>
        </a:solidFill>
        <a:ln w="19050" cap="rnd"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49530" tIns="49530" rIns="49530" bIns="49530" numCol="1" spcCol="1270" anchor="ctr" anchorCtr="0">
          <a:noAutofit/>
        </a:bodyPr>
        <a:lstStyle/>
        <a:p>
          <a:pPr marL="0" lvl="0" indent="0" algn="ctr" defTabSz="577850">
            <a:lnSpc>
              <a:spcPct val="90000"/>
            </a:lnSpc>
            <a:spcBef>
              <a:spcPct val="0"/>
            </a:spcBef>
            <a:spcAft>
              <a:spcPct val="35000"/>
            </a:spcAft>
            <a:buNone/>
          </a:pPr>
          <a:r>
            <a:rPr lang="en-US" sz="1300" kern="1200" dirty="0"/>
            <a:t>Training</a:t>
          </a:r>
        </a:p>
      </dsp:txBody>
      <dsp:txXfrm>
        <a:off x="1068237" y="3613094"/>
        <a:ext cx="1783567" cy="451018"/>
      </dsp:txXfrm>
    </dsp:sp>
    <dsp:sp modelId="{5C8F59FA-2068-43E8-B549-EEA4D6EBA488}">
      <dsp:nvSpPr>
        <dsp:cNvPr id="0" name=""/>
        <dsp:cNvSpPr/>
      </dsp:nvSpPr>
      <dsp:spPr>
        <a:xfrm rot="5400000">
          <a:off x="1870193" y="4090121"/>
          <a:ext cx="179655" cy="215586"/>
        </a:xfrm>
        <a:prstGeom prst="rightArrow">
          <a:avLst>
            <a:gd name="adj1" fmla="val 60000"/>
            <a:gd name="adj2" fmla="val 50000"/>
          </a:avLst>
        </a:prstGeom>
        <a:solidFill>
          <a:schemeClr val="accent1">
            <a:tint val="60000"/>
            <a:hueOff val="0"/>
            <a:satOff val="0"/>
            <a:lumOff val="0"/>
            <a:alphaOff val="0"/>
          </a:schemeClr>
        </a:solidFill>
        <a:ln>
          <a:noFill/>
        </a:ln>
        <a:effectLst/>
      </dsp:spPr>
      <dsp:style>
        <a:lnRef idx="0">
          <a:scrgbClr r="0" g="0" b="0"/>
        </a:lnRef>
        <a:fillRef idx="1">
          <a:scrgbClr r="0" g="0" b="0"/>
        </a:fillRef>
        <a:effectRef idx="0">
          <a:scrgbClr r="0" g="0" b="0"/>
        </a:effectRef>
        <a:fontRef idx="minor">
          <a:schemeClr val="lt1"/>
        </a:fontRef>
      </dsp:style>
      <dsp:txBody>
        <a:bodyPr spcFirstLastPara="0" vert="horz" wrap="square" lIns="0" tIns="0" rIns="0" bIns="0" numCol="1" spcCol="1270" anchor="ctr" anchorCtr="0">
          <a:noAutofit/>
        </a:bodyPr>
        <a:lstStyle/>
        <a:p>
          <a:pPr marL="0" lvl="0" indent="0" algn="ctr" defTabSz="400050">
            <a:lnSpc>
              <a:spcPct val="90000"/>
            </a:lnSpc>
            <a:spcBef>
              <a:spcPct val="0"/>
            </a:spcBef>
            <a:spcAft>
              <a:spcPct val="35000"/>
            </a:spcAft>
            <a:buNone/>
          </a:pPr>
          <a:endParaRPr lang="en-US" sz="900" kern="1200"/>
        </a:p>
      </dsp:txBody>
      <dsp:txXfrm rot="-5400000">
        <a:off x="1895345" y="4108086"/>
        <a:ext cx="129352" cy="125759"/>
      </dsp:txXfrm>
    </dsp:sp>
    <dsp:sp modelId="{C57A1CC5-23D7-4B92-A5D8-85858B5BFAF3}">
      <dsp:nvSpPr>
        <dsp:cNvPr id="0" name=""/>
        <dsp:cNvSpPr/>
      </dsp:nvSpPr>
      <dsp:spPr>
        <a:xfrm>
          <a:off x="1054205" y="4317685"/>
          <a:ext cx="1811631" cy="479082"/>
        </a:xfrm>
        <a:prstGeom prst="roundRect">
          <a:avLst>
            <a:gd name="adj" fmla="val 10000"/>
          </a:avLst>
        </a:prstGeom>
        <a:solidFill>
          <a:schemeClr val="accent1">
            <a:hueOff val="0"/>
            <a:satOff val="0"/>
            <a:lumOff val="0"/>
            <a:alphaOff val="0"/>
          </a:schemeClr>
        </a:solidFill>
        <a:ln w="19050" cap="rnd"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49530" tIns="49530" rIns="49530" bIns="49530" numCol="1" spcCol="1270" anchor="ctr" anchorCtr="0">
          <a:noAutofit/>
        </a:bodyPr>
        <a:lstStyle/>
        <a:p>
          <a:pPr marL="0" lvl="0" indent="0" algn="ctr" defTabSz="577850">
            <a:lnSpc>
              <a:spcPct val="90000"/>
            </a:lnSpc>
            <a:spcBef>
              <a:spcPct val="0"/>
            </a:spcBef>
            <a:spcAft>
              <a:spcPct val="35000"/>
            </a:spcAft>
            <a:buNone/>
          </a:pPr>
          <a:r>
            <a:rPr lang="en-US" sz="1300" kern="1200" dirty="0"/>
            <a:t>Testing</a:t>
          </a:r>
        </a:p>
      </dsp:txBody>
      <dsp:txXfrm>
        <a:off x="1068237" y="4331717"/>
        <a:ext cx="1783567" cy="451018"/>
      </dsp:txXfrm>
    </dsp:sp>
    <dsp:sp modelId="{416D3639-C3F4-4FA8-8A2A-D47D95A223B7}">
      <dsp:nvSpPr>
        <dsp:cNvPr id="0" name=""/>
        <dsp:cNvSpPr/>
      </dsp:nvSpPr>
      <dsp:spPr>
        <a:xfrm rot="5400000">
          <a:off x="1870193" y="4808744"/>
          <a:ext cx="179655" cy="215586"/>
        </a:xfrm>
        <a:prstGeom prst="rightArrow">
          <a:avLst>
            <a:gd name="adj1" fmla="val 60000"/>
            <a:gd name="adj2" fmla="val 50000"/>
          </a:avLst>
        </a:prstGeom>
        <a:solidFill>
          <a:schemeClr val="accent1">
            <a:tint val="60000"/>
            <a:hueOff val="0"/>
            <a:satOff val="0"/>
            <a:lumOff val="0"/>
            <a:alphaOff val="0"/>
          </a:schemeClr>
        </a:solidFill>
        <a:ln>
          <a:noFill/>
        </a:ln>
        <a:effectLst/>
      </dsp:spPr>
      <dsp:style>
        <a:lnRef idx="0">
          <a:scrgbClr r="0" g="0" b="0"/>
        </a:lnRef>
        <a:fillRef idx="1">
          <a:scrgbClr r="0" g="0" b="0"/>
        </a:fillRef>
        <a:effectRef idx="0">
          <a:scrgbClr r="0" g="0" b="0"/>
        </a:effectRef>
        <a:fontRef idx="minor">
          <a:schemeClr val="lt1"/>
        </a:fontRef>
      </dsp:style>
      <dsp:txBody>
        <a:bodyPr spcFirstLastPara="0" vert="horz" wrap="square" lIns="0" tIns="0" rIns="0" bIns="0" numCol="1" spcCol="1270" anchor="ctr" anchorCtr="0">
          <a:noAutofit/>
        </a:bodyPr>
        <a:lstStyle/>
        <a:p>
          <a:pPr marL="0" lvl="0" indent="0" algn="ctr" defTabSz="400050">
            <a:lnSpc>
              <a:spcPct val="90000"/>
            </a:lnSpc>
            <a:spcBef>
              <a:spcPct val="0"/>
            </a:spcBef>
            <a:spcAft>
              <a:spcPct val="35000"/>
            </a:spcAft>
            <a:buNone/>
          </a:pPr>
          <a:endParaRPr lang="en-US" sz="900" kern="1200"/>
        </a:p>
      </dsp:txBody>
      <dsp:txXfrm rot="-5400000">
        <a:off x="1895345" y="4826709"/>
        <a:ext cx="129352" cy="125759"/>
      </dsp:txXfrm>
    </dsp:sp>
    <dsp:sp modelId="{33D033D1-A316-497B-8DB9-A5429760FE18}">
      <dsp:nvSpPr>
        <dsp:cNvPr id="0" name=""/>
        <dsp:cNvSpPr/>
      </dsp:nvSpPr>
      <dsp:spPr>
        <a:xfrm>
          <a:off x="1054205" y="5036308"/>
          <a:ext cx="1811631" cy="479082"/>
        </a:xfrm>
        <a:prstGeom prst="roundRect">
          <a:avLst>
            <a:gd name="adj" fmla="val 10000"/>
          </a:avLst>
        </a:prstGeom>
        <a:solidFill>
          <a:schemeClr val="accent1">
            <a:hueOff val="0"/>
            <a:satOff val="0"/>
            <a:lumOff val="0"/>
            <a:alphaOff val="0"/>
          </a:schemeClr>
        </a:solidFill>
        <a:ln w="19050" cap="rnd"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49530" tIns="49530" rIns="49530" bIns="49530" numCol="1" spcCol="1270" anchor="ctr" anchorCtr="0">
          <a:noAutofit/>
        </a:bodyPr>
        <a:lstStyle/>
        <a:p>
          <a:pPr marL="0" lvl="0" indent="0" algn="ctr" defTabSz="577850">
            <a:lnSpc>
              <a:spcPct val="90000"/>
            </a:lnSpc>
            <a:spcBef>
              <a:spcPct val="0"/>
            </a:spcBef>
            <a:spcAft>
              <a:spcPct val="35000"/>
            </a:spcAft>
            <a:buNone/>
          </a:pPr>
          <a:r>
            <a:rPr lang="en-US" sz="1300" kern="1200" dirty="0"/>
            <a:t>Evaluation </a:t>
          </a:r>
        </a:p>
      </dsp:txBody>
      <dsp:txXfrm>
        <a:off x="1068237" y="5050340"/>
        <a:ext cx="1783567" cy="451018"/>
      </dsp:txXfrm>
    </dsp:sp>
    <dsp:sp modelId="{7685F20A-44F3-4DDF-A4B7-FE05D6777050}">
      <dsp:nvSpPr>
        <dsp:cNvPr id="0" name=""/>
        <dsp:cNvSpPr/>
      </dsp:nvSpPr>
      <dsp:spPr>
        <a:xfrm rot="5400000">
          <a:off x="1870193" y="5527367"/>
          <a:ext cx="179655" cy="215586"/>
        </a:xfrm>
        <a:prstGeom prst="rightArrow">
          <a:avLst>
            <a:gd name="adj1" fmla="val 60000"/>
            <a:gd name="adj2" fmla="val 50000"/>
          </a:avLst>
        </a:prstGeom>
        <a:solidFill>
          <a:schemeClr val="accent1">
            <a:tint val="60000"/>
            <a:hueOff val="0"/>
            <a:satOff val="0"/>
            <a:lumOff val="0"/>
            <a:alphaOff val="0"/>
          </a:schemeClr>
        </a:solidFill>
        <a:ln>
          <a:noFill/>
        </a:ln>
        <a:effectLst/>
      </dsp:spPr>
      <dsp:style>
        <a:lnRef idx="0">
          <a:scrgbClr r="0" g="0" b="0"/>
        </a:lnRef>
        <a:fillRef idx="1">
          <a:scrgbClr r="0" g="0" b="0"/>
        </a:fillRef>
        <a:effectRef idx="0">
          <a:scrgbClr r="0" g="0" b="0"/>
        </a:effectRef>
        <a:fontRef idx="minor">
          <a:schemeClr val="lt1"/>
        </a:fontRef>
      </dsp:style>
      <dsp:txBody>
        <a:bodyPr spcFirstLastPara="0" vert="horz" wrap="square" lIns="0" tIns="0" rIns="0" bIns="0" numCol="1" spcCol="1270" anchor="ctr" anchorCtr="0">
          <a:noAutofit/>
        </a:bodyPr>
        <a:lstStyle/>
        <a:p>
          <a:pPr marL="0" lvl="0" indent="0" algn="ctr" defTabSz="400050">
            <a:lnSpc>
              <a:spcPct val="90000"/>
            </a:lnSpc>
            <a:spcBef>
              <a:spcPct val="0"/>
            </a:spcBef>
            <a:spcAft>
              <a:spcPct val="35000"/>
            </a:spcAft>
            <a:buNone/>
          </a:pPr>
          <a:endParaRPr lang="en-US" sz="900" kern="1200"/>
        </a:p>
      </dsp:txBody>
      <dsp:txXfrm rot="-5400000">
        <a:off x="1895345" y="5545332"/>
        <a:ext cx="129352" cy="125759"/>
      </dsp:txXfrm>
    </dsp:sp>
    <dsp:sp modelId="{328BBEBF-C5F0-4903-80FD-6981E81DD711}">
      <dsp:nvSpPr>
        <dsp:cNvPr id="0" name=""/>
        <dsp:cNvSpPr/>
      </dsp:nvSpPr>
      <dsp:spPr>
        <a:xfrm>
          <a:off x="1054205" y="5754931"/>
          <a:ext cx="1811631" cy="479082"/>
        </a:xfrm>
        <a:prstGeom prst="roundRect">
          <a:avLst>
            <a:gd name="adj" fmla="val 10000"/>
          </a:avLst>
        </a:prstGeom>
        <a:solidFill>
          <a:schemeClr val="accent1">
            <a:lumMod val="75000"/>
          </a:schemeClr>
        </a:solidFill>
        <a:ln w="19050" cap="rnd"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49530" tIns="49530" rIns="49530" bIns="49530" numCol="1" spcCol="1270" anchor="ctr" anchorCtr="0">
          <a:noAutofit/>
        </a:bodyPr>
        <a:lstStyle/>
        <a:p>
          <a:pPr marL="0" lvl="0" indent="0" algn="ctr" defTabSz="577850">
            <a:lnSpc>
              <a:spcPct val="90000"/>
            </a:lnSpc>
            <a:spcBef>
              <a:spcPct val="0"/>
            </a:spcBef>
            <a:spcAft>
              <a:spcPct val="35000"/>
            </a:spcAft>
            <a:buNone/>
          </a:pPr>
          <a:r>
            <a:rPr lang="en-US" sz="1300" kern="1200" dirty="0"/>
            <a:t>Output</a:t>
          </a:r>
        </a:p>
      </dsp:txBody>
      <dsp:txXfrm>
        <a:off x="1068237" y="5768963"/>
        <a:ext cx="1783567" cy="451018"/>
      </dsp:txXfrm>
    </dsp:sp>
    <dsp:sp modelId="{175C1670-DCC1-4E5B-94CB-DCE9D9E624E6}">
      <dsp:nvSpPr>
        <dsp:cNvPr id="0" name=""/>
        <dsp:cNvSpPr/>
      </dsp:nvSpPr>
      <dsp:spPr>
        <a:xfrm rot="5400000">
          <a:off x="1870193" y="6245990"/>
          <a:ext cx="179655" cy="215586"/>
        </a:xfrm>
        <a:prstGeom prst="rightArrow">
          <a:avLst>
            <a:gd name="adj1" fmla="val 60000"/>
            <a:gd name="adj2" fmla="val 50000"/>
          </a:avLst>
        </a:prstGeom>
        <a:solidFill>
          <a:schemeClr val="accent1">
            <a:tint val="60000"/>
            <a:hueOff val="0"/>
            <a:satOff val="0"/>
            <a:lumOff val="0"/>
            <a:alphaOff val="0"/>
          </a:schemeClr>
        </a:solidFill>
        <a:ln>
          <a:noFill/>
        </a:ln>
        <a:effectLst/>
      </dsp:spPr>
      <dsp:style>
        <a:lnRef idx="0">
          <a:scrgbClr r="0" g="0" b="0"/>
        </a:lnRef>
        <a:fillRef idx="1">
          <a:scrgbClr r="0" g="0" b="0"/>
        </a:fillRef>
        <a:effectRef idx="0">
          <a:scrgbClr r="0" g="0" b="0"/>
        </a:effectRef>
        <a:fontRef idx="minor">
          <a:schemeClr val="lt1"/>
        </a:fontRef>
      </dsp:style>
      <dsp:txBody>
        <a:bodyPr spcFirstLastPara="0" vert="horz" wrap="square" lIns="0" tIns="0" rIns="0" bIns="0" numCol="1" spcCol="1270" anchor="ctr" anchorCtr="0">
          <a:noAutofit/>
        </a:bodyPr>
        <a:lstStyle/>
        <a:p>
          <a:pPr marL="0" lvl="0" indent="0" algn="ctr" defTabSz="400050">
            <a:lnSpc>
              <a:spcPct val="90000"/>
            </a:lnSpc>
            <a:spcBef>
              <a:spcPct val="0"/>
            </a:spcBef>
            <a:spcAft>
              <a:spcPct val="35000"/>
            </a:spcAft>
            <a:buNone/>
          </a:pPr>
          <a:endParaRPr lang="en-US" sz="900" kern="1200"/>
        </a:p>
      </dsp:txBody>
      <dsp:txXfrm rot="-5400000">
        <a:off x="1895345" y="6263955"/>
        <a:ext cx="129352" cy="125759"/>
      </dsp:txXfrm>
    </dsp:sp>
    <dsp:sp modelId="{3C037B64-FFA4-4170-8F49-E74997088F59}">
      <dsp:nvSpPr>
        <dsp:cNvPr id="0" name=""/>
        <dsp:cNvSpPr/>
      </dsp:nvSpPr>
      <dsp:spPr>
        <a:xfrm>
          <a:off x="1054205" y="6473554"/>
          <a:ext cx="1811631" cy="479082"/>
        </a:xfrm>
        <a:prstGeom prst="ellipse">
          <a:avLst/>
        </a:prstGeom>
        <a:solidFill>
          <a:schemeClr val="accent1">
            <a:hueOff val="0"/>
            <a:satOff val="0"/>
            <a:lumOff val="0"/>
            <a:alphaOff val="0"/>
          </a:schemeClr>
        </a:solidFill>
        <a:ln w="19050" cap="rnd"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49530" tIns="49530" rIns="49530" bIns="49530" numCol="1" spcCol="1270" anchor="ctr" anchorCtr="0">
          <a:noAutofit/>
        </a:bodyPr>
        <a:lstStyle/>
        <a:p>
          <a:pPr marL="0" lvl="0" indent="0" algn="ctr" defTabSz="577850">
            <a:lnSpc>
              <a:spcPct val="90000"/>
            </a:lnSpc>
            <a:spcBef>
              <a:spcPct val="0"/>
            </a:spcBef>
            <a:spcAft>
              <a:spcPct val="35000"/>
            </a:spcAft>
            <a:buNone/>
          </a:pPr>
          <a:r>
            <a:rPr lang="en-US" sz="1300" kern="1200" dirty="0"/>
            <a:t>End</a:t>
          </a:r>
        </a:p>
      </dsp:txBody>
      <dsp:txXfrm>
        <a:off x="1319512" y="6543714"/>
        <a:ext cx="1281017" cy="338762"/>
      </dsp:txXfrm>
    </dsp:sp>
  </dsp:spTree>
</dsp:drawing>
</file>

<file path=ppt/diagrams/layout1.xml><?xml version="1.0" encoding="utf-8"?>
<dgm:layoutDef xmlns:dgm="http://schemas.openxmlformats.org/drawingml/2006/diagram" xmlns:a="http://schemas.openxmlformats.org/drawingml/2006/main" uniqueId="urn:microsoft.com/office/officeart/2005/8/layout/process1">
  <dgm:title val=""/>
  <dgm:desc val=""/>
  <dgm:catLst>
    <dgm:cat type="process" pri="1000"/>
    <dgm:cat type="convert" pri="15000"/>
  </dgm:catLst>
  <dgm:sampData useDef="1">
    <dgm:dataModel>
      <dgm:pt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Name0">
    <dgm:varLst>
      <dgm:dir/>
      <dgm:resizeHandles val="exact"/>
    </dgm:varLst>
    <dgm:choose name="Name1">
      <dgm:if name="Name2" func="var" arg="dir" op="equ" val="norm">
        <dgm:alg type="lin"/>
      </dgm:if>
      <dgm:else name="Name3">
        <dgm:alg type="lin">
          <dgm:param type="linDir" val="fromR"/>
        </dgm:alg>
      </dgm:else>
    </dgm:choose>
    <dgm:shape xmlns:r="http://schemas.openxmlformats.org/officeDocument/2006/relationships" r:blip="">
      <dgm:adjLst/>
    </dgm:shape>
    <dgm:presOf/>
    <dgm:constrLst>
      <dgm:constr type="w" for="ch" ptType="node" refType="w"/>
      <dgm:constr type="h" for="ch" ptType="node" op="equ"/>
      <dgm:constr type="primFontSz" for="ch" ptType="node" op="equ" val="65"/>
      <dgm:constr type="w" for="ch" ptType="sibTrans" refType="w" refFor="ch" refPtType="node" op="equ" fact="0.4"/>
      <dgm:constr type="h" for="ch" ptType="sibTrans" op="equ"/>
      <dgm:constr type="primFontSz" for="des" forName="connectorText" op="equ" val="55"/>
      <dgm:constr type="primFontSz" for="des" forName="connectorText" refType="primFontSz" refFor="ch" refPtType="node" op="lte" fact="0.8"/>
    </dgm:constrLst>
    <dgm:ruleLst/>
    <dgm:forEach name="nodesForEach" axis="ch" ptType="node">
      <dgm:layoutNode name="node">
        <dgm:varLst>
          <dgm:bulletEnabled val="1"/>
        </dgm:varLst>
        <dgm:alg type="tx"/>
        <dgm:shape xmlns:r="http://schemas.openxmlformats.org/officeDocument/2006/relationships" type="roundRect" r:blip="">
          <dgm:adjLst>
            <dgm:adj idx="1" val="0.1"/>
          </dgm:adjLst>
        </dgm:shape>
        <dgm:presOf axis="desOrSelf" ptType="node"/>
        <dgm:constrLst>
          <dgm:constr type="h" refType="w" fact="0.6"/>
          <dgm:constr type="tMarg" refType="primFontSz" fact="0.3"/>
          <dgm:constr type="bMarg" refType="primFontSz" fact="0.3"/>
          <dgm:constr type="lMarg" refType="primFontSz" fact="0.3"/>
          <dgm:constr type="rMarg" refType="primFontSz" fact="0.3"/>
        </dgm:constrLst>
        <dgm:ruleLst>
          <dgm:rule type="primFontSz" val="18" fact="NaN" max="NaN"/>
          <dgm:rule type="h" val="NaN" fact="1.5" max="NaN"/>
          <dgm:rule type="primFontSz" val="5" fact="NaN" max="NaN"/>
          <dgm:rule type="h" val="INF" fact="NaN" max="NaN"/>
        </dgm:ruleLst>
      </dgm:layoutNode>
      <dgm:forEach name="sibTransForEach" axis="followSib" ptType="sibTrans" cnt="1">
        <dgm:layoutNode name="sibTrans">
          <dgm:alg type="conn">
            <dgm:param type="begPts" val="auto"/>
            <dgm:param type="endPts" val="auto"/>
          </dgm:alg>
          <dgm:shape xmlns:r="http://schemas.openxmlformats.org/officeDocument/2006/relationships" type="conn" r:blip="">
            <dgm:adjLst/>
          </dgm:shape>
          <dgm:presOf axis="self"/>
          <dgm:constrLst>
            <dgm:constr type="h" refType="w" fact="0.62"/>
            <dgm:constr type="connDist"/>
            <dgm:constr type="begPad" refType="connDist" fact="0.25"/>
            <dgm:constr type="endPad" refType="connDist" fact="0.22"/>
          </dgm:constrLst>
          <dgm:ruleLst/>
          <dgm:layoutNode name="connectorText">
            <dgm:alg type="tx">
              <dgm:param type="autoTxRot" val="grav"/>
            </dgm:alg>
            <dgm:shape xmlns:r="http://schemas.openxmlformats.org/officeDocument/2006/relationships" type="conn" r:blip="" hideGeom="1">
              <dgm:adjLst/>
            </dgm:shape>
            <dgm:presOf axis="self"/>
            <dgm:constrLst>
              <dgm:constr type="lMarg"/>
              <dgm:constr type="rMarg"/>
              <dgm:constr type="tMarg"/>
              <dgm:constr type="bMarg"/>
            </dgm:constrLst>
            <dgm:ruleLst>
              <dgm:rule type="primFontSz" val="5" fact="NaN" max="NaN"/>
            </dgm:ruleLst>
          </dgm:layoutNode>
        </dgm:layoutNode>
      </dgm:forEach>
    </dgm:forEach>
  </dgm:layoutNode>
</dgm:layoutDef>
</file>

<file path=ppt/diagrams/layout2.xml><?xml version="1.0" encoding="utf-8"?>
<dgm:layoutDef xmlns:dgm="http://schemas.openxmlformats.org/drawingml/2006/diagram" xmlns:a="http://schemas.openxmlformats.org/drawingml/2006/main" uniqueId="urn:microsoft.com/office/officeart/2005/8/layout/process2">
  <dgm:title val=""/>
  <dgm:desc val=""/>
  <dgm:catLst>
    <dgm:cat type="process" pri="13000"/>
  </dgm:catLst>
  <dgm:sampData useDef="1">
    <dgm:dataModel>
      <dgm:pt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Flow">
    <dgm:varLst>
      <dgm:resizeHandles val="exact"/>
    </dgm:varLst>
    <dgm:alg type="lin">
      <dgm:param type="linDir" val="fromT"/>
    </dgm:alg>
    <dgm:shape xmlns:r="http://schemas.openxmlformats.org/officeDocument/2006/relationships" r:blip="">
      <dgm:adjLst/>
    </dgm:shape>
    <dgm:presOf/>
    <dgm:constrLst>
      <dgm:constr type="h" for="ch" ptType="node" refType="h"/>
      <dgm:constr type="h" for="ch" ptType="sibTrans" refType="h" refFor="ch" refPtType="node" fact="0.5"/>
      <dgm:constr type="w" for="ch" ptType="node" op="equ"/>
      <dgm:constr type="primFontSz" for="ch" ptType="node" op="equ" val="65"/>
      <dgm:constr type="primFontSz" for="des" forName="connectorText" op="equ" val="55"/>
      <dgm:constr type="primFontSz" for="des" forName="connectorText" refType="primFontSz" refFor="ch" refPtType="node" op="lte" fact="0.8"/>
    </dgm:constrLst>
    <dgm:ruleLst/>
    <dgm:forEach name="nodesForEach" axis="ch" ptType="node">
      <dgm:layoutNode name="node">
        <dgm:varLst>
          <dgm:bulletEnabled val="1"/>
        </dgm:varLst>
        <dgm:choose name="Name0">
          <dgm:if name="Name1" axis="root des" ptType="all node" func="maxDepth" op="gt" val="1">
            <dgm:alg type="tx">
              <dgm:param type="parTxLTRAlign" val="l"/>
              <dgm:param type="parTxRTLAlign" val="r"/>
              <dgm:param type="txAnchorVertCh" val="mid"/>
            </dgm:alg>
          </dgm:if>
          <dgm:else name="Name2">
            <dgm:alg type="tx"/>
          </dgm:else>
        </dgm:choose>
        <dgm:shape xmlns:r="http://schemas.openxmlformats.org/officeDocument/2006/relationships" type="roundRect" r:blip="">
          <dgm:adjLst>
            <dgm:adj idx="1" val="0.1"/>
          </dgm:adjLst>
        </dgm:shape>
        <dgm:presOf axis="desOrSelf" ptType="node"/>
        <dgm:constrLst>
          <dgm:constr type="w" refType="h" fact="1.8"/>
          <dgm:constr type="tMarg" refType="primFontSz" fact="0.3"/>
          <dgm:constr type="bMarg" refType="primFontSz" fact="0.3"/>
          <dgm:constr type="lMarg" refType="primFontSz" fact="0.3"/>
          <dgm:constr type="rMarg" refType="primFontSz" fact="0.3"/>
        </dgm:constrLst>
        <dgm:ruleLst>
          <dgm:rule type="primFontSz" val="18" fact="NaN" max="NaN"/>
          <dgm:rule type="w" val="NaN" fact="4" max="NaN"/>
          <dgm:rule type="primFontSz" val="5" fact="NaN" max="NaN"/>
        </dgm:ruleLst>
      </dgm:layoutNode>
      <dgm:forEach name="sibTransForEach" axis="followSib" ptType="sibTrans" cnt="1">
        <dgm:layoutNode name="sibTrans">
          <dgm:alg type="conn">
            <dgm:param type="begPts" val="auto"/>
            <dgm:param type="endPts" val="auto"/>
          </dgm:alg>
          <dgm:shape xmlns:r="http://schemas.openxmlformats.org/officeDocument/2006/relationships" type="conn" r:blip="">
            <dgm:adjLst/>
          </dgm:shape>
          <dgm:presOf axis="self"/>
          <dgm:constrLst>
            <dgm:constr type="w" refType="h" fact="0.9"/>
            <dgm:constr type="connDist"/>
            <dgm:constr type="wArH" refType="w" fact="0.5"/>
            <dgm:constr type="hArH" refType="w"/>
            <dgm:constr type="stemThick" refType="w" fact="0.6"/>
            <dgm:constr type="begPad" refType="connDist" fact="0.125"/>
            <dgm:constr type="endPad" refType="connDist" fact="0.125"/>
          </dgm:constrLst>
          <dgm:ruleLst/>
          <dgm:layoutNode name="connectorText">
            <dgm:alg type="tx">
              <dgm:param type="autoTxRot" val="upr"/>
            </dgm:alg>
            <dgm:shape xmlns:r="http://schemas.openxmlformats.org/officeDocument/2006/relationships" type="conn" r:blip="" hideGeom="1">
              <dgm:adjLst/>
            </dgm:shape>
            <dgm:presOf axis="self"/>
            <dgm:constrLst>
              <dgm:constr type="lMarg"/>
              <dgm:constr type="rMarg"/>
              <dgm:constr type="tMarg"/>
              <dgm:constr type="bMarg"/>
            </dgm:constrLst>
            <dgm:ruleLst>
              <dgm:rule type="primFontSz" val="5" fact="NaN" max="NaN"/>
            </dgm:ruleLst>
          </dgm:layoutNode>
        </dgm:layoutNode>
      </dgm:forEach>
    </dgm:forEach>
  </dgm:layoutNode>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476D8F7A-401F-4353-8EDE-2F504AFB929A}" type="datetimeFigureOut">
              <a:rPr lang="en-US" smtClean="0"/>
              <a:t>12/22/2025</a:t>
            </a:fld>
            <a:endParaRPr lang="en-US"/>
          </a:p>
        </p:txBody>
      </p:sp>
      <p:sp>
        <p:nvSpPr>
          <p:cNvPr id="4" name="Slide Image Placeholder 3"/>
          <p:cNvSpPr>
            <a:spLocks noGrp="1" noRot="1" noChangeAspect="1"/>
          </p:cNvSpPr>
          <p:nvPr>
            <p:ph type="sldImg" idx="2"/>
          </p:nvPr>
        </p:nvSpPr>
        <p:spPr>
          <a:xfrm>
            <a:off x="788988" y="1143000"/>
            <a:ext cx="5280025"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FA11DB98-D36D-47C8-B13B-3D19AB3DB4B8}" type="slidenum">
              <a:rPr lang="en-US" smtClean="0"/>
              <a:t>‹#›</a:t>
            </a:fld>
            <a:endParaRPr lang="en-US"/>
          </a:p>
        </p:txBody>
      </p:sp>
    </p:spTree>
    <p:extLst>
      <p:ext uri="{BB962C8B-B14F-4D97-AF65-F5344CB8AC3E}">
        <p14:creationId xmlns:p14="http://schemas.microsoft.com/office/powerpoint/2010/main" val="3525335088"/>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bg>
      <p:bgRef idx="1003">
        <a:schemeClr val="bg2"/>
      </p:bgRef>
    </p:bg>
    <p:spTree>
      <p:nvGrpSpPr>
        <p:cNvPr id="1" name=""/>
        <p:cNvGrpSpPr/>
        <p:nvPr/>
      </p:nvGrpSpPr>
      <p:grpSpPr>
        <a:xfrm>
          <a:off x="0" y="0"/>
          <a:ext cx="0" cy="0"/>
          <a:chOff x="0" y="0"/>
          <a:chExt cx="0" cy="0"/>
        </a:xfrm>
      </p:grpSpPr>
      <p:pic>
        <p:nvPicPr>
          <p:cNvPr id="7" name="Picture 6" descr="Celestia-R1---OverlayTitleH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 y="0"/>
            <a:ext cx="12188825" cy="7126019"/>
          </a:xfrm>
          <a:prstGeom prst="rect">
            <a:avLst/>
          </a:prstGeom>
        </p:spPr>
      </p:pic>
      <p:sp>
        <p:nvSpPr>
          <p:cNvPr id="2" name="Title 1"/>
          <p:cNvSpPr>
            <a:spLocks noGrp="1"/>
          </p:cNvSpPr>
          <p:nvPr>
            <p:ph type="ctrTitle"/>
          </p:nvPr>
        </p:nvSpPr>
        <p:spPr>
          <a:xfrm>
            <a:off x="3962399" y="2041565"/>
            <a:ext cx="7197726" cy="2516753"/>
          </a:xfrm>
        </p:spPr>
        <p:txBody>
          <a:bodyPr anchor="b">
            <a:normAutofit/>
          </a:bodyPr>
          <a:lstStyle>
            <a:lvl1pPr algn="r">
              <a:defRPr sz="4800">
                <a:effectLst/>
              </a:defRPr>
            </a:lvl1pPr>
          </a:lstStyle>
          <a:p>
            <a:r>
              <a:rPr lang="en-US"/>
              <a:t>Click to edit Master title style</a:t>
            </a:r>
            <a:endParaRPr lang="en-US" dirty="0"/>
          </a:p>
        </p:txBody>
      </p:sp>
      <p:sp>
        <p:nvSpPr>
          <p:cNvPr id="3" name="Subtitle 2"/>
          <p:cNvSpPr>
            <a:spLocks noGrp="1"/>
          </p:cNvSpPr>
          <p:nvPr>
            <p:ph type="subTitle" idx="1"/>
          </p:nvPr>
        </p:nvSpPr>
        <p:spPr>
          <a:xfrm>
            <a:off x="3962399" y="4558319"/>
            <a:ext cx="7197726" cy="1460775"/>
          </a:xfrm>
        </p:spPr>
        <p:txBody>
          <a:bodyPr anchor="t">
            <a:normAutofit/>
          </a:bodyPr>
          <a:lstStyle>
            <a:lvl1pPr marL="0" indent="0" algn="r">
              <a:buNone/>
              <a:defRPr sz="1800" cap="all">
                <a:solidFill>
                  <a:schemeClr val="tx1"/>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en-US" dirty="0"/>
          </a:p>
        </p:txBody>
      </p:sp>
      <p:sp>
        <p:nvSpPr>
          <p:cNvPr id="4" name="Date Placeholder 3"/>
          <p:cNvSpPr>
            <a:spLocks noGrp="1"/>
          </p:cNvSpPr>
          <p:nvPr>
            <p:ph type="dt" sz="half" idx="10"/>
          </p:nvPr>
        </p:nvSpPr>
        <p:spPr>
          <a:xfrm>
            <a:off x="8932558" y="6101594"/>
            <a:ext cx="1600200" cy="392693"/>
          </a:xfrm>
        </p:spPr>
        <p:txBody>
          <a:bodyPr/>
          <a:lstStyle/>
          <a:p>
            <a:fld id="{D09B4495-4D8F-406E-9C27-812001CF9944}" type="datetime1">
              <a:rPr lang="en-US" smtClean="0"/>
              <a:t>12/22/2025</a:t>
            </a:fld>
            <a:endParaRPr lang="en-US"/>
          </a:p>
        </p:txBody>
      </p:sp>
      <p:sp>
        <p:nvSpPr>
          <p:cNvPr id="5" name="Footer Placeholder 4"/>
          <p:cNvSpPr>
            <a:spLocks noGrp="1"/>
          </p:cNvSpPr>
          <p:nvPr>
            <p:ph type="ftr" sz="quarter" idx="11"/>
          </p:nvPr>
        </p:nvSpPr>
        <p:spPr>
          <a:xfrm>
            <a:off x="3962399" y="6101594"/>
            <a:ext cx="4893958" cy="392693"/>
          </a:xfrm>
        </p:spPr>
        <p:txBody>
          <a:bodyPr/>
          <a:lstStyle/>
          <a:p>
            <a:endParaRPr lang="en-US"/>
          </a:p>
        </p:txBody>
      </p:sp>
      <p:sp>
        <p:nvSpPr>
          <p:cNvPr id="6" name="Slide Number Placeholder 5"/>
          <p:cNvSpPr>
            <a:spLocks noGrp="1"/>
          </p:cNvSpPr>
          <p:nvPr>
            <p:ph type="sldNum" sz="quarter" idx="12"/>
          </p:nvPr>
        </p:nvSpPr>
        <p:spPr>
          <a:xfrm>
            <a:off x="10608959" y="6101594"/>
            <a:ext cx="551167" cy="392693"/>
          </a:xfrm>
        </p:spPr>
        <p:txBody>
          <a:bodyPr/>
          <a:lstStyle/>
          <a:p>
            <a:fld id="{40742BEA-48CF-4F32-AFB8-C9C4AAF5269A}" type="slidenum">
              <a:rPr lang="en-US" smtClean="0"/>
              <a:t>‹#›</a:t>
            </a:fld>
            <a:endParaRPr lang="en-US"/>
          </a:p>
        </p:txBody>
      </p:sp>
    </p:spTree>
    <p:extLst>
      <p:ext uri="{BB962C8B-B14F-4D97-AF65-F5344CB8AC3E}">
        <p14:creationId xmlns:p14="http://schemas.microsoft.com/office/powerpoint/2010/main" val="2111887130"/>
      </p:ext>
    </p:extLst>
  </p:cSld>
  <p:clrMapOvr>
    <a:overrideClrMapping bg1="dk1" tx1="lt1" bg2="dk2" tx2="lt2" accent1="accent1" accent2="accent2" accent3="accent3" accent4="accent4" accent5="accent5" accent6="accent6" hlink="hlink" folHlink="folHlink"/>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pic>
        <p:nvPicPr>
          <p:cNvPr id="7" name="Picture 6" descr="Celestia-R1---OverlayContentH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 y="0"/>
            <a:ext cx="12188825" cy="7126019"/>
          </a:xfrm>
          <a:prstGeom prst="rect">
            <a:avLst/>
          </a:prstGeom>
        </p:spPr>
      </p:pic>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nchor="ct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DF06F12F-02D3-425D-BF4C-BBE4220292D9}" type="datetime1">
              <a:rPr lang="en-US" smtClean="0"/>
              <a:t>12/22/2025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40742BEA-48CF-4F32-AFB8-C9C4AAF5269A}" type="slidenum">
              <a:rPr lang="en-US" smtClean="0"/>
              <a:t>‹#›</a:t>
            </a:fld>
            <a:endParaRPr lang="en-US"/>
          </a:p>
        </p:txBody>
      </p:sp>
    </p:spTree>
    <p:extLst>
      <p:ext uri="{BB962C8B-B14F-4D97-AF65-F5344CB8AC3E}">
        <p14:creationId xmlns:p14="http://schemas.microsoft.com/office/powerpoint/2010/main" val="3796038841"/>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pic>
        <p:nvPicPr>
          <p:cNvPr id="7" name="Picture 6" descr="Celestia-R1---OverlayContentH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 y="0"/>
            <a:ext cx="12188825" cy="7126019"/>
          </a:xfrm>
          <a:prstGeom prst="rect">
            <a:avLst/>
          </a:prstGeom>
        </p:spPr>
      </p:pic>
      <p:sp>
        <p:nvSpPr>
          <p:cNvPr id="2" name="Title 1"/>
          <p:cNvSpPr>
            <a:spLocks noGrp="1"/>
          </p:cNvSpPr>
          <p:nvPr>
            <p:ph type="title"/>
          </p:nvPr>
        </p:nvSpPr>
        <p:spPr>
          <a:xfrm>
            <a:off x="685801" y="3438780"/>
            <a:ext cx="10131427" cy="1526600"/>
          </a:xfrm>
        </p:spPr>
        <p:txBody>
          <a:bodyPr anchor="b"/>
          <a:lstStyle>
            <a:lvl1pPr algn="l">
              <a:defRPr sz="4000" b="0" cap="all"/>
            </a:lvl1pPr>
          </a:lstStyle>
          <a:p>
            <a:r>
              <a:rPr lang="en-US"/>
              <a:t>Click to edit Master title style</a:t>
            </a:r>
            <a:endParaRPr lang="en-US" dirty="0"/>
          </a:p>
        </p:txBody>
      </p:sp>
      <p:sp>
        <p:nvSpPr>
          <p:cNvPr id="3" name="Text Placeholder 2"/>
          <p:cNvSpPr>
            <a:spLocks noGrp="1"/>
          </p:cNvSpPr>
          <p:nvPr>
            <p:ph type="body" idx="1"/>
          </p:nvPr>
        </p:nvSpPr>
        <p:spPr>
          <a:xfrm>
            <a:off x="685799" y="4965380"/>
            <a:ext cx="10131428" cy="894258"/>
          </a:xfrm>
        </p:spPr>
        <p:txBody>
          <a:bodyPr anchor="t">
            <a:normAutofit/>
          </a:bodyPr>
          <a:lstStyle>
            <a:lvl1pPr marL="0" indent="0" algn="l">
              <a:buNone/>
              <a:defRPr sz="2000" cap="all">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1B593107-7F6E-4A89-BE04-95D10BFBC2BF}" type="datetime1">
              <a:rPr lang="en-US" smtClean="0"/>
              <a:t>12/22/2025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40742BEA-48CF-4F32-AFB8-C9C4AAF5269A}" type="slidenum">
              <a:rPr lang="en-US" smtClean="0"/>
              <a:t>‹#›</a:t>
            </a:fld>
            <a:endParaRPr lang="en-US"/>
          </a:p>
        </p:txBody>
      </p:sp>
    </p:spTree>
    <p:extLst>
      <p:ext uri="{BB962C8B-B14F-4D97-AF65-F5344CB8AC3E}">
        <p14:creationId xmlns:p14="http://schemas.microsoft.com/office/powerpoint/2010/main" val="2029750998"/>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pic>
        <p:nvPicPr>
          <p:cNvPr id="8" name="Picture 7" descr="Celestia-R1---OverlayContentH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 y="0"/>
            <a:ext cx="12188825" cy="7126019"/>
          </a:xfrm>
          <a:prstGeom prst="rect">
            <a:avLst/>
          </a:prstGeom>
        </p:spPr>
      </p:pic>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685802" y="2226361"/>
            <a:ext cx="4995334" cy="3792734"/>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5821895" y="2226362"/>
            <a:ext cx="4995332" cy="3792733"/>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B517A39A-0C6B-4C2A-8274-BE1E09B59D00}" type="datetime1">
              <a:rPr lang="en-US" smtClean="0"/>
              <a:t>12/22/2025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40742BEA-48CF-4F32-AFB8-C9C4AAF5269A}" type="slidenum">
              <a:rPr lang="en-US" smtClean="0"/>
              <a:t>‹#›</a:t>
            </a:fld>
            <a:endParaRPr lang="en-US"/>
          </a:p>
        </p:txBody>
      </p:sp>
    </p:spTree>
    <p:extLst>
      <p:ext uri="{BB962C8B-B14F-4D97-AF65-F5344CB8AC3E}">
        <p14:creationId xmlns:p14="http://schemas.microsoft.com/office/powerpoint/2010/main" val="3681358346"/>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endParaRPr lang="en-US" dirty="0"/>
          </a:p>
        </p:txBody>
      </p:sp>
      <p:sp>
        <p:nvSpPr>
          <p:cNvPr id="3" name="Text Placeholder 2"/>
          <p:cNvSpPr>
            <a:spLocks noGrp="1"/>
          </p:cNvSpPr>
          <p:nvPr>
            <p:ph type="body" idx="1"/>
          </p:nvPr>
        </p:nvSpPr>
        <p:spPr>
          <a:xfrm>
            <a:off x="973670" y="2305560"/>
            <a:ext cx="4709054" cy="598939"/>
          </a:xfrm>
        </p:spPr>
        <p:txBody>
          <a:bodyPr anchor="b">
            <a:noAutofit/>
          </a:bodyPr>
          <a:lstStyle>
            <a:lvl1pPr marL="0" indent="0">
              <a:buNone/>
              <a:defRPr sz="28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685802" y="2983149"/>
            <a:ext cx="4996923" cy="3035945"/>
          </a:xfrm>
        </p:spPr>
        <p:txBody>
          <a:bodyPr anchor="t">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096004" y="2314360"/>
            <a:ext cx="4722813" cy="598939"/>
          </a:xfrm>
        </p:spPr>
        <p:txBody>
          <a:bodyPr anchor="b">
            <a:noAutofit/>
          </a:bodyPr>
          <a:lstStyle>
            <a:lvl1pPr marL="0" indent="0">
              <a:buNone/>
              <a:defRPr sz="28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5823483" y="2983149"/>
            <a:ext cx="4995334" cy="3035945"/>
          </a:xfrm>
        </p:spPr>
        <p:txBody>
          <a:bodyPr anchor="t">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77B7C5B9-3785-4B29-8FA3-69AFC67BC9F3}" type="datetime1">
              <a:rPr lang="en-US" smtClean="0"/>
              <a:t>12/22/2025</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40742BEA-48CF-4F32-AFB8-C9C4AAF5269A}" type="slidenum">
              <a:rPr lang="en-US" smtClean="0"/>
              <a:t>‹#›</a:t>
            </a:fld>
            <a:endParaRPr lang="en-US"/>
          </a:p>
        </p:txBody>
      </p:sp>
    </p:spTree>
    <p:extLst>
      <p:ext uri="{BB962C8B-B14F-4D97-AF65-F5344CB8AC3E}">
        <p14:creationId xmlns:p14="http://schemas.microsoft.com/office/powerpoint/2010/main" val="2926227640"/>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pic>
        <p:nvPicPr>
          <p:cNvPr id="6" name="Picture 5" descr="Celestia-R1---OverlayContentH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 y="0"/>
            <a:ext cx="12188825" cy="7126019"/>
          </a:xfrm>
          <a:prstGeom prst="rect">
            <a:avLst/>
          </a:prstGeom>
        </p:spPr>
      </p:pic>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8731A955-E317-441D-A5A4-15A78959E3C2}" type="datetime1">
              <a:rPr lang="en-US" smtClean="0"/>
              <a:t>12/22/2025</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40742BEA-48CF-4F32-AFB8-C9C4AAF5269A}" type="slidenum">
              <a:rPr lang="en-US" smtClean="0"/>
              <a:t>‹#›</a:t>
            </a:fld>
            <a:endParaRPr lang="en-US"/>
          </a:p>
        </p:txBody>
      </p:sp>
    </p:spTree>
    <p:extLst>
      <p:ext uri="{BB962C8B-B14F-4D97-AF65-F5344CB8AC3E}">
        <p14:creationId xmlns:p14="http://schemas.microsoft.com/office/powerpoint/2010/main" val="2633225817"/>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pic>
        <p:nvPicPr>
          <p:cNvPr id="5" name="Picture 4" descr="Celestia-R1---OverlayContentH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 y="0"/>
            <a:ext cx="12188825" cy="7126019"/>
          </a:xfrm>
          <a:prstGeom prst="rect">
            <a:avLst/>
          </a:prstGeom>
        </p:spPr>
      </p:pic>
      <p:sp>
        <p:nvSpPr>
          <p:cNvPr id="2" name="Date Placeholder 1"/>
          <p:cNvSpPr>
            <a:spLocks noGrp="1"/>
          </p:cNvSpPr>
          <p:nvPr>
            <p:ph type="dt" sz="half" idx="10"/>
          </p:nvPr>
        </p:nvSpPr>
        <p:spPr/>
        <p:txBody>
          <a:bodyPr/>
          <a:lstStyle/>
          <a:p>
            <a:fld id="{C520D2E3-9953-43E7-BBC5-D2BA00AC3832}" type="datetime1">
              <a:rPr lang="en-US" smtClean="0"/>
              <a:t>12/22/2025</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40742BEA-48CF-4F32-AFB8-C9C4AAF5269A}" type="slidenum">
              <a:rPr lang="en-US" smtClean="0"/>
              <a:t>‹#›</a:t>
            </a:fld>
            <a:endParaRPr lang="en-US"/>
          </a:p>
        </p:txBody>
      </p:sp>
    </p:spTree>
    <p:extLst>
      <p:ext uri="{BB962C8B-B14F-4D97-AF65-F5344CB8AC3E}">
        <p14:creationId xmlns:p14="http://schemas.microsoft.com/office/powerpoint/2010/main" val="1366301225"/>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pic>
        <p:nvPicPr>
          <p:cNvPr id="8" name="Picture 7" descr="Celestia-R1---OverlayContentH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 y="0"/>
            <a:ext cx="12188825" cy="7126019"/>
          </a:xfrm>
          <a:prstGeom prst="rect">
            <a:avLst/>
          </a:prstGeom>
        </p:spPr>
      </p:pic>
      <p:sp>
        <p:nvSpPr>
          <p:cNvPr id="2" name="Title 1"/>
          <p:cNvSpPr>
            <a:spLocks noGrp="1"/>
          </p:cNvSpPr>
          <p:nvPr>
            <p:ph type="title"/>
          </p:nvPr>
        </p:nvSpPr>
        <p:spPr>
          <a:xfrm>
            <a:off x="685801" y="2155962"/>
            <a:ext cx="3680885" cy="1425575"/>
          </a:xfrm>
        </p:spPr>
        <p:txBody>
          <a:bodyPr anchor="b">
            <a:normAutofit/>
          </a:bodyPr>
          <a:lstStyle>
            <a:lvl1pPr algn="l">
              <a:defRPr sz="2400" b="0"/>
            </a:lvl1pPr>
          </a:lstStyle>
          <a:p>
            <a:r>
              <a:rPr lang="en-US"/>
              <a:t>Click to edit Master title style</a:t>
            </a:r>
            <a:endParaRPr lang="en-US" dirty="0"/>
          </a:p>
        </p:txBody>
      </p:sp>
      <p:sp>
        <p:nvSpPr>
          <p:cNvPr id="3" name="Content Placeholder 2"/>
          <p:cNvSpPr>
            <a:spLocks noGrp="1"/>
          </p:cNvSpPr>
          <p:nvPr>
            <p:ph idx="1"/>
          </p:nvPr>
        </p:nvSpPr>
        <p:spPr>
          <a:xfrm>
            <a:off x="4648201" y="633590"/>
            <a:ext cx="6169026" cy="5385506"/>
          </a:xfrm>
        </p:spPr>
        <p:txBody>
          <a:bodyPr anchor="ct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685801" y="3581537"/>
            <a:ext cx="3680885" cy="1900767"/>
          </a:xfrm>
        </p:spPr>
        <p:txBody>
          <a:bodyPr anchor="t">
            <a:normAutofit/>
          </a:bodyPr>
          <a:lstStyle>
            <a:lvl1pPr marL="0" indent="0">
              <a:buNone/>
              <a:defRPr sz="16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094E8338-C7DE-4EBF-82EA-5C9CE1816E66}" type="datetime1">
              <a:rPr lang="en-US" smtClean="0"/>
              <a:t>12/22/2025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40742BEA-48CF-4F32-AFB8-C9C4AAF5269A}" type="slidenum">
              <a:rPr lang="en-US" smtClean="0"/>
              <a:t>‹#›</a:t>
            </a:fld>
            <a:endParaRPr lang="en-US"/>
          </a:p>
        </p:txBody>
      </p:sp>
    </p:spTree>
    <p:extLst>
      <p:ext uri="{BB962C8B-B14F-4D97-AF65-F5344CB8AC3E}">
        <p14:creationId xmlns:p14="http://schemas.microsoft.com/office/powerpoint/2010/main" val="75916547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pic>
        <p:nvPicPr>
          <p:cNvPr id="8" name="Picture 7" descr="Celestia-R1---OverlayContentH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 y="0"/>
            <a:ext cx="12188825" cy="7126019"/>
          </a:xfrm>
          <a:prstGeom prst="rect">
            <a:avLst/>
          </a:prstGeom>
        </p:spPr>
      </p:pic>
      <p:sp>
        <p:nvSpPr>
          <p:cNvPr id="2" name="Title 1"/>
          <p:cNvSpPr>
            <a:spLocks noGrp="1"/>
          </p:cNvSpPr>
          <p:nvPr>
            <p:ph type="title"/>
          </p:nvPr>
        </p:nvSpPr>
        <p:spPr>
          <a:xfrm>
            <a:off x="685801" y="1663171"/>
            <a:ext cx="6164653" cy="1425575"/>
          </a:xfrm>
        </p:spPr>
        <p:txBody>
          <a:bodyPr anchor="b">
            <a:normAutofit/>
          </a:bodyPr>
          <a:lstStyle>
            <a:lvl1pPr algn="l">
              <a:defRPr sz="2800" b="0"/>
            </a:lvl1pPr>
          </a:lstStyle>
          <a:p>
            <a:r>
              <a:rPr lang="en-US"/>
              <a:t>Click to edit Master title style</a:t>
            </a:r>
            <a:endParaRPr lang="en-US" dirty="0"/>
          </a:p>
        </p:txBody>
      </p:sp>
      <p:sp>
        <p:nvSpPr>
          <p:cNvPr id="14" name="Picture Placeholder 2"/>
          <p:cNvSpPr>
            <a:spLocks noGrp="1" noChangeAspect="1"/>
          </p:cNvSpPr>
          <p:nvPr>
            <p:ph type="pic" idx="1"/>
          </p:nvPr>
        </p:nvSpPr>
        <p:spPr>
          <a:xfrm>
            <a:off x="7536253" y="950383"/>
            <a:ext cx="3280974" cy="4751917"/>
          </a:xfrm>
          <a:prstGeom prst="roundRect">
            <a:avLst>
              <a:gd name="adj" fmla="val 4280"/>
            </a:avLst>
          </a:prstGeom>
          <a:ln w="50800" cap="sq" cmpd="dbl">
            <a:gradFill flip="none" rotWithShape="1">
              <a:gsLst>
                <a:gs pos="0">
                  <a:srgbClr val="FFFFFF"/>
                </a:gs>
                <a:gs pos="100000">
                  <a:schemeClr val="tx1">
                    <a:alpha val="0"/>
                  </a:schemeClr>
                </a:gs>
              </a:gsLst>
              <a:path path="circle">
                <a:fillToRect l="50000" t="50000" r="50000" b="50000"/>
              </a:path>
              <a:tileRect/>
            </a:gradFill>
            <a:miter lim="800000"/>
          </a:ln>
          <a:effectLst>
            <a:outerShdw blurRad="254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4" name="Text Placeholder 3"/>
          <p:cNvSpPr>
            <a:spLocks noGrp="1"/>
          </p:cNvSpPr>
          <p:nvPr>
            <p:ph type="body" sz="half" idx="2"/>
          </p:nvPr>
        </p:nvSpPr>
        <p:spPr>
          <a:xfrm>
            <a:off x="685801" y="3088746"/>
            <a:ext cx="6164653" cy="1900767"/>
          </a:xfrm>
        </p:spPr>
        <p:txBody>
          <a:bodyPr anchor="t">
            <a:normAutofit/>
          </a:bodyPr>
          <a:lstStyle>
            <a:lvl1pPr marL="0" indent="0">
              <a:buNone/>
              <a:defRPr sz="18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BB2ECF29-7B73-4BF4-84D8-D704C0026CCD}" type="datetime1">
              <a:rPr lang="en-US" smtClean="0"/>
              <a:t>12/22/2025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40742BEA-48CF-4F32-AFB8-C9C4AAF5269A}" type="slidenum">
              <a:rPr lang="en-US" smtClean="0"/>
              <a:t>‹#›</a:t>
            </a:fld>
            <a:endParaRPr lang="en-US"/>
          </a:p>
        </p:txBody>
      </p:sp>
    </p:spTree>
    <p:extLst>
      <p:ext uri="{BB962C8B-B14F-4D97-AF65-F5344CB8AC3E}">
        <p14:creationId xmlns:p14="http://schemas.microsoft.com/office/powerpoint/2010/main" val="1312135997"/>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Panoramic Picture with Caption">
    <p:spTree>
      <p:nvGrpSpPr>
        <p:cNvPr id="1" name=""/>
        <p:cNvGrpSpPr/>
        <p:nvPr/>
      </p:nvGrpSpPr>
      <p:grpSpPr>
        <a:xfrm>
          <a:off x="0" y="0"/>
          <a:ext cx="0" cy="0"/>
          <a:chOff x="0" y="0"/>
          <a:chExt cx="0" cy="0"/>
        </a:xfrm>
      </p:grpSpPr>
      <p:pic>
        <p:nvPicPr>
          <p:cNvPr id="8" name="Picture 7" descr="Celestia-R1---OverlayContentH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 y="0"/>
            <a:ext cx="12188825" cy="7126019"/>
          </a:xfrm>
          <a:prstGeom prst="rect">
            <a:avLst/>
          </a:prstGeom>
        </p:spPr>
      </p:pic>
      <p:sp>
        <p:nvSpPr>
          <p:cNvPr id="2" name="Title 1"/>
          <p:cNvSpPr>
            <a:spLocks noGrp="1"/>
          </p:cNvSpPr>
          <p:nvPr>
            <p:ph type="title"/>
          </p:nvPr>
        </p:nvSpPr>
        <p:spPr>
          <a:xfrm>
            <a:off x="685801" y="4919112"/>
            <a:ext cx="10131427" cy="589040"/>
          </a:xfrm>
        </p:spPr>
        <p:txBody>
          <a:bodyPr anchor="b">
            <a:normAutofit/>
          </a:bodyPr>
          <a:lstStyle>
            <a:lvl1pPr algn="l">
              <a:defRPr sz="2400" b="0"/>
            </a:lvl1pPr>
          </a:lstStyle>
          <a:p>
            <a:r>
              <a:rPr lang="en-US"/>
              <a:t>Click to edit Master title style</a:t>
            </a:r>
            <a:endParaRPr lang="en-US" dirty="0"/>
          </a:p>
        </p:txBody>
      </p:sp>
      <p:sp>
        <p:nvSpPr>
          <p:cNvPr id="3" name="Picture Placeholder 2"/>
          <p:cNvSpPr>
            <a:spLocks noGrp="1" noChangeAspect="1"/>
          </p:cNvSpPr>
          <p:nvPr>
            <p:ph type="pic" idx="1"/>
          </p:nvPr>
        </p:nvSpPr>
        <p:spPr>
          <a:xfrm>
            <a:off x="1371601" y="968792"/>
            <a:ext cx="8759827" cy="3289524"/>
          </a:xfrm>
          <a:prstGeom prst="roundRect">
            <a:avLst>
              <a:gd name="adj" fmla="val 4380"/>
            </a:avLst>
          </a:prstGeom>
          <a:ln w="50800" cap="sq" cmpd="dbl">
            <a:gradFill flip="none" rotWithShape="1">
              <a:gsLst>
                <a:gs pos="0">
                  <a:srgbClr val="FFFFFF"/>
                </a:gs>
                <a:gs pos="100000">
                  <a:schemeClr val="tx1">
                    <a:alpha val="0"/>
                  </a:schemeClr>
                </a:gs>
              </a:gsLst>
              <a:path path="circle">
                <a:fillToRect l="50000" t="50000" r="50000" b="50000"/>
              </a:path>
              <a:tileRect/>
            </a:gradFill>
            <a:miter lim="800000"/>
          </a:ln>
          <a:effectLst>
            <a:outerShdw blurRad="254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4" name="Text Placeholder 3"/>
          <p:cNvSpPr>
            <a:spLocks noGrp="1"/>
          </p:cNvSpPr>
          <p:nvPr>
            <p:ph type="body" sz="half" idx="2"/>
          </p:nvPr>
        </p:nvSpPr>
        <p:spPr>
          <a:xfrm>
            <a:off x="685801" y="5508152"/>
            <a:ext cx="10131427" cy="513140"/>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6CB78589-F78D-4BD4-9EFD-2C9AAA4B757B}" type="datetime1">
              <a:rPr lang="en-US" smtClean="0"/>
              <a:t>12/22/2025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40742BEA-48CF-4F32-AFB8-C9C4AAF5269A}" type="slidenum">
              <a:rPr lang="en-US" smtClean="0"/>
              <a:t>‹#›</a:t>
            </a:fld>
            <a:endParaRPr lang="en-US"/>
          </a:p>
        </p:txBody>
      </p:sp>
    </p:spTree>
    <p:extLst>
      <p:ext uri="{BB962C8B-B14F-4D97-AF65-F5344CB8AC3E}">
        <p14:creationId xmlns:p14="http://schemas.microsoft.com/office/powerpoint/2010/main" val="2237818145"/>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Title and Caption">
    <p:spTree>
      <p:nvGrpSpPr>
        <p:cNvPr id="1" name=""/>
        <p:cNvGrpSpPr/>
        <p:nvPr/>
      </p:nvGrpSpPr>
      <p:grpSpPr>
        <a:xfrm>
          <a:off x="0" y="0"/>
          <a:ext cx="0" cy="0"/>
          <a:chOff x="0" y="0"/>
          <a:chExt cx="0" cy="0"/>
        </a:xfrm>
      </p:grpSpPr>
      <p:pic>
        <p:nvPicPr>
          <p:cNvPr id="7" name="Picture 6" descr="Celestia-R1---OverlayContentH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 y="0"/>
            <a:ext cx="12188825" cy="7126019"/>
          </a:xfrm>
          <a:prstGeom prst="rect">
            <a:avLst/>
          </a:prstGeom>
        </p:spPr>
      </p:pic>
      <p:sp>
        <p:nvSpPr>
          <p:cNvPr id="2" name="Title 1"/>
          <p:cNvSpPr>
            <a:spLocks noGrp="1"/>
          </p:cNvSpPr>
          <p:nvPr>
            <p:ph type="title"/>
          </p:nvPr>
        </p:nvSpPr>
        <p:spPr>
          <a:xfrm>
            <a:off x="685802" y="633590"/>
            <a:ext cx="10131427" cy="3247142"/>
          </a:xfrm>
        </p:spPr>
        <p:txBody>
          <a:bodyPr anchor="ctr">
            <a:normAutofit/>
          </a:bodyPr>
          <a:lstStyle>
            <a:lvl1pPr algn="l">
              <a:defRPr sz="3200" b="0" cap="none"/>
            </a:lvl1pPr>
          </a:lstStyle>
          <a:p>
            <a:r>
              <a:rPr lang="en-US"/>
              <a:t>Click to edit Master title style</a:t>
            </a:r>
            <a:endParaRPr lang="en-US" dirty="0"/>
          </a:p>
        </p:txBody>
      </p:sp>
      <p:sp>
        <p:nvSpPr>
          <p:cNvPr id="3" name="Text Placeholder 2"/>
          <p:cNvSpPr>
            <a:spLocks noGrp="1"/>
          </p:cNvSpPr>
          <p:nvPr>
            <p:ph type="body" idx="1"/>
          </p:nvPr>
        </p:nvSpPr>
        <p:spPr>
          <a:xfrm>
            <a:off x="685800" y="4514321"/>
            <a:ext cx="10131428" cy="1504774"/>
          </a:xfrm>
        </p:spPr>
        <p:txBody>
          <a:bodyPr anchor="ctr">
            <a:normAutofit/>
          </a:bodyPr>
          <a:lstStyle>
            <a:lvl1pPr marL="0" indent="0" algn="l">
              <a:buNone/>
              <a:defRPr sz="20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3EFB1D02-7768-4AEE-87E3-B0823B5341B8}" type="datetime1">
              <a:rPr lang="en-US" smtClean="0"/>
              <a:t>12/22/2025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40742BEA-48CF-4F32-AFB8-C9C4AAF5269A}" type="slidenum">
              <a:rPr lang="en-US" smtClean="0"/>
              <a:t>‹#›</a:t>
            </a:fld>
            <a:endParaRPr lang="en-US"/>
          </a:p>
        </p:txBody>
      </p:sp>
    </p:spTree>
    <p:extLst>
      <p:ext uri="{BB962C8B-B14F-4D97-AF65-F5344CB8AC3E}">
        <p14:creationId xmlns:p14="http://schemas.microsoft.com/office/powerpoint/2010/main" val="1381341719"/>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Quote with Caption">
    <p:spTree>
      <p:nvGrpSpPr>
        <p:cNvPr id="1" name=""/>
        <p:cNvGrpSpPr/>
        <p:nvPr/>
      </p:nvGrpSpPr>
      <p:grpSpPr>
        <a:xfrm>
          <a:off x="0" y="0"/>
          <a:ext cx="0" cy="0"/>
          <a:chOff x="0" y="0"/>
          <a:chExt cx="0" cy="0"/>
        </a:xfrm>
      </p:grpSpPr>
      <p:pic>
        <p:nvPicPr>
          <p:cNvPr id="16" name="Picture 15" descr="Celestia-R1---OverlayContentH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 y="0"/>
            <a:ext cx="12188825" cy="7126019"/>
          </a:xfrm>
          <a:prstGeom prst="rect">
            <a:avLst/>
          </a:prstGeom>
        </p:spPr>
      </p:pic>
      <p:sp>
        <p:nvSpPr>
          <p:cNvPr id="15" name="TextBox 14"/>
          <p:cNvSpPr txBox="1"/>
          <p:nvPr/>
        </p:nvSpPr>
        <p:spPr>
          <a:xfrm>
            <a:off x="10237867" y="2851150"/>
            <a:ext cx="609600" cy="607788"/>
          </a:xfrm>
          <a:prstGeom prst="rect">
            <a:avLst/>
          </a:prstGeom>
        </p:spPr>
        <p:txBody>
          <a:bodyPr vert="horz" lIns="91440" tIns="45720" rIns="91440" bIns="4572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lgn="r"/>
            <a:r>
              <a:rPr lang="en-US" sz="8000" dirty="0">
                <a:solidFill>
                  <a:schemeClr val="tx1"/>
                </a:solidFill>
                <a:effectLst/>
              </a:rPr>
              <a:t>”</a:t>
            </a:r>
          </a:p>
        </p:txBody>
      </p:sp>
      <p:sp>
        <p:nvSpPr>
          <p:cNvPr id="11" name="TextBox 10"/>
          <p:cNvSpPr txBox="1"/>
          <p:nvPr/>
        </p:nvSpPr>
        <p:spPr>
          <a:xfrm>
            <a:off x="488275" y="855737"/>
            <a:ext cx="609600" cy="607788"/>
          </a:xfrm>
          <a:prstGeom prst="rect">
            <a:avLst/>
          </a:prstGeom>
        </p:spPr>
        <p:txBody>
          <a:bodyPr vert="horz" lIns="91440" tIns="45720" rIns="91440" bIns="4572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lgn="r"/>
            <a:r>
              <a:rPr lang="en-US" sz="8000" dirty="0">
                <a:solidFill>
                  <a:schemeClr val="tx1"/>
                </a:solidFill>
                <a:effectLst/>
              </a:rPr>
              <a:t>“</a:t>
            </a:r>
          </a:p>
        </p:txBody>
      </p:sp>
      <p:sp>
        <p:nvSpPr>
          <p:cNvPr id="2" name="Title 1"/>
          <p:cNvSpPr>
            <a:spLocks noGrp="1"/>
          </p:cNvSpPr>
          <p:nvPr>
            <p:ph type="title"/>
          </p:nvPr>
        </p:nvSpPr>
        <p:spPr>
          <a:xfrm>
            <a:off x="992268" y="633590"/>
            <a:ext cx="9550399" cy="2851149"/>
          </a:xfrm>
        </p:spPr>
        <p:txBody>
          <a:bodyPr anchor="ctr">
            <a:normAutofit/>
          </a:bodyPr>
          <a:lstStyle>
            <a:lvl1pPr algn="l">
              <a:defRPr sz="3200" b="0" cap="none">
                <a:solidFill>
                  <a:schemeClr val="tx1"/>
                </a:solidFill>
              </a:defRPr>
            </a:lvl1pPr>
          </a:lstStyle>
          <a:p>
            <a:r>
              <a:rPr lang="en-US"/>
              <a:t>Click to edit Master title style</a:t>
            </a:r>
            <a:endParaRPr lang="en-US" dirty="0"/>
          </a:p>
        </p:txBody>
      </p:sp>
      <p:sp>
        <p:nvSpPr>
          <p:cNvPr id="10" name="Text Placeholder 9"/>
          <p:cNvSpPr>
            <a:spLocks noGrp="1"/>
          </p:cNvSpPr>
          <p:nvPr>
            <p:ph type="body" sz="quarter" idx="13"/>
          </p:nvPr>
        </p:nvSpPr>
        <p:spPr>
          <a:xfrm>
            <a:off x="1097875" y="3484739"/>
            <a:ext cx="9339184" cy="395993"/>
          </a:xfrm>
        </p:spPr>
        <p:txBody>
          <a:bodyPr anchor="ctr"/>
          <a:lstStyle>
            <a:lvl1pPr marL="0" indent="0">
              <a:buFontTx/>
              <a:buNone/>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3" name="Text Placeholder 2"/>
          <p:cNvSpPr>
            <a:spLocks noGrp="1"/>
          </p:cNvSpPr>
          <p:nvPr>
            <p:ph type="body" idx="1"/>
          </p:nvPr>
        </p:nvSpPr>
        <p:spPr>
          <a:xfrm>
            <a:off x="687466" y="4514321"/>
            <a:ext cx="10152367" cy="1504774"/>
          </a:xfrm>
        </p:spPr>
        <p:txBody>
          <a:bodyPr anchor="ctr">
            <a:normAutofit/>
          </a:bodyPr>
          <a:lstStyle>
            <a:lvl1pPr marL="0" indent="0" algn="l">
              <a:buNone/>
              <a:defRPr sz="20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22DBECBC-573C-41F0-BA39-8532080ADA72}" type="datetime1">
              <a:rPr lang="en-US" smtClean="0"/>
              <a:t>12/22/2025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40742BEA-48CF-4F32-AFB8-C9C4AAF5269A}" type="slidenum">
              <a:rPr lang="en-US" smtClean="0"/>
              <a:t>‹#›</a:t>
            </a:fld>
            <a:endParaRPr lang="en-US"/>
          </a:p>
        </p:txBody>
      </p:sp>
    </p:spTree>
    <p:extLst>
      <p:ext uri="{BB962C8B-B14F-4D97-AF65-F5344CB8AC3E}">
        <p14:creationId xmlns:p14="http://schemas.microsoft.com/office/powerpoint/2010/main" val="2586674114"/>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Name Card">
    <p:spTree>
      <p:nvGrpSpPr>
        <p:cNvPr id="1" name=""/>
        <p:cNvGrpSpPr/>
        <p:nvPr/>
      </p:nvGrpSpPr>
      <p:grpSpPr>
        <a:xfrm>
          <a:off x="0" y="0"/>
          <a:ext cx="0" cy="0"/>
          <a:chOff x="0" y="0"/>
          <a:chExt cx="0" cy="0"/>
        </a:xfrm>
      </p:grpSpPr>
      <p:pic>
        <p:nvPicPr>
          <p:cNvPr id="8" name="Picture 7" descr="Celestia-R1---OverlayContentH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 y="0"/>
            <a:ext cx="12188825" cy="7126019"/>
          </a:xfrm>
          <a:prstGeom prst="rect">
            <a:avLst/>
          </a:prstGeom>
        </p:spPr>
      </p:pic>
      <p:sp>
        <p:nvSpPr>
          <p:cNvPr id="2" name="Title 1"/>
          <p:cNvSpPr>
            <a:spLocks noGrp="1"/>
          </p:cNvSpPr>
          <p:nvPr>
            <p:ph type="title"/>
          </p:nvPr>
        </p:nvSpPr>
        <p:spPr>
          <a:xfrm>
            <a:off x="685803" y="3438780"/>
            <a:ext cx="10131425" cy="1526600"/>
          </a:xfrm>
        </p:spPr>
        <p:txBody>
          <a:bodyPr anchor="b">
            <a:normAutofit/>
          </a:bodyPr>
          <a:lstStyle>
            <a:lvl1pPr algn="l">
              <a:defRPr sz="3200" b="0" cap="none"/>
            </a:lvl1pPr>
          </a:lstStyle>
          <a:p>
            <a:r>
              <a:rPr lang="en-US"/>
              <a:t>Click to edit Master title style</a:t>
            </a:r>
            <a:endParaRPr lang="en-US" dirty="0"/>
          </a:p>
        </p:txBody>
      </p:sp>
      <p:sp>
        <p:nvSpPr>
          <p:cNvPr id="3" name="Text Placeholder 2"/>
          <p:cNvSpPr>
            <a:spLocks noGrp="1"/>
          </p:cNvSpPr>
          <p:nvPr>
            <p:ph type="body" idx="1"/>
          </p:nvPr>
        </p:nvSpPr>
        <p:spPr>
          <a:xfrm>
            <a:off x="685801" y="4965380"/>
            <a:ext cx="10131426" cy="894258"/>
          </a:xfrm>
        </p:spPr>
        <p:txBody>
          <a:bodyPr anchor="t">
            <a:normAutofit/>
          </a:bodyPr>
          <a:lstStyle>
            <a:lvl1pPr marL="0" indent="0" algn="l">
              <a:buNone/>
              <a:defRPr sz="20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2450D04E-2462-4770-88A0-A6CC357F3496}" type="datetime1">
              <a:rPr lang="en-US" smtClean="0"/>
              <a:t>12/22/2025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40742BEA-48CF-4F32-AFB8-C9C4AAF5269A}" type="slidenum">
              <a:rPr lang="en-US" smtClean="0"/>
              <a:t>‹#›</a:t>
            </a:fld>
            <a:endParaRPr lang="en-US"/>
          </a:p>
        </p:txBody>
      </p:sp>
    </p:spTree>
    <p:extLst>
      <p:ext uri="{BB962C8B-B14F-4D97-AF65-F5344CB8AC3E}">
        <p14:creationId xmlns:p14="http://schemas.microsoft.com/office/powerpoint/2010/main" val="3209030014"/>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Quote Name Card">
    <p:spTree>
      <p:nvGrpSpPr>
        <p:cNvPr id="1" name=""/>
        <p:cNvGrpSpPr/>
        <p:nvPr/>
      </p:nvGrpSpPr>
      <p:grpSpPr>
        <a:xfrm>
          <a:off x="0" y="0"/>
          <a:ext cx="0" cy="0"/>
          <a:chOff x="0" y="0"/>
          <a:chExt cx="0" cy="0"/>
        </a:xfrm>
      </p:grpSpPr>
      <p:pic>
        <p:nvPicPr>
          <p:cNvPr id="11" name="Picture 10" descr="Celestia-R1---OverlayContentH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 y="0"/>
            <a:ext cx="12188825" cy="7126019"/>
          </a:xfrm>
          <a:prstGeom prst="rect">
            <a:avLst/>
          </a:prstGeom>
        </p:spPr>
      </p:pic>
      <p:sp>
        <p:nvSpPr>
          <p:cNvPr id="13" name="TextBox 12"/>
          <p:cNvSpPr txBox="1"/>
          <p:nvPr/>
        </p:nvSpPr>
        <p:spPr>
          <a:xfrm>
            <a:off x="10237867" y="2851150"/>
            <a:ext cx="609600" cy="607788"/>
          </a:xfrm>
          <a:prstGeom prst="rect">
            <a:avLst/>
          </a:prstGeom>
        </p:spPr>
        <p:txBody>
          <a:bodyPr vert="horz" lIns="91440" tIns="45720" rIns="91440" bIns="4572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lgn="r"/>
            <a:r>
              <a:rPr lang="en-US" sz="8000" dirty="0">
                <a:solidFill>
                  <a:schemeClr val="tx1"/>
                </a:solidFill>
                <a:effectLst/>
              </a:rPr>
              <a:t>”</a:t>
            </a:r>
          </a:p>
        </p:txBody>
      </p:sp>
      <p:sp>
        <p:nvSpPr>
          <p:cNvPr id="14" name="TextBox 13"/>
          <p:cNvSpPr txBox="1"/>
          <p:nvPr/>
        </p:nvSpPr>
        <p:spPr>
          <a:xfrm>
            <a:off x="488275" y="855737"/>
            <a:ext cx="609600" cy="607788"/>
          </a:xfrm>
          <a:prstGeom prst="rect">
            <a:avLst/>
          </a:prstGeom>
        </p:spPr>
        <p:txBody>
          <a:bodyPr vert="horz" lIns="91440" tIns="45720" rIns="91440" bIns="4572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lgn="r"/>
            <a:r>
              <a:rPr lang="en-US" sz="8000" dirty="0">
                <a:solidFill>
                  <a:schemeClr val="tx1"/>
                </a:solidFill>
                <a:effectLst/>
              </a:rPr>
              <a:t>“</a:t>
            </a:r>
          </a:p>
        </p:txBody>
      </p:sp>
      <p:sp>
        <p:nvSpPr>
          <p:cNvPr id="16" name="Title 1"/>
          <p:cNvSpPr>
            <a:spLocks noGrp="1"/>
          </p:cNvSpPr>
          <p:nvPr>
            <p:ph type="title"/>
          </p:nvPr>
        </p:nvSpPr>
        <p:spPr>
          <a:xfrm>
            <a:off x="992268" y="633590"/>
            <a:ext cx="9550399" cy="2851149"/>
          </a:xfrm>
        </p:spPr>
        <p:txBody>
          <a:bodyPr anchor="ctr">
            <a:normAutofit/>
          </a:bodyPr>
          <a:lstStyle>
            <a:lvl1pPr algn="l">
              <a:defRPr sz="3200" b="0" cap="none">
                <a:solidFill>
                  <a:schemeClr val="tx1"/>
                </a:solidFill>
              </a:defRPr>
            </a:lvl1pPr>
          </a:lstStyle>
          <a:p>
            <a:r>
              <a:rPr lang="en-US"/>
              <a:t>Click to edit Master title style</a:t>
            </a:r>
            <a:endParaRPr lang="en-US" dirty="0"/>
          </a:p>
        </p:txBody>
      </p:sp>
      <p:sp>
        <p:nvSpPr>
          <p:cNvPr id="10" name="Text Placeholder 9"/>
          <p:cNvSpPr>
            <a:spLocks noGrp="1"/>
          </p:cNvSpPr>
          <p:nvPr>
            <p:ph type="body" sz="quarter" idx="13"/>
          </p:nvPr>
        </p:nvSpPr>
        <p:spPr>
          <a:xfrm>
            <a:off x="685800" y="4039129"/>
            <a:ext cx="10135436" cy="923984"/>
          </a:xfrm>
        </p:spPr>
        <p:txBody>
          <a:bodyPr vert="horz" lIns="91440" tIns="45720" rIns="91440" bIns="45720" rtlCol="0" anchor="b">
            <a:normAutofit/>
          </a:bodyPr>
          <a:lstStyle>
            <a:lvl1pPr>
              <a:buNone/>
              <a:defRPr lang="en-US" sz="2400" b="0" cap="none" dirty="0">
                <a:ln w="3175" cmpd="sng">
                  <a:noFill/>
                </a:ln>
                <a:solidFill>
                  <a:schemeClr val="tx1"/>
                </a:solidFill>
                <a:effectLst/>
              </a:defRPr>
            </a:lvl1pPr>
          </a:lstStyle>
          <a:p>
            <a:pPr marL="0" lvl="0">
              <a:spcBef>
                <a:spcPct val="0"/>
              </a:spcBef>
              <a:buNone/>
            </a:pPr>
            <a:r>
              <a:rPr lang="en-US"/>
              <a:t>Click to edit Master text styles</a:t>
            </a:r>
          </a:p>
        </p:txBody>
      </p:sp>
      <p:sp>
        <p:nvSpPr>
          <p:cNvPr id="3" name="Text Placeholder 2"/>
          <p:cNvSpPr>
            <a:spLocks noGrp="1"/>
          </p:cNvSpPr>
          <p:nvPr>
            <p:ph type="body" idx="1"/>
          </p:nvPr>
        </p:nvSpPr>
        <p:spPr>
          <a:xfrm>
            <a:off x="685799" y="4963113"/>
            <a:ext cx="10135436" cy="1055981"/>
          </a:xfrm>
        </p:spPr>
        <p:txBody>
          <a:bodyPr anchor="t">
            <a:normAutofit/>
          </a:bodyPr>
          <a:lstStyle>
            <a:lvl1pPr marL="0" indent="0" algn="l">
              <a:buNone/>
              <a:defRPr sz="18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C50BBEF4-E26F-4D97-B435-2FD7B6791A89}" type="datetime1">
              <a:rPr lang="en-US" smtClean="0"/>
              <a:t>12/22/2025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40742BEA-48CF-4F32-AFB8-C9C4AAF5269A}" type="slidenum">
              <a:rPr lang="en-US" smtClean="0"/>
              <a:t>‹#›</a:t>
            </a:fld>
            <a:endParaRPr lang="en-US"/>
          </a:p>
        </p:txBody>
      </p:sp>
    </p:spTree>
    <p:extLst>
      <p:ext uri="{BB962C8B-B14F-4D97-AF65-F5344CB8AC3E}">
        <p14:creationId xmlns:p14="http://schemas.microsoft.com/office/powerpoint/2010/main" val="3757210084"/>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True or False">
    <p:spTree>
      <p:nvGrpSpPr>
        <p:cNvPr id="1" name=""/>
        <p:cNvGrpSpPr/>
        <p:nvPr/>
      </p:nvGrpSpPr>
      <p:grpSpPr>
        <a:xfrm>
          <a:off x="0" y="0"/>
          <a:ext cx="0" cy="0"/>
          <a:chOff x="0" y="0"/>
          <a:chExt cx="0" cy="0"/>
        </a:xfrm>
      </p:grpSpPr>
      <p:pic>
        <p:nvPicPr>
          <p:cNvPr id="8" name="Picture 7" descr="Celestia-R1---OverlayContentH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 y="0"/>
            <a:ext cx="12188825" cy="7126019"/>
          </a:xfrm>
          <a:prstGeom prst="rect">
            <a:avLst/>
          </a:prstGeom>
        </p:spPr>
      </p:pic>
      <p:sp>
        <p:nvSpPr>
          <p:cNvPr id="2" name="Title 1"/>
          <p:cNvSpPr>
            <a:spLocks noGrp="1"/>
          </p:cNvSpPr>
          <p:nvPr>
            <p:ph type="title"/>
          </p:nvPr>
        </p:nvSpPr>
        <p:spPr>
          <a:xfrm>
            <a:off x="685802" y="633590"/>
            <a:ext cx="10131427" cy="2851149"/>
          </a:xfrm>
        </p:spPr>
        <p:txBody>
          <a:bodyPr vert="horz" lIns="91440" tIns="45720" rIns="91440" bIns="45720" rtlCol="0" anchor="ctr">
            <a:normAutofit/>
          </a:bodyPr>
          <a:lstStyle>
            <a:lvl1pPr>
              <a:defRPr lang="en-US" b="0" dirty="0"/>
            </a:lvl1pPr>
          </a:lstStyle>
          <a:p>
            <a:pPr marL="0" lvl="0"/>
            <a:r>
              <a:rPr lang="en-US"/>
              <a:t>Click to edit Master title style</a:t>
            </a:r>
            <a:endParaRPr lang="en-US" dirty="0"/>
          </a:p>
        </p:txBody>
      </p:sp>
      <p:sp>
        <p:nvSpPr>
          <p:cNvPr id="10" name="Text Placeholder 9"/>
          <p:cNvSpPr>
            <a:spLocks noGrp="1"/>
          </p:cNvSpPr>
          <p:nvPr>
            <p:ph type="body" sz="quarter" idx="13"/>
          </p:nvPr>
        </p:nvSpPr>
        <p:spPr>
          <a:xfrm>
            <a:off x="685801" y="3643136"/>
            <a:ext cx="10131428" cy="871185"/>
          </a:xfrm>
        </p:spPr>
        <p:txBody>
          <a:bodyPr vert="horz" lIns="91440" tIns="45720" rIns="91440" bIns="45720" rtlCol="0" anchor="b">
            <a:normAutofit/>
          </a:bodyPr>
          <a:lstStyle>
            <a:lvl1pPr>
              <a:buNone/>
              <a:defRPr lang="en-US" sz="2800" b="0" cap="none" dirty="0">
                <a:ln w="3175" cmpd="sng">
                  <a:noFill/>
                </a:ln>
                <a:solidFill>
                  <a:schemeClr val="tx1"/>
                </a:solidFill>
                <a:effectLst/>
              </a:defRPr>
            </a:lvl1pPr>
          </a:lstStyle>
          <a:p>
            <a:pPr marL="0" lvl="0">
              <a:spcBef>
                <a:spcPct val="0"/>
              </a:spcBef>
              <a:buNone/>
            </a:pPr>
            <a:r>
              <a:rPr lang="en-US"/>
              <a:t>Click to edit Master text styles</a:t>
            </a:r>
          </a:p>
        </p:txBody>
      </p:sp>
      <p:sp>
        <p:nvSpPr>
          <p:cNvPr id="3" name="Text Placeholder 2"/>
          <p:cNvSpPr>
            <a:spLocks noGrp="1"/>
          </p:cNvSpPr>
          <p:nvPr>
            <p:ph type="body" idx="1"/>
          </p:nvPr>
        </p:nvSpPr>
        <p:spPr>
          <a:xfrm>
            <a:off x="685800" y="4514321"/>
            <a:ext cx="10131428" cy="1504774"/>
          </a:xfrm>
        </p:spPr>
        <p:txBody>
          <a:bodyPr anchor="t">
            <a:normAutofit/>
          </a:bodyPr>
          <a:lstStyle>
            <a:lvl1pPr marL="0" indent="0" algn="l">
              <a:buNone/>
              <a:defRPr sz="18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899F201C-AA26-4A76-8977-360EFA1A681F}" type="datetime1">
              <a:rPr lang="en-US" smtClean="0"/>
              <a:t>12/22/2025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40742BEA-48CF-4F32-AFB8-C9C4AAF5269A}" type="slidenum">
              <a:rPr lang="en-US" smtClean="0"/>
              <a:t>‹#›</a:t>
            </a:fld>
            <a:endParaRPr lang="en-US"/>
          </a:p>
        </p:txBody>
      </p:sp>
    </p:spTree>
    <p:extLst>
      <p:ext uri="{BB962C8B-B14F-4D97-AF65-F5344CB8AC3E}">
        <p14:creationId xmlns:p14="http://schemas.microsoft.com/office/powerpoint/2010/main" val="2183402028"/>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pic>
        <p:nvPicPr>
          <p:cNvPr id="7" name="Picture 6" descr="Celestia-R1---OverlayContentH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 y="0"/>
            <a:ext cx="12188825" cy="7126019"/>
          </a:xfrm>
          <a:prstGeom prst="rect">
            <a:avLst/>
          </a:prstGeom>
        </p:spPr>
      </p:pic>
      <p:sp>
        <p:nvSpPr>
          <p:cNvPr id="3" name="Vertical Text Placeholder 2"/>
          <p:cNvSpPr>
            <a:spLocks noGrp="1"/>
          </p:cNvSpPr>
          <p:nvPr>
            <p:ph type="body" orient="vert" idx="1"/>
          </p:nvPr>
        </p:nvSpPr>
        <p:spPr/>
        <p:txBody>
          <a:bodyPr vert="eaVert" ancho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9F22FF5E-8FA6-4A5F-A368-1F302C0F7A66}" type="datetime1">
              <a:rPr lang="en-US" smtClean="0"/>
              <a:t>12/22/2025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40742BEA-48CF-4F32-AFB8-C9C4AAF5269A}" type="slidenum">
              <a:rPr lang="en-US" smtClean="0"/>
              <a:t>‹#›</a:t>
            </a:fld>
            <a:endParaRPr lang="en-US"/>
          </a:p>
        </p:txBody>
      </p:sp>
      <p:sp>
        <p:nvSpPr>
          <p:cNvPr id="8" name="Title 1"/>
          <p:cNvSpPr>
            <a:spLocks noGrp="1"/>
          </p:cNvSpPr>
          <p:nvPr>
            <p:ph type="title"/>
          </p:nvPr>
        </p:nvSpPr>
        <p:spPr>
          <a:xfrm>
            <a:off x="685802" y="633589"/>
            <a:ext cx="10131425" cy="1513574"/>
          </a:xfrm>
        </p:spPr>
        <p:txBody>
          <a:bodyPr/>
          <a:lstStyle/>
          <a:p>
            <a:r>
              <a:rPr lang="en-US"/>
              <a:t>Click to edit Master title style</a:t>
            </a:r>
            <a:endParaRPr lang="en-US" dirty="0"/>
          </a:p>
        </p:txBody>
      </p:sp>
    </p:spTree>
    <p:extLst>
      <p:ext uri="{BB962C8B-B14F-4D97-AF65-F5344CB8AC3E}">
        <p14:creationId xmlns:p14="http://schemas.microsoft.com/office/powerpoint/2010/main" val="2690065018"/>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pic>
        <p:nvPicPr>
          <p:cNvPr id="7" name="Picture 6" descr="Celestia-R1---OverlayContentH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 y="0"/>
            <a:ext cx="12188825" cy="7126019"/>
          </a:xfrm>
          <a:prstGeom prst="rect">
            <a:avLst/>
          </a:prstGeom>
        </p:spPr>
      </p:pic>
      <p:sp>
        <p:nvSpPr>
          <p:cNvPr id="2" name="Vertical Title 1"/>
          <p:cNvSpPr>
            <a:spLocks noGrp="1"/>
          </p:cNvSpPr>
          <p:nvPr>
            <p:ph type="title" orient="vert"/>
          </p:nvPr>
        </p:nvSpPr>
        <p:spPr>
          <a:xfrm>
            <a:off x="8658675" y="633588"/>
            <a:ext cx="2158552" cy="5385507"/>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685800" y="633589"/>
            <a:ext cx="7832116" cy="5385506"/>
          </a:xfrm>
        </p:spPr>
        <p:txBody>
          <a:bodyPr vert="eaVert" ancho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4346F5A6-75A9-401F-BC27-D0FE15019D60}" type="datetime1">
              <a:rPr lang="en-US" smtClean="0"/>
              <a:t>12/22/2025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40742BEA-48CF-4F32-AFB8-C9C4AAF5269A}" type="slidenum">
              <a:rPr lang="en-US" smtClean="0"/>
              <a:t>‹#›</a:t>
            </a:fld>
            <a:endParaRPr lang="en-US"/>
          </a:p>
        </p:txBody>
      </p:sp>
    </p:spTree>
    <p:extLst>
      <p:ext uri="{BB962C8B-B14F-4D97-AF65-F5344CB8AC3E}">
        <p14:creationId xmlns:p14="http://schemas.microsoft.com/office/powerpoint/2010/main" val="255031885"/>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3">
        <a:schemeClr val="bg2"/>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685802" y="633589"/>
            <a:ext cx="10131425" cy="1513574"/>
          </a:xfrm>
          <a:prstGeom prst="rect">
            <a:avLst/>
          </a:prstGeom>
          <a:effectLst/>
        </p:spPr>
        <p:txBody>
          <a:bodyPr vert="horz" lIns="91440" tIns="45720" rIns="91440" bIns="4572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685802" y="2226362"/>
            <a:ext cx="10131425" cy="3792733"/>
          </a:xfrm>
          <a:prstGeom prst="rect">
            <a:avLst/>
          </a:prstGeom>
        </p:spPr>
        <p:txBody>
          <a:bodyPr vert="horz" lIns="91440" tIns="45720" rIns="91440" bIns="45720" rtlCol="0" anchor="ct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8589660" y="6101594"/>
            <a:ext cx="1600200" cy="392693"/>
          </a:xfrm>
          <a:prstGeom prst="rect">
            <a:avLst/>
          </a:prstGeom>
        </p:spPr>
        <p:txBody>
          <a:bodyPr vert="horz" lIns="91440" tIns="45720" rIns="91440" bIns="45720" rtlCol="0" anchor="ctr"/>
          <a:lstStyle>
            <a:lvl1pPr algn="r">
              <a:defRPr sz="1000" b="0" i="0">
                <a:solidFill>
                  <a:schemeClr val="tx1"/>
                </a:solidFill>
                <a:effectLst/>
                <a:latin typeface="+mn-lt"/>
              </a:defRPr>
            </a:lvl1pPr>
          </a:lstStyle>
          <a:p>
            <a:fld id="{6EC406C9-94FF-4D6E-9A2D-B5C3426A4ACF}" type="datetime1">
              <a:rPr lang="en-US" smtClean="0"/>
              <a:t>12/22/2025</a:t>
            </a:fld>
            <a:endParaRPr lang="en-US"/>
          </a:p>
        </p:txBody>
      </p:sp>
      <p:sp>
        <p:nvSpPr>
          <p:cNvPr id="5" name="Footer Placeholder 4"/>
          <p:cNvSpPr>
            <a:spLocks noGrp="1"/>
          </p:cNvSpPr>
          <p:nvPr>
            <p:ph type="ftr" sz="quarter" idx="3"/>
          </p:nvPr>
        </p:nvSpPr>
        <p:spPr>
          <a:xfrm>
            <a:off x="685801" y="6101594"/>
            <a:ext cx="7827659" cy="392693"/>
          </a:xfrm>
          <a:prstGeom prst="rect">
            <a:avLst/>
          </a:prstGeom>
        </p:spPr>
        <p:txBody>
          <a:bodyPr vert="horz" lIns="91440" tIns="45720" rIns="91440" bIns="45720" rtlCol="0" anchor="ctr"/>
          <a:lstStyle>
            <a:lvl1pPr algn="l">
              <a:defRPr sz="1000" b="0" i="0">
                <a:solidFill>
                  <a:schemeClr val="tx1"/>
                </a:solidFill>
                <a:effectLst/>
                <a:latin typeface="+mn-lt"/>
              </a:defRPr>
            </a:lvl1pPr>
          </a:lstStyle>
          <a:p>
            <a:endParaRPr lang="en-US"/>
          </a:p>
        </p:txBody>
      </p:sp>
      <p:sp>
        <p:nvSpPr>
          <p:cNvPr id="6" name="Slide Number Placeholder 5"/>
          <p:cNvSpPr>
            <a:spLocks noGrp="1"/>
          </p:cNvSpPr>
          <p:nvPr>
            <p:ph type="sldNum" sz="quarter" idx="4"/>
          </p:nvPr>
        </p:nvSpPr>
        <p:spPr>
          <a:xfrm>
            <a:off x="10266061" y="6101594"/>
            <a:ext cx="551167" cy="392693"/>
          </a:xfrm>
          <a:prstGeom prst="rect">
            <a:avLst/>
          </a:prstGeom>
        </p:spPr>
        <p:txBody>
          <a:bodyPr vert="horz" lIns="91440" tIns="45720" rIns="91440" bIns="45720" rtlCol="0" anchor="ctr"/>
          <a:lstStyle>
            <a:lvl1pPr algn="r">
              <a:defRPr sz="1000" b="0" i="0">
                <a:solidFill>
                  <a:schemeClr val="tx1"/>
                </a:solidFill>
                <a:effectLst/>
                <a:latin typeface="+mn-lt"/>
              </a:defRPr>
            </a:lvl1pPr>
          </a:lstStyle>
          <a:p>
            <a:fld id="{40742BEA-48CF-4F32-AFB8-C9C4AAF5269A}" type="slidenum">
              <a:rPr lang="en-US" smtClean="0"/>
              <a:t>‹#›</a:t>
            </a:fld>
            <a:endParaRPr lang="en-US"/>
          </a:p>
        </p:txBody>
      </p:sp>
    </p:spTree>
    <p:extLst>
      <p:ext uri="{BB962C8B-B14F-4D97-AF65-F5344CB8AC3E}">
        <p14:creationId xmlns:p14="http://schemas.microsoft.com/office/powerpoint/2010/main" val="2215117387"/>
      </p:ext>
    </p:extLst>
  </p:cSld>
  <p:clrMap bg1="dk1" tx1="lt1" bg2="dk2" tx2="lt2" accent1="accent1" accent2="accent2" accent3="accent3" accent4="accent4" accent5="accent5" accent6="accent6" hlink="hlink" folHlink="folHlink"/>
  <p:sldLayoutIdLst>
    <p:sldLayoutId id="2147483679" r:id="rId1"/>
    <p:sldLayoutId id="2147483680" r:id="rId2"/>
    <p:sldLayoutId id="2147483681" r:id="rId3"/>
    <p:sldLayoutId id="2147483682" r:id="rId4"/>
    <p:sldLayoutId id="2147483683" r:id="rId5"/>
    <p:sldLayoutId id="2147483684" r:id="rId6"/>
    <p:sldLayoutId id="2147483685" r:id="rId7"/>
    <p:sldLayoutId id="2147483686" r:id="rId8"/>
    <p:sldLayoutId id="2147483687" r:id="rId9"/>
    <p:sldLayoutId id="2147483688" r:id="rId10"/>
    <p:sldLayoutId id="2147483689" r:id="rId11"/>
    <p:sldLayoutId id="2147483690" r:id="rId12"/>
    <p:sldLayoutId id="2147483691" r:id="rId13"/>
    <p:sldLayoutId id="2147483692" r:id="rId14"/>
    <p:sldLayoutId id="2147483693" r:id="rId15"/>
    <p:sldLayoutId id="2147483694" r:id="rId16"/>
    <p:sldLayoutId id="2147483695" r:id="rId17"/>
  </p:sldLayoutIdLst>
  <p:hf hdr="0" ftr="0"/>
  <p:txStyles>
    <p:titleStyle>
      <a:lvl1pPr algn="l" defTabSz="457200" rtl="0" eaLnBrk="1" latinLnBrk="0" hangingPunct="1">
        <a:spcBef>
          <a:spcPct val="0"/>
        </a:spcBef>
        <a:buNone/>
        <a:defRPr sz="3600" kern="1200" cap="all">
          <a:ln w="3175" cmpd="sng">
            <a:noFill/>
          </a:ln>
          <a:solidFill>
            <a:schemeClr val="tx1"/>
          </a:solidFill>
          <a:effectLst/>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285750" indent="-285750" algn="l" defTabSz="457200" rtl="0" eaLnBrk="1" latinLnBrk="0" hangingPunct="1">
        <a:spcBef>
          <a:spcPts val="0"/>
        </a:spcBef>
        <a:spcAft>
          <a:spcPts val="1000"/>
        </a:spcAft>
        <a:buClr>
          <a:schemeClr val="tx1"/>
        </a:buClr>
        <a:buSzPct val="100000"/>
        <a:buFont typeface="Arial"/>
        <a:buChar char="•"/>
        <a:defRPr sz="1800" kern="1200" cap="none">
          <a:solidFill>
            <a:schemeClr val="tx1"/>
          </a:solidFill>
          <a:effectLst/>
          <a:latin typeface="+mn-lt"/>
          <a:ea typeface="+mn-ea"/>
          <a:cs typeface="+mn-cs"/>
        </a:defRPr>
      </a:lvl1pPr>
      <a:lvl2pPr marL="742950" indent="-285750" algn="l" defTabSz="457200" rtl="0" eaLnBrk="1" latinLnBrk="0" hangingPunct="1">
        <a:spcBef>
          <a:spcPts val="0"/>
        </a:spcBef>
        <a:spcAft>
          <a:spcPts val="1000"/>
        </a:spcAft>
        <a:buClr>
          <a:schemeClr val="tx1"/>
        </a:buClr>
        <a:buSzPct val="100000"/>
        <a:buFont typeface="Arial"/>
        <a:buChar char="•"/>
        <a:defRPr sz="1600" kern="1200" cap="none">
          <a:solidFill>
            <a:schemeClr val="tx1"/>
          </a:solidFill>
          <a:effectLst/>
          <a:latin typeface="+mn-lt"/>
          <a:ea typeface="+mn-ea"/>
          <a:cs typeface="+mn-cs"/>
        </a:defRPr>
      </a:lvl2pPr>
      <a:lvl3pPr marL="1200150" indent="-285750" algn="l" defTabSz="457200" rtl="0" eaLnBrk="1" latinLnBrk="0" hangingPunct="1">
        <a:spcBef>
          <a:spcPts val="0"/>
        </a:spcBef>
        <a:spcAft>
          <a:spcPts val="1000"/>
        </a:spcAft>
        <a:buClr>
          <a:schemeClr val="tx1"/>
        </a:buClr>
        <a:buSzPct val="100000"/>
        <a:buFont typeface="Arial"/>
        <a:buChar char="•"/>
        <a:defRPr sz="1400" kern="1200" cap="none">
          <a:solidFill>
            <a:schemeClr val="tx1"/>
          </a:solidFill>
          <a:effectLst/>
          <a:latin typeface="+mn-lt"/>
          <a:ea typeface="+mn-ea"/>
          <a:cs typeface="+mn-cs"/>
        </a:defRPr>
      </a:lvl3pPr>
      <a:lvl4pPr marL="1543050" indent="-171450" algn="l" defTabSz="457200" rtl="0" eaLnBrk="1" latinLnBrk="0" hangingPunct="1">
        <a:spcBef>
          <a:spcPts val="0"/>
        </a:spcBef>
        <a:spcAft>
          <a:spcPts val="1000"/>
        </a:spcAft>
        <a:buClr>
          <a:schemeClr val="tx1"/>
        </a:buClr>
        <a:buSzPct val="100000"/>
        <a:buFont typeface="Arial"/>
        <a:buChar char="•"/>
        <a:defRPr sz="1200" kern="1200" cap="none">
          <a:solidFill>
            <a:schemeClr val="tx1"/>
          </a:solidFill>
          <a:effectLst/>
          <a:latin typeface="+mn-lt"/>
          <a:ea typeface="+mn-ea"/>
          <a:cs typeface="+mn-cs"/>
        </a:defRPr>
      </a:lvl4pPr>
      <a:lvl5pPr marL="2000250" indent="-171450" algn="l" defTabSz="457200" rtl="0" eaLnBrk="1" latinLnBrk="0" hangingPunct="1">
        <a:spcBef>
          <a:spcPts val="0"/>
        </a:spcBef>
        <a:spcAft>
          <a:spcPts val="1000"/>
        </a:spcAft>
        <a:buClr>
          <a:schemeClr val="tx1"/>
        </a:buClr>
        <a:buSzPct val="100000"/>
        <a:buFont typeface="Arial"/>
        <a:buChar char="•"/>
        <a:defRPr sz="1200" kern="1200" cap="none">
          <a:solidFill>
            <a:schemeClr val="tx1"/>
          </a:solidFill>
          <a:effectLst/>
          <a:latin typeface="+mn-lt"/>
          <a:ea typeface="+mn-ea"/>
          <a:cs typeface="+mn-cs"/>
        </a:defRPr>
      </a:lvl5pPr>
      <a:lvl6pPr marL="2514600" indent="-228600" algn="l" defTabSz="457200" rtl="0" eaLnBrk="1" latinLnBrk="0" hangingPunct="1">
        <a:spcBef>
          <a:spcPts val="0"/>
        </a:spcBef>
        <a:spcAft>
          <a:spcPts val="1000"/>
        </a:spcAft>
        <a:buClr>
          <a:schemeClr val="tx1"/>
        </a:buClr>
        <a:buSzPct val="100000"/>
        <a:buFont typeface="Arial"/>
        <a:buChar char="•"/>
        <a:defRPr sz="1200" kern="1200" cap="none">
          <a:solidFill>
            <a:schemeClr val="tx1"/>
          </a:solidFill>
          <a:effectLst/>
          <a:latin typeface="+mn-lt"/>
          <a:ea typeface="+mn-ea"/>
          <a:cs typeface="+mn-cs"/>
        </a:defRPr>
      </a:lvl6pPr>
      <a:lvl7pPr marL="2971800" indent="-228600" algn="l" defTabSz="457200" rtl="0" eaLnBrk="1" latinLnBrk="0" hangingPunct="1">
        <a:spcBef>
          <a:spcPts val="0"/>
        </a:spcBef>
        <a:spcAft>
          <a:spcPts val="1000"/>
        </a:spcAft>
        <a:buClr>
          <a:schemeClr val="tx1"/>
        </a:buClr>
        <a:buSzPct val="100000"/>
        <a:buFont typeface="Arial"/>
        <a:buChar char="•"/>
        <a:defRPr sz="1200" kern="1200" cap="none">
          <a:solidFill>
            <a:schemeClr val="tx1"/>
          </a:solidFill>
          <a:effectLst/>
          <a:latin typeface="+mn-lt"/>
          <a:ea typeface="+mn-ea"/>
          <a:cs typeface="+mn-cs"/>
        </a:defRPr>
      </a:lvl7pPr>
      <a:lvl8pPr marL="3429000" indent="-228600" algn="l" defTabSz="457200" rtl="0" eaLnBrk="1" latinLnBrk="0" hangingPunct="1">
        <a:spcBef>
          <a:spcPts val="0"/>
        </a:spcBef>
        <a:spcAft>
          <a:spcPts val="1000"/>
        </a:spcAft>
        <a:buClr>
          <a:schemeClr val="tx1"/>
        </a:buClr>
        <a:buSzPct val="100000"/>
        <a:buFont typeface="Arial"/>
        <a:buChar char="•"/>
        <a:defRPr sz="1200" kern="1200" cap="none">
          <a:solidFill>
            <a:schemeClr val="tx1"/>
          </a:solidFill>
          <a:effectLst/>
          <a:latin typeface="+mn-lt"/>
          <a:ea typeface="+mn-ea"/>
          <a:cs typeface="+mn-cs"/>
        </a:defRPr>
      </a:lvl8pPr>
      <a:lvl9pPr marL="3886200" indent="-228600" algn="l" defTabSz="457200" rtl="0" eaLnBrk="1" latinLnBrk="0" hangingPunct="1">
        <a:spcBef>
          <a:spcPts val="0"/>
        </a:spcBef>
        <a:spcAft>
          <a:spcPts val="1000"/>
        </a:spcAft>
        <a:buClr>
          <a:schemeClr val="tx1"/>
        </a:buClr>
        <a:buSzPct val="100000"/>
        <a:buFont typeface="Arial"/>
        <a:buChar char="•"/>
        <a:defRPr sz="1200" kern="1200" cap="none">
          <a:solidFill>
            <a:schemeClr val="tx1"/>
          </a:solidFill>
          <a:effectLst/>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4.jpe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5.jpeg"/><Relationship Id="rId1" Type="http://schemas.openxmlformats.org/officeDocument/2006/relationships/slideLayout" Target="../slideLayouts/slideLayout2.xml"/><Relationship Id="rId4" Type="http://schemas.openxmlformats.org/officeDocument/2006/relationships/image" Target="../media/image7.jpe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diagramLayout" Target="../diagrams/layout1.xml"/><Relationship Id="rId2" Type="http://schemas.openxmlformats.org/officeDocument/2006/relationships/diagramData" Target="../diagrams/data1.xml"/><Relationship Id="rId1" Type="http://schemas.openxmlformats.org/officeDocument/2006/relationships/slideLayout" Target="../slideLayouts/slideLayout2.xml"/><Relationship Id="rId6" Type="http://schemas.microsoft.com/office/2007/relationships/diagramDrawing" Target="../diagrams/drawing1.xml"/><Relationship Id="rId5" Type="http://schemas.openxmlformats.org/officeDocument/2006/relationships/diagramColors" Target="../diagrams/colors1.xml"/><Relationship Id="rId4" Type="http://schemas.openxmlformats.org/officeDocument/2006/relationships/diagramQuickStyle" Target="../diagrams/quickStyle1.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hyperlink" Target=":https:/www.kaggle.com/datasets/masoudnickparvar/brain-tumor-mri-dataset" TargetMode="Externa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hyperlink" Target="https://www.kaggle.com/sartajbhuvaji/brain-tumor-classification-mri" TargetMode="External"/><Relationship Id="rId2" Type="http://schemas.openxmlformats.org/officeDocument/2006/relationships/hyperlink" Target="https://figshare.com/articles/dataset/brain_tumor_dataset/1512427" TargetMode="External"/><Relationship Id="rId1" Type="http://schemas.openxmlformats.org/officeDocument/2006/relationships/slideLayout" Target="../slideLayouts/slideLayout2.xml"/><Relationship Id="rId5" Type="http://schemas.openxmlformats.org/officeDocument/2006/relationships/image" Target="../media/image8.png"/><Relationship Id="rId4" Type="http://schemas.openxmlformats.org/officeDocument/2006/relationships/hyperlink" Target="https://www.kaggle.com/datasets/ahmedhamada0/brain-tumor-detection?select=no" TargetMode="Externa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image" Target="../media/image11.png"/><Relationship Id="rId1" Type="http://schemas.openxmlformats.org/officeDocument/2006/relationships/slideLayout" Target="../slideLayouts/slideLayout2.xml"/><Relationship Id="rId5" Type="http://schemas.openxmlformats.org/officeDocument/2006/relationships/image" Target="../media/image14.png"/><Relationship Id="rId4" Type="http://schemas.openxmlformats.org/officeDocument/2006/relationships/image" Target="../media/image13.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3" Type="http://schemas.openxmlformats.org/officeDocument/2006/relationships/diagramLayout" Target="../diagrams/layout2.xml"/><Relationship Id="rId2" Type="http://schemas.openxmlformats.org/officeDocument/2006/relationships/diagramData" Target="../diagrams/data2.xml"/><Relationship Id="rId1" Type="http://schemas.openxmlformats.org/officeDocument/2006/relationships/slideLayout" Target="../slideLayouts/slideLayout2.xml"/><Relationship Id="rId6" Type="http://schemas.microsoft.com/office/2007/relationships/diagramDrawing" Target="../diagrams/drawing2.xml"/><Relationship Id="rId5" Type="http://schemas.openxmlformats.org/officeDocument/2006/relationships/diagramColors" Target="../diagrams/colors2.xml"/><Relationship Id="rId4" Type="http://schemas.openxmlformats.org/officeDocument/2006/relationships/diagramQuickStyle" Target="../diagrams/quickStyle2.xml"/></Relationships>
</file>

<file path=ppt/slides/_rels/slide18.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image" Target="../media/image16.png"/><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image" Target="../media/image18.png"/><Relationship Id="rId1" Type="http://schemas.openxmlformats.org/officeDocument/2006/relationships/slideLayout" Target="../slideLayouts/slideLayout2.xml"/><Relationship Id="rId4" Type="http://schemas.openxmlformats.org/officeDocument/2006/relationships/image" Target="../media/image20.png"/></Relationships>
</file>

<file path=ppt/slides/_rels/slide26.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image" Target="../media/image21.png"/><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2" Type="http://schemas.openxmlformats.org/officeDocument/2006/relationships/image" Target="../media/image23.png"/><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image" Target="../media/image24.png"/><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2" Type="http://schemas.openxmlformats.org/officeDocument/2006/relationships/image" Target="../media/image26.png"/><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2" Type="http://schemas.openxmlformats.org/officeDocument/2006/relationships/image" Target="../media/image27.png"/><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3" Type="http://schemas.openxmlformats.org/officeDocument/2006/relationships/image" Target="../media/image29.png"/><Relationship Id="rId2" Type="http://schemas.openxmlformats.org/officeDocument/2006/relationships/image" Target="../media/image28.pn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89D0AF7-BFCD-C981-2BB2-118628FFC13F}"/>
              </a:ext>
            </a:extLst>
          </p:cNvPr>
          <p:cNvSpPr>
            <a:spLocks noGrp="1"/>
          </p:cNvSpPr>
          <p:nvPr>
            <p:ph type="ctrTitle"/>
          </p:nvPr>
        </p:nvSpPr>
        <p:spPr>
          <a:xfrm>
            <a:off x="1891555" y="1651334"/>
            <a:ext cx="9994713" cy="2421464"/>
          </a:xfrm>
        </p:spPr>
        <p:txBody>
          <a:bodyPr/>
          <a:lstStyle/>
          <a:p>
            <a:r>
              <a:rPr lang="en-US" dirty="0"/>
              <a:t>Using Ai technology to detect brain tumors</a:t>
            </a:r>
          </a:p>
        </p:txBody>
      </p:sp>
      <p:sp>
        <p:nvSpPr>
          <p:cNvPr id="3" name="Subtitle 2">
            <a:extLst>
              <a:ext uri="{FF2B5EF4-FFF2-40B4-BE49-F238E27FC236}">
                <a16:creationId xmlns:a16="http://schemas.microsoft.com/office/drawing/2014/main" id="{F5BF6649-131C-1206-810E-FDBF6767397F}"/>
              </a:ext>
            </a:extLst>
          </p:cNvPr>
          <p:cNvSpPr>
            <a:spLocks noGrp="1"/>
          </p:cNvSpPr>
          <p:nvPr>
            <p:ph type="subTitle" idx="1"/>
          </p:nvPr>
        </p:nvSpPr>
        <p:spPr>
          <a:xfrm>
            <a:off x="4158342" y="4584563"/>
            <a:ext cx="7197726" cy="1405467"/>
          </a:xfrm>
        </p:spPr>
        <p:txBody>
          <a:bodyPr/>
          <a:lstStyle/>
          <a:p>
            <a:r>
              <a:rPr lang="ar-SY" dirty="0"/>
              <a:t>محمد ميار كامل اسماعيل</a:t>
            </a:r>
          </a:p>
          <a:p>
            <a:endParaRPr lang="en-US" dirty="0"/>
          </a:p>
          <a:p>
            <a:r>
              <a:rPr lang="ar-SY" dirty="0"/>
              <a:t>اشراف الدكتورة: ماجدة البكور</a:t>
            </a:r>
            <a:endParaRPr lang="en-US" dirty="0"/>
          </a:p>
        </p:txBody>
      </p:sp>
      <p:sp>
        <p:nvSpPr>
          <p:cNvPr id="4" name="Date Placeholder 3">
            <a:extLst>
              <a:ext uri="{FF2B5EF4-FFF2-40B4-BE49-F238E27FC236}">
                <a16:creationId xmlns:a16="http://schemas.microsoft.com/office/drawing/2014/main" id="{613EE058-E522-B848-3981-D5800BFB295B}"/>
              </a:ext>
            </a:extLst>
          </p:cNvPr>
          <p:cNvSpPr>
            <a:spLocks noGrp="1"/>
          </p:cNvSpPr>
          <p:nvPr>
            <p:ph type="dt" sz="half" idx="10"/>
          </p:nvPr>
        </p:nvSpPr>
        <p:spPr/>
        <p:txBody>
          <a:bodyPr/>
          <a:lstStyle/>
          <a:p>
            <a:fld id="{577D6A12-9FC5-4352-823C-73B4C962F594}" type="datetime1">
              <a:rPr lang="en-US" smtClean="0"/>
              <a:t>12/22/2025</a:t>
            </a:fld>
            <a:endParaRPr lang="en-US"/>
          </a:p>
        </p:txBody>
      </p:sp>
      <p:sp>
        <p:nvSpPr>
          <p:cNvPr id="5" name="Slide Number Placeholder 4">
            <a:extLst>
              <a:ext uri="{FF2B5EF4-FFF2-40B4-BE49-F238E27FC236}">
                <a16:creationId xmlns:a16="http://schemas.microsoft.com/office/drawing/2014/main" id="{ED85A633-1D61-D535-52DB-3DE829734B4E}"/>
              </a:ext>
            </a:extLst>
          </p:cNvPr>
          <p:cNvSpPr>
            <a:spLocks noGrp="1"/>
          </p:cNvSpPr>
          <p:nvPr>
            <p:ph type="sldNum" sz="quarter" idx="12"/>
          </p:nvPr>
        </p:nvSpPr>
        <p:spPr/>
        <p:txBody>
          <a:bodyPr/>
          <a:lstStyle/>
          <a:p>
            <a:fld id="{40742BEA-48CF-4F32-AFB8-C9C4AAF5269A}" type="slidenum">
              <a:rPr lang="en-US" smtClean="0"/>
              <a:t>1</a:t>
            </a:fld>
            <a:endParaRPr lang="en-US"/>
          </a:p>
        </p:txBody>
      </p:sp>
      <p:pic>
        <p:nvPicPr>
          <p:cNvPr id="6" name="officeArt object" descr="Picture 1">
            <a:extLst>
              <a:ext uri="{FF2B5EF4-FFF2-40B4-BE49-F238E27FC236}">
                <a16:creationId xmlns:a16="http://schemas.microsoft.com/office/drawing/2014/main" id="{A943F1B5-33AD-4BE5-36F3-5EB74907883F}"/>
              </a:ext>
            </a:extLst>
          </p:cNvPr>
          <p:cNvPicPr/>
          <p:nvPr/>
        </p:nvPicPr>
        <p:blipFill>
          <a:blip r:embed="rId2"/>
          <a:srcRect l="5654" t="7537" r="5779" b="9561"/>
          <a:stretch>
            <a:fillRect/>
          </a:stretch>
        </p:blipFill>
        <p:spPr>
          <a:xfrm>
            <a:off x="4158342" y="182891"/>
            <a:ext cx="2677309" cy="1909907"/>
          </a:xfrm>
          <a:prstGeom prst="round2DiagRect">
            <a:avLst>
              <a:gd name="adj1" fmla="val 16667"/>
              <a:gd name="adj2" fmla="val 0"/>
            </a:avLst>
          </a:prstGeom>
          <a:ln w="88900" cap="sq">
            <a:solidFill>
              <a:srgbClr val="FFFFFF"/>
            </a:solidFill>
            <a:miter lim="800000"/>
          </a:ln>
          <a:effectLst>
            <a:outerShdw blurRad="254000" algn="tl" rotWithShape="0">
              <a:srgbClr val="000000">
                <a:alpha val="43000"/>
              </a:srgbClr>
            </a:outerShdw>
          </a:effectLst>
        </p:spPr>
      </p:pic>
      <p:sp>
        <p:nvSpPr>
          <p:cNvPr id="11" name="TextBox 10">
            <a:extLst>
              <a:ext uri="{FF2B5EF4-FFF2-40B4-BE49-F238E27FC236}">
                <a16:creationId xmlns:a16="http://schemas.microsoft.com/office/drawing/2014/main" id="{706F5532-16E7-C8B7-AB76-2EF2FEA02272}"/>
              </a:ext>
            </a:extLst>
          </p:cNvPr>
          <p:cNvSpPr txBox="1"/>
          <p:nvPr/>
        </p:nvSpPr>
        <p:spPr>
          <a:xfrm>
            <a:off x="305732" y="752118"/>
            <a:ext cx="3315951" cy="830997"/>
          </a:xfrm>
          <a:prstGeom prst="rect">
            <a:avLst/>
          </a:prstGeom>
          <a:noFill/>
        </p:spPr>
        <p:txBody>
          <a:bodyPr wrap="square">
            <a:spAutoFit/>
          </a:bodyPr>
          <a:lstStyle/>
          <a:p>
            <a:r>
              <a:rPr lang="en-US" sz="2400" dirty="0"/>
              <a:t>Faculty of Artificial intelligence engineering </a:t>
            </a:r>
          </a:p>
        </p:txBody>
      </p:sp>
      <p:sp>
        <p:nvSpPr>
          <p:cNvPr id="13" name="TextBox 12">
            <a:extLst>
              <a:ext uri="{FF2B5EF4-FFF2-40B4-BE49-F238E27FC236}">
                <a16:creationId xmlns:a16="http://schemas.microsoft.com/office/drawing/2014/main" id="{BBBB5464-7705-B8F4-2EBC-7640E35EF6FE}"/>
              </a:ext>
            </a:extLst>
          </p:cNvPr>
          <p:cNvSpPr txBox="1"/>
          <p:nvPr/>
        </p:nvSpPr>
        <p:spPr>
          <a:xfrm>
            <a:off x="-778939" y="4932733"/>
            <a:ext cx="5593535" cy="853567"/>
          </a:xfrm>
          <a:prstGeom prst="rect">
            <a:avLst/>
          </a:prstGeom>
          <a:noFill/>
        </p:spPr>
        <p:txBody>
          <a:bodyPr wrap="square">
            <a:spAutoFit/>
          </a:bodyPr>
          <a:lstStyle/>
          <a:p>
            <a:pPr algn="ctr" rtl="1">
              <a:lnSpc>
                <a:spcPct val="107000"/>
              </a:lnSpc>
              <a:spcAft>
                <a:spcPts val="800"/>
              </a:spcAft>
            </a:pPr>
            <a:r>
              <a:rPr lang="ar-SA" sz="2000" dirty="0">
                <a:ln>
                  <a:noFill/>
                </a:ln>
                <a:effectLst/>
                <a:uFill>
                  <a:solidFill>
                    <a:srgbClr val="000000"/>
                  </a:solidFill>
                </a:uFill>
                <a:latin typeface="Calibri Light" panose="020F0302020204030204" pitchFamily="34" charset="0"/>
                <a:ea typeface="Simplified Arabic" panose="02020603050405020304" pitchFamily="18" charset="-78"/>
                <a:cs typeface="Simplified Arabic" panose="02020603050405020304" pitchFamily="18" charset="-78"/>
              </a:rPr>
              <a:t>كلية هندسة </a:t>
            </a:r>
            <a:r>
              <a:rPr lang="ar-SY" sz="2000" dirty="0">
                <a:uFill>
                  <a:solidFill>
                    <a:srgbClr val="000000"/>
                  </a:solidFill>
                </a:uFill>
                <a:latin typeface="Calibri Light" panose="020F0302020204030204" pitchFamily="34" charset="0"/>
                <a:ea typeface="Simplified Arabic" panose="02020603050405020304" pitchFamily="18" charset="-78"/>
                <a:cs typeface="Simplified Arabic" panose="02020603050405020304" pitchFamily="18" charset="-78"/>
              </a:rPr>
              <a:t>الذكاء الصنعي</a:t>
            </a:r>
            <a:endParaRPr lang="en-US" sz="2000" dirty="0">
              <a:ln>
                <a:noFill/>
              </a:ln>
              <a:effectLst/>
              <a:uFill>
                <a:solidFill>
                  <a:srgbClr val="000000"/>
                </a:solidFill>
              </a:uFill>
              <a:latin typeface="Calibri Light" panose="020F0302020204030204" pitchFamily="34" charset="0"/>
              <a:ea typeface="Arial Unicode MS"/>
              <a:cs typeface="Arial Unicode MS"/>
            </a:endParaRPr>
          </a:p>
          <a:p>
            <a:pPr algn="ctr" rtl="1">
              <a:lnSpc>
                <a:spcPct val="107000"/>
              </a:lnSpc>
              <a:spcAft>
                <a:spcPts val="800"/>
              </a:spcAft>
            </a:pPr>
            <a:r>
              <a:rPr lang="ar-SA" sz="2000" dirty="0">
                <a:ln>
                  <a:noFill/>
                </a:ln>
                <a:solidFill>
                  <a:srgbClr val="FF0000"/>
                </a:solidFill>
                <a:effectLst/>
                <a:uFill>
                  <a:solidFill>
                    <a:srgbClr val="000000"/>
                  </a:solidFill>
                </a:uFill>
                <a:latin typeface="Calibri Light" panose="020F0302020204030204" pitchFamily="34" charset="0"/>
                <a:ea typeface="Simplified Arabic" panose="02020603050405020304" pitchFamily="18" charset="-78"/>
                <a:cs typeface="Simplified Arabic" panose="02020603050405020304" pitchFamily="18" charset="-78"/>
              </a:rPr>
              <a:t>قسم الذكاء الصنعي وعلوم البيانات</a:t>
            </a:r>
            <a:endParaRPr lang="en-US" sz="2000" dirty="0">
              <a:ln>
                <a:noFill/>
              </a:ln>
              <a:solidFill>
                <a:srgbClr val="000000"/>
              </a:solidFill>
              <a:effectLst/>
              <a:uFill>
                <a:solidFill>
                  <a:srgbClr val="000000"/>
                </a:solidFill>
              </a:uFill>
              <a:latin typeface="Calibri Light" panose="020F0302020204030204" pitchFamily="34" charset="0"/>
              <a:ea typeface="Arial Unicode MS"/>
              <a:cs typeface="Arial Unicode MS"/>
            </a:endParaRPr>
          </a:p>
        </p:txBody>
      </p:sp>
    </p:spTree>
    <p:extLst>
      <p:ext uri="{BB962C8B-B14F-4D97-AF65-F5344CB8AC3E}">
        <p14:creationId xmlns:p14="http://schemas.microsoft.com/office/powerpoint/2010/main" val="3223171578"/>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1">
            <a:extLst>
              <a:ext uri="{FF2B5EF4-FFF2-40B4-BE49-F238E27FC236}">
                <a16:creationId xmlns:a16="http://schemas.microsoft.com/office/drawing/2014/main" id="{3CE2FCF5-9350-EB75-958E-5A16584EFBC0}"/>
              </a:ext>
            </a:extLst>
          </p:cNvPr>
          <p:cNvSpPr>
            <a:spLocks noGrp="1" noChangeArrowheads="1"/>
          </p:cNvSpPr>
          <p:nvPr>
            <p:ph idx="1"/>
          </p:nvPr>
        </p:nvSpPr>
        <p:spPr bwMode="auto">
          <a:xfrm>
            <a:off x="883026" y="747782"/>
            <a:ext cx="9843247" cy="5632311"/>
          </a:xfrm>
          <a:prstGeom prst="rect">
            <a:avLst/>
          </a:prstGeom>
          <a:noFill/>
          <a:ln>
            <a:noFill/>
          </a:ln>
          <a:effectLst>
            <a:outerShdw dist="35921" dir="2700000" algn="ctr" rotWithShape="0">
              <a:schemeClr val="bg2"/>
            </a:outerShdw>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txBody>
          <a:bodyPr vert="horz" wrap="square" lIns="91440" tIns="45720" rIns="91440" bIns="45720" numCol="1" rtlCol="0" anchor="ctr" anchorCtr="0" compatLnSpc="1">
            <a:prstTxWarp prst="textNoShape">
              <a:avLst/>
            </a:prstTxWarp>
            <a:spAutoFit/>
          </a:bodyPr>
          <a:lstStyle/>
          <a:p>
            <a:pPr marL="0" indent="0" defTabSz="914400" eaLnBrk="0" fontAlgn="base" hangingPunct="0">
              <a:spcBef>
                <a:spcPct val="0"/>
              </a:spcBef>
              <a:spcAft>
                <a:spcPct val="0"/>
              </a:spcAft>
              <a:buClrTx/>
              <a:buSzTx/>
              <a:buFontTx/>
              <a:buChar char="•"/>
            </a:pPr>
            <a:r>
              <a:rPr lang="en-US" altLang="en-US" b="1" dirty="0">
                <a:solidFill>
                  <a:schemeClr val="accent1">
                    <a:lumMod val="40000"/>
                    <a:lumOff val="60000"/>
                  </a:schemeClr>
                </a:solidFill>
                <a:latin typeface="Arial" panose="020B0604020202020204" pitchFamily="34" charset="0"/>
              </a:rPr>
              <a:t>Brain Cancer</a:t>
            </a:r>
            <a:r>
              <a:rPr lang="en-US" altLang="en-US" b="1" dirty="0">
                <a:latin typeface="Arial" panose="020B0604020202020204" pitchFamily="34" charset="0"/>
              </a:rPr>
              <a:t>:</a:t>
            </a:r>
            <a:r>
              <a:rPr lang="en-US" altLang="en-US" dirty="0">
                <a:latin typeface="Arial" panose="020B0604020202020204" pitchFamily="34" charset="0"/>
              </a:rPr>
              <a:t> A malignant growth that originates in the brain or its surrounding tissues. It can be primary (originating in the brain itself) or secondary (metastatic, spreading from another part of the body). Brain tumors can be benign (non-cancerous) or malignant (cancerous). </a:t>
            </a:r>
          </a:p>
          <a:p>
            <a:pPr marL="0" indent="0" defTabSz="914400" eaLnBrk="0" fontAlgn="base" hangingPunct="0">
              <a:spcBef>
                <a:spcPct val="0"/>
              </a:spcBef>
              <a:spcAft>
                <a:spcPct val="0"/>
              </a:spcAft>
              <a:buClrTx/>
              <a:buSzTx/>
              <a:buFontTx/>
              <a:buChar char="•"/>
            </a:pPr>
            <a:endParaRPr lang="en-US" altLang="en-US" dirty="0">
              <a:latin typeface="Arial" panose="020B0604020202020204" pitchFamily="34" charset="0"/>
            </a:endParaRPr>
          </a:p>
          <a:p>
            <a:pPr marL="0" indent="0" defTabSz="914400" eaLnBrk="0" fontAlgn="base" hangingPunct="0">
              <a:spcBef>
                <a:spcPct val="0"/>
              </a:spcBef>
              <a:spcAft>
                <a:spcPct val="0"/>
              </a:spcAft>
              <a:buClrTx/>
              <a:buSzTx/>
              <a:buFontTx/>
              <a:buChar char="•"/>
            </a:pPr>
            <a:r>
              <a:rPr lang="en-US" altLang="en-US" b="1" dirty="0">
                <a:solidFill>
                  <a:schemeClr val="accent1">
                    <a:lumMod val="40000"/>
                    <a:lumOff val="60000"/>
                  </a:schemeClr>
                </a:solidFill>
                <a:latin typeface="Arial" panose="020B0604020202020204" pitchFamily="34" charset="0"/>
              </a:rPr>
              <a:t>Types of Brain Tumors:</a:t>
            </a:r>
            <a:r>
              <a:rPr lang="en-US" altLang="en-US" dirty="0">
                <a:solidFill>
                  <a:schemeClr val="accent1">
                    <a:lumMod val="40000"/>
                    <a:lumOff val="60000"/>
                  </a:schemeClr>
                </a:solidFill>
                <a:latin typeface="Arial" panose="020B0604020202020204" pitchFamily="34" charset="0"/>
              </a:rPr>
              <a:t> </a:t>
            </a:r>
            <a:r>
              <a:rPr lang="en-US" altLang="en-US" dirty="0">
                <a:latin typeface="Arial" panose="020B0604020202020204" pitchFamily="34" charset="0"/>
              </a:rPr>
              <a:t>Common types include gliomas (the most common), meningiomas, and pituitary tumors. </a:t>
            </a:r>
          </a:p>
          <a:p>
            <a:pPr marL="0" indent="0" defTabSz="914400" eaLnBrk="0" fontAlgn="base" hangingPunct="0">
              <a:spcBef>
                <a:spcPct val="0"/>
              </a:spcBef>
              <a:spcAft>
                <a:spcPct val="0"/>
              </a:spcAft>
              <a:buClrTx/>
              <a:buSzTx/>
              <a:buFontTx/>
              <a:buChar char="•"/>
            </a:pPr>
            <a:endParaRPr lang="en-US" altLang="en-US" dirty="0">
              <a:latin typeface="Arial" panose="020B0604020202020204" pitchFamily="34" charset="0"/>
            </a:endParaRPr>
          </a:p>
          <a:p>
            <a:pPr marL="0" indent="0" defTabSz="914400" eaLnBrk="0" fontAlgn="base" hangingPunct="0">
              <a:spcBef>
                <a:spcPct val="0"/>
              </a:spcBef>
              <a:spcAft>
                <a:spcPct val="0"/>
              </a:spcAft>
              <a:buClrTx/>
              <a:buSzTx/>
              <a:buFontTx/>
              <a:buChar char="•"/>
            </a:pPr>
            <a:r>
              <a:rPr lang="en-US" altLang="en-US" b="1" dirty="0">
                <a:solidFill>
                  <a:schemeClr val="accent1">
                    <a:lumMod val="40000"/>
                    <a:lumOff val="60000"/>
                  </a:schemeClr>
                </a:solidFill>
                <a:latin typeface="Arial" panose="020B0604020202020204" pitchFamily="34" charset="0"/>
              </a:rPr>
              <a:t>Symptoms of Brain Tumors:</a:t>
            </a:r>
            <a:r>
              <a:rPr lang="en-US" altLang="en-US" dirty="0">
                <a:solidFill>
                  <a:schemeClr val="accent1">
                    <a:lumMod val="40000"/>
                    <a:lumOff val="60000"/>
                  </a:schemeClr>
                </a:solidFill>
                <a:latin typeface="Arial" panose="020B0604020202020204" pitchFamily="34" charset="0"/>
              </a:rPr>
              <a:t> </a:t>
            </a:r>
            <a:r>
              <a:rPr lang="en-US" altLang="en-US" dirty="0">
                <a:latin typeface="Arial" panose="020B0604020202020204" pitchFamily="34" charset="0"/>
              </a:rPr>
              <a:t>Symptoms can vary depending on the tumor's location and size, but may include headaches, seizures, vision problems, nausea, vomiting, and changes in personality or behavior. </a:t>
            </a:r>
          </a:p>
          <a:p>
            <a:pPr marL="0" indent="0" defTabSz="914400" eaLnBrk="0" fontAlgn="base" hangingPunct="0">
              <a:spcBef>
                <a:spcPct val="0"/>
              </a:spcBef>
              <a:spcAft>
                <a:spcPct val="0"/>
              </a:spcAft>
              <a:buClrTx/>
              <a:buSzTx/>
              <a:buFontTx/>
              <a:buChar char="•"/>
            </a:pPr>
            <a:endParaRPr lang="en-US" altLang="en-US" dirty="0">
              <a:latin typeface="Arial" panose="020B0604020202020204" pitchFamily="34" charset="0"/>
            </a:endParaRPr>
          </a:p>
          <a:p>
            <a:pPr marL="0" indent="0" defTabSz="914400" eaLnBrk="0" fontAlgn="base" hangingPunct="0">
              <a:spcBef>
                <a:spcPct val="0"/>
              </a:spcBef>
              <a:spcAft>
                <a:spcPct val="0"/>
              </a:spcAft>
              <a:buClrTx/>
              <a:buSzTx/>
              <a:buFontTx/>
              <a:buChar char="•"/>
            </a:pPr>
            <a:r>
              <a:rPr lang="en-US" altLang="en-US" b="1" dirty="0">
                <a:solidFill>
                  <a:schemeClr val="accent1">
                    <a:lumMod val="40000"/>
                    <a:lumOff val="60000"/>
                  </a:schemeClr>
                </a:solidFill>
                <a:latin typeface="Arial" panose="020B0604020202020204" pitchFamily="34" charset="0"/>
              </a:rPr>
              <a:t>MRI Scans:</a:t>
            </a:r>
            <a:r>
              <a:rPr lang="en-US" altLang="en-US" dirty="0">
                <a:solidFill>
                  <a:schemeClr val="accent1">
                    <a:lumMod val="40000"/>
                    <a:lumOff val="60000"/>
                  </a:schemeClr>
                </a:solidFill>
                <a:latin typeface="Arial" panose="020B0604020202020204" pitchFamily="34" charset="0"/>
              </a:rPr>
              <a:t> </a:t>
            </a:r>
            <a:r>
              <a:rPr lang="en-US" altLang="en-US" dirty="0">
                <a:latin typeface="Arial" panose="020B0604020202020204" pitchFamily="34" charset="0"/>
              </a:rPr>
              <a:t>A medical imaging technique that uses magnetic fields and radio waves to create detailed images of the body's internal structures. MRI scans are particularly useful for visualizing the brain and detecting abnormalities like tumors.   </a:t>
            </a:r>
          </a:p>
          <a:p>
            <a:pPr marL="0" indent="0" defTabSz="914400" eaLnBrk="0" fontAlgn="base" hangingPunct="0">
              <a:spcBef>
                <a:spcPct val="0"/>
              </a:spcBef>
              <a:spcAft>
                <a:spcPct val="0"/>
              </a:spcAft>
              <a:buClrTx/>
              <a:buSzTx/>
              <a:buFontTx/>
              <a:buChar char="•"/>
            </a:pPr>
            <a:endParaRPr lang="en-US" altLang="en-US" dirty="0">
              <a:latin typeface="Arial" panose="020B0604020202020204" pitchFamily="34" charset="0"/>
            </a:endParaRPr>
          </a:p>
          <a:p>
            <a:pPr marL="0" indent="0" defTabSz="914400" eaLnBrk="0" fontAlgn="base" hangingPunct="0">
              <a:spcBef>
                <a:spcPct val="0"/>
              </a:spcBef>
              <a:spcAft>
                <a:spcPct val="0"/>
              </a:spcAft>
              <a:buClrTx/>
              <a:buSzTx/>
              <a:buFontTx/>
              <a:buChar char="•"/>
            </a:pPr>
            <a:endParaRPr lang="en-US" altLang="en-US" dirty="0">
              <a:latin typeface="Arial" panose="020B0604020202020204" pitchFamily="34" charset="0"/>
            </a:endParaRPr>
          </a:p>
          <a:p>
            <a:pPr marL="0" indent="0" defTabSz="914400" eaLnBrk="0" fontAlgn="base" hangingPunct="0">
              <a:spcBef>
                <a:spcPct val="0"/>
              </a:spcBef>
              <a:spcAft>
                <a:spcPct val="0"/>
              </a:spcAft>
              <a:buClrTx/>
              <a:buSzTx/>
              <a:buFontTx/>
              <a:buChar char="•"/>
            </a:pPr>
            <a:r>
              <a:rPr lang="en-US" altLang="en-US" b="1" dirty="0">
                <a:solidFill>
                  <a:schemeClr val="accent1">
                    <a:lumMod val="40000"/>
                    <a:lumOff val="60000"/>
                  </a:schemeClr>
                </a:solidFill>
                <a:latin typeface="Arial" panose="020B0604020202020204" pitchFamily="34" charset="0"/>
              </a:rPr>
              <a:t>Importance of Early Detection</a:t>
            </a:r>
            <a:r>
              <a:rPr lang="en-US" altLang="en-US" b="1" dirty="0">
                <a:latin typeface="Arial" panose="020B0604020202020204" pitchFamily="34" charset="0"/>
              </a:rPr>
              <a:t>:</a:t>
            </a:r>
            <a:r>
              <a:rPr lang="en-US" altLang="en-US" dirty="0">
                <a:latin typeface="Arial" panose="020B0604020202020204" pitchFamily="34" charset="0"/>
              </a:rPr>
              <a:t> Early detection of brain tumors is crucial for successful treatment and improved patient outcomes. It allows for timely intervention, which can increase the chances of complete removal or effective management of the tumor. Early detection can also help prevent the tumor from spreading to other parts of the body. </a:t>
            </a:r>
          </a:p>
        </p:txBody>
      </p:sp>
      <p:sp>
        <p:nvSpPr>
          <p:cNvPr id="2" name="Date Placeholder 1">
            <a:extLst>
              <a:ext uri="{FF2B5EF4-FFF2-40B4-BE49-F238E27FC236}">
                <a16:creationId xmlns:a16="http://schemas.microsoft.com/office/drawing/2014/main" id="{45B0E3BA-8E97-466F-C5D3-6923812034F5}"/>
              </a:ext>
            </a:extLst>
          </p:cNvPr>
          <p:cNvSpPr>
            <a:spLocks noGrp="1"/>
          </p:cNvSpPr>
          <p:nvPr>
            <p:ph type="dt" sz="half" idx="10"/>
          </p:nvPr>
        </p:nvSpPr>
        <p:spPr/>
        <p:txBody>
          <a:bodyPr/>
          <a:lstStyle/>
          <a:p>
            <a:fld id="{5BBC5419-3885-4E92-9B48-CCD3368E541E}" type="datetime1">
              <a:rPr lang="en-US" smtClean="0"/>
              <a:t>12/22/2025</a:t>
            </a:fld>
            <a:endParaRPr lang="en-US"/>
          </a:p>
        </p:txBody>
      </p:sp>
      <p:sp>
        <p:nvSpPr>
          <p:cNvPr id="3" name="Slide Number Placeholder 2">
            <a:extLst>
              <a:ext uri="{FF2B5EF4-FFF2-40B4-BE49-F238E27FC236}">
                <a16:creationId xmlns:a16="http://schemas.microsoft.com/office/drawing/2014/main" id="{5D2DCACA-2F35-78B9-505B-2816CC1FF109}"/>
              </a:ext>
            </a:extLst>
          </p:cNvPr>
          <p:cNvSpPr>
            <a:spLocks noGrp="1"/>
          </p:cNvSpPr>
          <p:nvPr>
            <p:ph type="sldNum" sz="quarter" idx="12"/>
          </p:nvPr>
        </p:nvSpPr>
        <p:spPr/>
        <p:txBody>
          <a:bodyPr/>
          <a:lstStyle/>
          <a:p>
            <a:fld id="{40742BEA-48CF-4F32-AFB8-C9C4AAF5269A}" type="slidenum">
              <a:rPr lang="en-US" smtClean="0"/>
              <a:t>2</a:t>
            </a:fld>
            <a:endParaRPr lang="en-US"/>
          </a:p>
        </p:txBody>
      </p:sp>
    </p:spTree>
    <p:extLst>
      <p:ext uri="{BB962C8B-B14F-4D97-AF65-F5344CB8AC3E}">
        <p14:creationId xmlns:p14="http://schemas.microsoft.com/office/powerpoint/2010/main" val="2148178502"/>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B596FA5-7A94-428C-DD4D-2F8D33605B0C}"/>
              </a:ext>
            </a:extLst>
          </p:cNvPr>
          <p:cNvSpPr>
            <a:spLocks noGrp="1"/>
          </p:cNvSpPr>
          <p:nvPr>
            <p:ph type="title"/>
          </p:nvPr>
        </p:nvSpPr>
        <p:spPr>
          <a:xfrm>
            <a:off x="747348" y="304923"/>
            <a:ext cx="10131425" cy="1456267"/>
          </a:xfrm>
          <a:effectLst>
            <a:outerShdw blurRad="50800" dist="38100" dir="2700000" algn="tl" rotWithShape="0">
              <a:prstClr val="black">
                <a:alpha val="40000"/>
              </a:prstClr>
            </a:outerShdw>
          </a:effectLst>
        </p:spPr>
        <p:txBody>
          <a:bodyPr/>
          <a:lstStyle/>
          <a:p>
            <a:r>
              <a:rPr lang="en-US" dirty="0"/>
              <a:t>MRI pictures to show the difference between a normal brain and a brain with tumor</a:t>
            </a:r>
          </a:p>
        </p:txBody>
      </p:sp>
      <p:pic>
        <p:nvPicPr>
          <p:cNvPr id="5" name="Content Placeholder 4">
            <a:extLst>
              <a:ext uri="{FF2B5EF4-FFF2-40B4-BE49-F238E27FC236}">
                <a16:creationId xmlns:a16="http://schemas.microsoft.com/office/drawing/2014/main" id="{CAC69825-190A-F158-51E7-699939B0FBB5}"/>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716207" y="1863681"/>
            <a:ext cx="3717482" cy="2359678"/>
          </a:xfrm>
        </p:spPr>
      </p:pic>
      <p:sp>
        <p:nvSpPr>
          <p:cNvPr id="3" name="Date Placeholder 2">
            <a:extLst>
              <a:ext uri="{FF2B5EF4-FFF2-40B4-BE49-F238E27FC236}">
                <a16:creationId xmlns:a16="http://schemas.microsoft.com/office/drawing/2014/main" id="{AB5D703A-3DD4-4A58-8830-48DBFC257CD9}"/>
              </a:ext>
            </a:extLst>
          </p:cNvPr>
          <p:cNvSpPr>
            <a:spLocks noGrp="1"/>
          </p:cNvSpPr>
          <p:nvPr>
            <p:ph type="dt" sz="half" idx="10"/>
          </p:nvPr>
        </p:nvSpPr>
        <p:spPr/>
        <p:txBody>
          <a:bodyPr/>
          <a:lstStyle/>
          <a:p>
            <a:fld id="{0D745F7C-264B-4398-B427-1F5608F08554}" type="datetime1">
              <a:rPr lang="en-US" smtClean="0"/>
              <a:t>12/22/2025</a:t>
            </a:fld>
            <a:endParaRPr lang="en-US"/>
          </a:p>
        </p:txBody>
      </p:sp>
      <p:sp>
        <p:nvSpPr>
          <p:cNvPr id="4" name="Slide Number Placeholder 3">
            <a:extLst>
              <a:ext uri="{FF2B5EF4-FFF2-40B4-BE49-F238E27FC236}">
                <a16:creationId xmlns:a16="http://schemas.microsoft.com/office/drawing/2014/main" id="{B4656E53-527C-B500-CBD3-67E090FEA8D5}"/>
              </a:ext>
            </a:extLst>
          </p:cNvPr>
          <p:cNvSpPr>
            <a:spLocks noGrp="1"/>
          </p:cNvSpPr>
          <p:nvPr>
            <p:ph type="sldNum" sz="quarter" idx="12"/>
          </p:nvPr>
        </p:nvSpPr>
        <p:spPr/>
        <p:txBody>
          <a:bodyPr/>
          <a:lstStyle/>
          <a:p>
            <a:fld id="{40742BEA-48CF-4F32-AFB8-C9C4AAF5269A}" type="slidenum">
              <a:rPr lang="en-US" smtClean="0"/>
              <a:t>3</a:t>
            </a:fld>
            <a:endParaRPr lang="en-US"/>
          </a:p>
        </p:txBody>
      </p:sp>
      <p:pic>
        <p:nvPicPr>
          <p:cNvPr id="7" name="Picture 6">
            <a:extLst>
              <a:ext uri="{FF2B5EF4-FFF2-40B4-BE49-F238E27FC236}">
                <a16:creationId xmlns:a16="http://schemas.microsoft.com/office/drawing/2014/main" id="{83C103AF-BCA1-AE10-DBB6-3856840A83AD}"/>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4663192" y="2596232"/>
            <a:ext cx="6543500" cy="3254254"/>
          </a:xfrm>
          <a:prstGeom prst="rect">
            <a:avLst/>
          </a:prstGeom>
        </p:spPr>
      </p:pic>
      <p:pic>
        <p:nvPicPr>
          <p:cNvPr id="9" name="Picture 8">
            <a:extLst>
              <a:ext uri="{FF2B5EF4-FFF2-40B4-BE49-F238E27FC236}">
                <a16:creationId xmlns:a16="http://schemas.microsoft.com/office/drawing/2014/main" id="{41A5A8E2-B103-BBE9-9638-8D55A2CC6A8D}"/>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677305" y="4404659"/>
            <a:ext cx="3764880" cy="2359678"/>
          </a:xfrm>
          <a:prstGeom prst="rect">
            <a:avLst/>
          </a:prstGeom>
        </p:spPr>
      </p:pic>
    </p:spTree>
    <p:extLst>
      <p:ext uri="{BB962C8B-B14F-4D97-AF65-F5344CB8AC3E}">
        <p14:creationId xmlns:p14="http://schemas.microsoft.com/office/powerpoint/2010/main" val="3273176167"/>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189936C-92B1-F411-4CDB-A343AC87EEA7}"/>
              </a:ext>
            </a:extLst>
          </p:cNvPr>
          <p:cNvSpPr>
            <a:spLocks noGrp="1"/>
          </p:cNvSpPr>
          <p:nvPr>
            <p:ph type="title"/>
          </p:nvPr>
        </p:nvSpPr>
        <p:spPr/>
        <p:txBody>
          <a:bodyPr/>
          <a:lstStyle/>
          <a:p>
            <a:r>
              <a:rPr lang="en-US" dirty="0">
                <a:solidFill>
                  <a:schemeClr val="accent1">
                    <a:lumMod val="40000"/>
                    <a:lumOff val="60000"/>
                  </a:schemeClr>
                </a:solidFill>
              </a:rPr>
              <a:t>Project goals</a:t>
            </a:r>
          </a:p>
        </p:txBody>
      </p:sp>
      <p:sp>
        <p:nvSpPr>
          <p:cNvPr id="4" name="Rectangle 1">
            <a:extLst>
              <a:ext uri="{FF2B5EF4-FFF2-40B4-BE49-F238E27FC236}">
                <a16:creationId xmlns:a16="http://schemas.microsoft.com/office/drawing/2014/main" id="{88527B5D-93BF-56FD-6602-4EF8BA9D284E}"/>
              </a:ext>
            </a:extLst>
          </p:cNvPr>
          <p:cNvSpPr>
            <a:spLocks noGrp="1" noChangeArrowheads="1"/>
          </p:cNvSpPr>
          <p:nvPr>
            <p:ph idx="1"/>
          </p:nvPr>
        </p:nvSpPr>
        <p:spPr bwMode="auto">
          <a:xfrm>
            <a:off x="685802" y="1871041"/>
            <a:ext cx="9713258" cy="452431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rtlCol="0" anchor="ctr" anchorCtr="0" compatLnSpc="1">
            <a:prstTxWarp prst="textNoShape">
              <a:avLst/>
            </a:prstTxWarp>
            <a:spAutoFit/>
          </a:bodyPr>
          <a:lstStyle/>
          <a:p>
            <a:pPr marL="0" indent="0" defTabSz="914400" eaLnBrk="0" fontAlgn="base" hangingPunct="0">
              <a:spcBef>
                <a:spcPct val="0"/>
              </a:spcBef>
              <a:spcAft>
                <a:spcPct val="0"/>
              </a:spcAft>
              <a:buClrTx/>
              <a:buSzTx/>
              <a:buNone/>
            </a:pPr>
            <a:r>
              <a:rPr lang="en-US" altLang="en-US" dirty="0">
                <a:latin typeface="Arial" panose="020B0604020202020204" pitchFamily="34" charset="0"/>
              </a:rPr>
              <a:t>This project aims to develop a robust and accurate AI-powered system capable of detecting brain tumors from MRI images. By harnessing the power of machine learning and deep learning algorithms, we seek to:</a:t>
            </a:r>
          </a:p>
          <a:p>
            <a:pPr marL="0" indent="0" defTabSz="914400" eaLnBrk="0" fontAlgn="base" hangingPunct="0">
              <a:spcBef>
                <a:spcPct val="0"/>
              </a:spcBef>
              <a:spcAft>
                <a:spcPct val="0"/>
              </a:spcAft>
              <a:buClrTx/>
              <a:buSzTx/>
              <a:buNone/>
            </a:pPr>
            <a:endParaRPr lang="en-US" altLang="en-US" dirty="0">
              <a:latin typeface="Arial" panose="020B0604020202020204" pitchFamily="34" charset="0"/>
            </a:endParaRPr>
          </a:p>
          <a:p>
            <a:pPr marL="0" indent="0" defTabSz="914400" eaLnBrk="0" fontAlgn="base" hangingPunct="0">
              <a:spcBef>
                <a:spcPct val="0"/>
              </a:spcBef>
              <a:spcAft>
                <a:spcPct val="0"/>
              </a:spcAft>
              <a:buClrTx/>
              <a:buSzTx/>
              <a:buFontTx/>
              <a:buChar char="•"/>
            </a:pPr>
            <a:r>
              <a:rPr lang="en-US" altLang="en-US" b="1" dirty="0">
                <a:solidFill>
                  <a:schemeClr val="accent1">
                    <a:lumMod val="60000"/>
                    <a:lumOff val="40000"/>
                  </a:schemeClr>
                </a:solidFill>
                <a:latin typeface="Arial" panose="020B0604020202020204" pitchFamily="34" charset="0"/>
              </a:rPr>
              <a:t>Improve Early Detection:</a:t>
            </a:r>
            <a:r>
              <a:rPr lang="en-US" altLang="en-US" dirty="0">
                <a:solidFill>
                  <a:schemeClr val="accent1">
                    <a:lumMod val="60000"/>
                    <a:lumOff val="40000"/>
                  </a:schemeClr>
                </a:solidFill>
                <a:latin typeface="Arial" panose="020B0604020202020204" pitchFamily="34" charset="0"/>
              </a:rPr>
              <a:t> </a:t>
            </a:r>
            <a:r>
              <a:rPr lang="en-US" altLang="en-US" dirty="0">
                <a:latin typeface="Arial" panose="020B0604020202020204" pitchFamily="34" charset="0"/>
              </a:rPr>
              <a:t>Enhance the ability to identify brain tumors at an early stage, when treatment options are often more effective. </a:t>
            </a:r>
          </a:p>
          <a:p>
            <a:pPr marL="0" indent="0" defTabSz="914400" eaLnBrk="0" fontAlgn="base" hangingPunct="0">
              <a:spcBef>
                <a:spcPct val="0"/>
              </a:spcBef>
              <a:spcAft>
                <a:spcPct val="0"/>
              </a:spcAft>
              <a:buClrTx/>
              <a:buSzTx/>
              <a:buFontTx/>
              <a:buChar char="•"/>
            </a:pPr>
            <a:endParaRPr lang="en-US" altLang="en-US" dirty="0">
              <a:latin typeface="Arial" panose="020B0604020202020204" pitchFamily="34" charset="0"/>
            </a:endParaRPr>
          </a:p>
          <a:p>
            <a:pPr marL="0" indent="0" defTabSz="914400" eaLnBrk="0" fontAlgn="base" hangingPunct="0">
              <a:spcBef>
                <a:spcPct val="0"/>
              </a:spcBef>
              <a:spcAft>
                <a:spcPct val="0"/>
              </a:spcAft>
              <a:buClrTx/>
              <a:buSzTx/>
              <a:buFontTx/>
              <a:buChar char="•"/>
            </a:pPr>
            <a:r>
              <a:rPr lang="en-US" altLang="en-US" b="1" dirty="0">
                <a:solidFill>
                  <a:schemeClr val="accent1">
                    <a:lumMod val="60000"/>
                    <a:lumOff val="40000"/>
                  </a:schemeClr>
                </a:solidFill>
                <a:latin typeface="Arial" panose="020B0604020202020204" pitchFamily="34" charset="0"/>
              </a:rPr>
              <a:t>Assist Medical Professionals:</a:t>
            </a:r>
            <a:r>
              <a:rPr lang="en-US" altLang="en-US" dirty="0">
                <a:solidFill>
                  <a:schemeClr val="accent1">
                    <a:lumMod val="60000"/>
                    <a:lumOff val="40000"/>
                  </a:schemeClr>
                </a:solidFill>
                <a:latin typeface="Arial" panose="020B0604020202020204" pitchFamily="34" charset="0"/>
              </a:rPr>
              <a:t> </a:t>
            </a:r>
            <a:r>
              <a:rPr lang="en-US" altLang="en-US" dirty="0">
                <a:latin typeface="Arial" panose="020B0604020202020204" pitchFamily="34" charset="0"/>
              </a:rPr>
              <a:t>Provide a valuable tool to aid radiologists and other healthcare professionals in diagnosing brain tumors more efficiently and accurately. </a:t>
            </a:r>
          </a:p>
          <a:p>
            <a:pPr marL="0" indent="0" defTabSz="914400" eaLnBrk="0" fontAlgn="base" hangingPunct="0">
              <a:spcBef>
                <a:spcPct val="0"/>
              </a:spcBef>
              <a:spcAft>
                <a:spcPct val="0"/>
              </a:spcAft>
              <a:buClrTx/>
              <a:buSzTx/>
              <a:buFontTx/>
              <a:buChar char="•"/>
            </a:pPr>
            <a:endParaRPr lang="en-US" altLang="en-US" dirty="0">
              <a:latin typeface="Arial" panose="020B0604020202020204" pitchFamily="34" charset="0"/>
            </a:endParaRPr>
          </a:p>
          <a:p>
            <a:pPr marL="0" indent="0" defTabSz="914400" eaLnBrk="0" fontAlgn="base" hangingPunct="0">
              <a:spcBef>
                <a:spcPct val="0"/>
              </a:spcBef>
              <a:spcAft>
                <a:spcPct val="0"/>
              </a:spcAft>
              <a:buClrTx/>
              <a:buSzTx/>
              <a:buFontTx/>
              <a:buChar char="•"/>
            </a:pPr>
            <a:r>
              <a:rPr lang="en-US" altLang="en-US" b="1" dirty="0">
                <a:solidFill>
                  <a:schemeClr val="accent1">
                    <a:lumMod val="60000"/>
                    <a:lumOff val="40000"/>
                  </a:schemeClr>
                </a:solidFill>
                <a:latin typeface="Arial" panose="020B0604020202020204" pitchFamily="34" charset="0"/>
              </a:rPr>
              <a:t>Enhance Patient Outcomes</a:t>
            </a:r>
            <a:r>
              <a:rPr lang="en-US" altLang="en-US" b="1" dirty="0">
                <a:latin typeface="Arial" panose="020B0604020202020204" pitchFamily="34" charset="0"/>
              </a:rPr>
              <a:t>:</a:t>
            </a:r>
            <a:r>
              <a:rPr lang="en-US" altLang="en-US" dirty="0">
                <a:latin typeface="Arial" panose="020B0604020202020204" pitchFamily="34" charset="0"/>
              </a:rPr>
              <a:t> Improve patient prognosis by enabling earlier intervention and more targeted treatment plans. </a:t>
            </a:r>
          </a:p>
          <a:p>
            <a:pPr marL="0" indent="0" defTabSz="914400" eaLnBrk="0" fontAlgn="base" hangingPunct="0">
              <a:spcBef>
                <a:spcPct val="0"/>
              </a:spcBef>
              <a:spcAft>
                <a:spcPct val="0"/>
              </a:spcAft>
              <a:buClrTx/>
              <a:buSzTx/>
              <a:buFontTx/>
              <a:buChar char="•"/>
            </a:pPr>
            <a:endParaRPr lang="en-US" altLang="en-US" dirty="0">
              <a:latin typeface="Arial" panose="020B0604020202020204" pitchFamily="34" charset="0"/>
            </a:endParaRPr>
          </a:p>
          <a:p>
            <a:pPr marL="0" indent="0" defTabSz="914400" eaLnBrk="0" fontAlgn="base" hangingPunct="0">
              <a:spcBef>
                <a:spcPct val="0"/>
              </a:spcBef>
              <a:spcAft>
                <a:spcPct val="0"/>
              </a:spcAft>
              <a:buClrTx/>
              <a:buSzTx/>
              <a:buFontTx/>
              <a:buChar char="•"/>
            </a:pPr>
            <a:r>
              <a:rPr lang="en-US" altLang="en-US" b="1" dirty="0">
                <a:solidFill>
                  <a:schemeClr val="accent1">
                    <a:lumMod val="60000"/>
                    <a:lumOff val="40000"/>
                  </a:schemeClr>
                </a:solidFill>
                <a:latin typeface="Arial" panose="020B0604020202020204" pitchFamily="34" charset="0"/>
              </a:rPr>
              <a:t>Advance Medical Research:</a:t>
            </a:r>
            <a:r>
              <a:rPr lang="en-US" altLang="en-US" dirty="0">
                <a:solidFill>
                  <a:schemeClr val="accent1">
                    <a:lumMod val="60000"/>
                    <a:lumOff val="40000"/>
                  </a:schemeClr>
                </a:solidFill>
                <a:latin typeface="Arial" panose="020B0604020202020204" pitchFamily="34" charset="0"/>
              </a:rPr>
              <a:t> </a:t>
            </a:r>
            <a:r>
              <a:rPr lang="en-US" altLang="en-US" dirty="0">
                <a:latin typeface="Arial" panose="020B0604020202020204" pitchFamily="34" charset="0"/>
              </a:rPr>
              <a:t>Contribute to the advancement of medical imaging and AI applications in the field of oncology. </a:t>
            </a:r>
          </a:p>
          <a:p>
            <a:pPr marL="0" indent="0" defTabSz="914400" eaLnBrk="0" fontAlgn="base" hangingPunct="0">
              <a:spcBef>
                <a:spcPct val="0"/>
              </a:spcBef>
              <a:spcAft>
                <a:spcPct val="0"/>
              </a:spcAft>
              <a:buClrTx/>
              <a:buSzTx/>
              <a:buNone/>
            </a:pPr>
            <a:r>
              <a:rPr lang="en-US" altLang="en-US" dirty="0">
                <a:latin typeface="Arial" panose="020B0604020202020204" pitchFamily="34" charset="0"/>
              </a:rPr>
              <a:t>.</a:t>
            </a:r>
          </a:p>
        </p:txBody>
      </p:sp>
      <p:sp>
        <p:nvSpPr>
          <p:cNvPr id="5" name="Date Placeholder 4">
            <a:extLst>
              <a:ext uri="{FF2B5EF4-FFF2-40B4-BE49-F238E27FC236}">
                <a16:creationId xmlns:a16="http://schemas.microsoft.com/office/drawing/2014/main" id="{86BACE60-2160-D865-19A5-7A0B9F970551}"/>
              </a:ext>
            </a:extLst>
          </p:cNvPr>
          <p:cNvSpPr>
            <a:spLocks noGrp="1"/>
          </p:cNvSpPr>
          <p:nvPr>
            <p:ph type="dt" sz="half" idx="10"/>
          </p:nvPr>
        </p:nvSpPr>
        <p:spPr/>
        <p:txBody>
          <a:bodyPr/>
          <a:lstStyle/>
          <a:p>
            <a:fld id="{3896223A-3FCA-4113-A9F7-998DB9BBDA66}" type="datetime1">
              <a:rPr lang="en-US" smtClean="0"/>
              <a:t>12/22/2025</a:t>
            </a:fld>
            <a:endParaRPr lang="en-US"/>
          </a:p>
        </p:txBody>
      </p:sp>
      <p:sp>
        <p:nvSpPr>
          <p:cNvPr id="6" name="Slide Number Placeholder 5">
            <a:extLst>
              <a:ext uri="{FF2B5EF4-FFF2-40B4-BE49-F238E27FC236}">
                <a16:creationId xmlns:a16="http://schemas.microsoft.com/office/drawing/2014/main" id="{EBC301B9-D34B-493B-67B6-2519429727F6}"/>
              </a:ext>
            </a:extLst>
          </p:cNvPr>
          <p:cNvSpPr>
            <a:spLocks noGrp="1"/>
          </p:cNvSpPr>
          <p:nvPr>
            <p:ph type="sldNum" sz="quarter" idx="12"/>
          </p:nvPr>
        </p:nvSpPr>
        <p:spPr/>
        <p:txBody>
          <a:bodyPr/>
          <a:lstStyle/>
          <a:p>
            <a:fld id="{40742BEA-48CF-4F32-AFB8-C9C4AAF5269A}" type="slidenum">
              <a:rPr lang="en-US" smtClean="0"/>
              <a:t>4</a:t>
            </a:fld>
            <a:endParaRPr lang="en-US"/>
          </a:p>
        </p:txBody>
      </p:sp>
    </p:spTree>
    <p:extLst>
      <p:ext uri="{BB962C8B-B14F-4D97-AF65-F5344CB8AC3E}">
        <p14:creationId xmlns:p14="http://schemas.microsoft.com/office/powerpoint/2010/main" val="3651181110"/>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3D60F70-8345-8F59-C08B-86497E8BD3FA}"/>
              </a:ext>
            </a:extLst>
          </p:cNvPr>
          <p:cNvSpPr>
            <a:spLocks noGrp="1"/>
          </p:cNvSpPr>
          <p:nvPr>
            <p:ph type="title"/>
          </p:nvPr>
        </p:nvSpPr>
        <p:spPr/>
        <p:txBody>
          <a:bodyPr/>
          <a:lstStyle/>
          <a:p>
            <a:r>
              <a:rPr lang="en-US" dirty="0">
                <a:solidFill>
                  <a:schemeClr val="accent1">
                    <a:lumMod val="40000"/>
                    <a:lumOff val="60000"/>
                  </a:schemeClr>
                </a:solidFill>
              </a:rPr>
              <a:t>Project goals</a:t>
            </a:r>
          </a:p>
        </p:txBody>
      </p:sp>
      <p:sp>
        <p:nvSpPr>
          <p:cNvPr id="3" name="Content Placeholder 2">
            <a:extLst>
              <a:ext uri="{FF2B5EF4-FFF2-40B4-BE49-F238E27FC236}">
                <a16:creationId xmlns:a16="http://schemas.microsoft.com/office/drawing/2014/main" id="{4E070AE2-B0F2-A047-3F16-5384CA561BDD}"/>
              </a:ext>
            </a:extLst>
          </p:cNvPr>
          <p:cNvSpPr>
            <a:spLocks noGrp="1"/>
          </p:cNvSpPr>
          <p:nvPr>
            <p:ph idx="1"/>
          </p:nvPr>
        </p:nvSpPr>
        <p:spPr/>
        <p:txBody>
          <a:bodyPr>
            <a:normAutofit/>
          </a:bodyPr>
          <a:lstStyle/>
          <a:p>
            <a:pPr marL="0" indent="0" defTabSz="914400" eaLnBrk="0" fontAlgn="base" hangingPunct="0">
              <a:spcBef>
                <a:spcPct val="0"/>
              </a:spcBef>
              <a:spcAft>
                <a:spcPct val="0"/>
              </a:spcAft>
              <a:buClrTx/>
              <a:buSzTx/>
              <a:buNone/>
            </a:pPr>
            <a:r>
              <a:rPr lang="en-US" altLang="en-US" b="1" dirty="0">
                <a:solidFill>
                  <a:schemeClr val="accent1">
                    <a:lumMod val="40000"/>
                    <a:lumOff val="60000"/>
                  </a:schemeClr>
                </a:solidFill>
                <a:latin typeface="Arial" panose="020B0604020202020204" pitchFamily="34" charset="0"/>
              </a:rPr>
              <a:t>Specific Objectives:</a:t>
            </a:r>
            <a:endParaRPr lang="en-US" altLang="en-US" dirty="0">
              <a:solidFill>
                <a:schemeClr val="accent1">
                  <a:lumMod val="40000"/>
                  <a:lumOff val="60000"/>
                </a:schemeClr>
              </a:solidFill>
              <a:latin typeface="Arial" panose="020B0604020202020204" pitchFamily="34" charset="0"/>
            </a:endParaRPr>
          </a:p>
          <a:p>
            <a:pPr marL="0" indent="0" defTabSz="914400" eaLnBrk="0" fontAlgn="base" hangingPunct="0">
              <a:spcBef>
                <a:spcPct val="0"/>
              </a:spcBef>
              <a:spcAft>
                <a:spcPct val="0"/>
              </a:spcAft>
              <a:buClrTx/>
              <a:buSzTx/>
              <a:buFontTx/>
              <a:buChar char="•"/>
            </a:pPr>
            <a:r>
              <a:rPr lang="en-US" altLang="en-US" dirty="0">
                <a:latin typeface="Arial" panose="020B0604020202020204" pitchFamily="34" charset="0"/>
              </a:rPr>
              <a:t>Develop a deep learning model that can accurately classify MRI images as containing or not containing brain tumors. </a:t>
            </a:r>
          </a:p>
          <a:p>
            <a:pPr marL="0" indent="0" defTabSz="914400" eaLnBrk="0" fontAlgn="base" hangingPunct="0">
              <a:spcBef>
                <a:spcPct val="0"/>
              </a:spcBef>
              <a:spcAft>
                <a:spcPct val="0"/>
              </a:spcAft>
              <a:buClrTx/>
              <a:buSzTx/>
              <a:buFontTx/>
              <a:buChar char="•"/>
            </a:pPr>
            <a:endParaRPr lang="en-US" altLang="en-US" dirty="0">
              <a:latin typeface="Arial" panose="020B0604020202020204" pitchFamily="34" charset="0"/>
            </a:endParaRPr>
          </a:p>
          <a:p>
            <a:pPr marL="0" indent="0" defTabSz="914400" eaLnBrk="0" fontAlgn="base" hangingPunct="0">
              <a:spcBef>
                <a:spcPct val="0"/>
              </a:spcBef>
              <a:spcAft>
                <a:spcPct val="0"/>
              </a:spcAft>
              <a:buClrTx/>
              <a:buSzTx/>
              <a:buFontTx/>
              <a:buChar char="•"/>
            </a:pPr>
            <a:r>
              <a:rPr lang="en-US" altLang="en-US" dirty="0">
                <a:latin typeface="Arial" panose="020B0604020202020204" pitchFamily="34" charset="0"/>
              </a:rPr>
              <a:t>Implement data augmentation techniques to address the potential scarcity of labeled MRI images. </a:t>
            </a:r>
          </a:p>
          <a:p>
            <a:pPr marL="0" indent="0" defTabSz="914400" eaLnBrk="0" fontAlgn="base" hangingPunct="0">
              <a:spcBef>
                <a:spcPct val="0"/>
              </a:spcBef>
              <a:spcAft>
                <a:spcPct val="0"/>
              </a:spcAft>
              <a:buClrTx/>
              <a:buSzTx/>
              <a:buFontTx/>
              <a:buChar char="•"/>
            </a:pPr>
            <a:endParaRPr lang="en-US" altLang="en-US" dirty="0">
              <a:latin typeface="Arial" panose="020B0604020202020204" pitchFamily="34" charset="0"/>
            </a:endParaRPr>
          </a:p>
          <a:p>
            <a:pPr marL="0" indent="0" defTabSz="914400" eaLnBrk="0" fontAlgn="base" hangingPunct="0">
              <a:spcBef>
                <a:spcPct val="0"/>
              </a:spcBef>
              <a:spcAft>
                <a:spcPct val="0"/>
              </a:spcAft>
              <a:buClrTx/>
              <a:buSzTx/>
              <a:buFontTx/>
              <a:buChar char="•"/>
            </a:pPr>
            <a:r>
              <a:rPr lang="en-US" altLang="en-US" dirty="0">
                <a:latin typeface="Arial" panose="020B0604020202020204" pitchFamily="34" charset="0"/>
              </a:rPr>
              <a:t>Evaluate the model's performance using relevant metrics, such as accuracy, precision, recall, F1-score </a:t>
            </a:r>
          </a:p>
          <a:p>
            <a:pPr marL="0" indent="0" defTabSz="914400" eaLnBrk="0" fontAlgn="base" hangingPunct="0">
              <a:spcBef>
                <a:spcPct val="0"/>
              </a:spcBef>
              <a:spcAft>
                <a:spcPct val="0"/>
              </a:spcAft>
              <a:buClrTx/>
              <a:buSzTx/>
              <a:buNone/>
            </a:pPr>
            <a:endParaRPr lang="en-US" altLang="en-US" dirty="0">
              <a:latin typeface="Arial" panose="020B0604020202020204" pitchFamily="34" charset="0"/>
            </a:endParaRPr>
          </a:p>
          <a:p>
            <a:pPr marL="0" indent="0" defTabSz="914400" eaLnBrk="0" fontAlgn="base" hangingPunct="0">
              <a:spcBef>
                <a:spcPct val="0"/>
              </a:spcBef>
              <a:spcAft>
                <a:spcPct val="0"/>
              </a:spcAft>
              <a:buClrTx/>
              <a:buSzTx/>
              <a:buFontTx/>
              <a:buChar char="•"/>
            </a:pPr>
            <a:r>
              <a:rPr lang="en-US" altLang="en-US" dirty="0">
                <a:latin typeface="Arial" panose="020B0604020202020204" pitchFamily="34" charset="0"/>
              </a:rPr>
              <a:t>Consider ethical implications and potential biases in the model's predictions. </a:t>
            </a:r>
          </a:p>
          <a:p>
            <a:pPr marL="0" indent="0" defTabSz="914400" eaLnBrk="0" fontAlgn="base" hangingPunct="0">
              <a:spcBef>
                <a:spcPct val="0"/>
              </a:spcBef>
              <a:spcAft>
                <a:spcPct val="0"/>
              </a:spcAft>
              <a:buClrTx/>
              <a:buSzTx/>
              <a:buFontTx/>
              <a:buChar char="•"/>
            </a:pPr>
            <a:endParaRPr lang="en-US" altLang="en-US" dirty="0">
              <a:latin typeface="Arial" panose="020B0604020202020204" pitchFamily="34" charset="0"/>
            </a:endParaRPr>
          </a:p>
          <a:p>
            <a:pPr marL="0" indent="0" defTabSz="914400" eaLnBrk="0" fontAlgn="base" hangingPunct="0">
              <a:spcBef>
                <a:spcPct val="0"/>
              </a:spcBef>
              <a:spcAft>
                <a:spcPct val="0"/>
              </a:spcAft>
              <a:buClrTx/>
              <a:buSzTx/>
              <a:buNone/>
            </a:pPr>
            <a:r>
              <a:rPr lang="en-US" altLang="en-US" dirty="0">
                <a:latin typeface="Arial" panose="020B0604020202020204" pitchFamily="34" charset="0"/>
              </a:rPr>
              <a:t>By achieving these goals, this project will contribute to improving the diagnosis and treatment of brain tumors, ultimately benefiting patients and advancing the field of medical imaging</a:t>
            </a:r>
            <a:endParaRPr lang="en-US" dirty="0"/>
          </a:p>
        </p:txBody>
      </p:sp>
      <p:sp>
        <p:nvSpPr>
          <p:cNvPr id="4" name="Date Placeholder 3">
            <a:extLst>
              <a:ext uri="{FF2B5EF4-FFF2-40B4-BE49-F238E27FC236}">
                <a16:creationId xmlns:a16="http://schemas.microsoft.com/office/drawing/2014/main" id="{FA38EFF1-BD2D-10A4-1F02-F3116040326C}"/>
              </a:ext>
            </a:extLst>
          </p:cNvPr>
          <p:cNvSpPr>
            <a:spLocks noGrp="1"/>
          </p:cNvSpPr>
          <p:nvPr>
            <p:ph type="dt" sz="half" idx="10"/>
          </p:nvPr>
        </p:nvSpPr>
        <p:spPr/>
        <p:txBody>
          <a:bodyPr/>
          <a:lstStyle/>
          <a:p>
            <a:fld id="{747D3091-8807-4433-8A7C-0E3DB9C9DED8}" type="datetime1">
              <a:rPr lang="en-US" smtClean="0"/>
              <a:t>12/22/2025</a:t>
            </a:fld>
            <a:endParaRPr lang="en-US"/>
          </a:p>
        </p:txBody>
      </p:sp>
      <p:sp>
        <p:nvSpPr>
          <p:cNvPr id="5" name="Slide Number Placeholder 4">
            <a:extLst>
              <a:ext uri="{FF2B5EF4-FFF2-40B4-BE49-F238E27FC236}">
                <a16:creationId xmlns:a16="http://schemas.microsoft.com/office/drawing/2014/main" id="{680548AE-1C24-7BF9-32FA-A62EB0B3C2D4}"/>
              </a:ext>
            </a:extLst>
          </p:cNvPr>
          <p:cNvSpPr>
            <a:spLocks noGrp="1"/>
          </p:cNvSpPr>
          <p:nvPr>
            <p:ph type="sldNum" sz="quarter" idx="12"/>
          </p:nvPr>
        </p:nvSpPr>
        <p:spPr/>
        <p:txBody>
          <a:bodyPr/>
          <a:lstStyle/>
          <a:p>
            <a:fld id="{40742BEA-48CF-4F32-AFB8-C9C4AAF5269A}" type="slidenum">
              <a:rPr lang="en-US" smtClean="0"/>
              <a:t>5</a:t>
            </a:fld>
            <a:endParaRPr lang="en-US"/>
          </a:p>
        </p:txBody>
      </p:sp>
    </p:spTree>
    <p:extLst>
      <p:ext uri="{BB962C8B-B14F-4D97-AF65-F5344CB8AC3E}">
        <p14:creationId xmlns:p14="http://schemas.microsoft.com/office/powerpoint/2010/main" val="716014290"/>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6" name="Content Placeholder 5">
            <a:extLst>
              <a:ext uri="{FF2B5EF4-FFF2-40B4-BE49-F238E27FC236}">
                <a16:creationId xmlns:a16="http://schemas.microsoft.com/office/drawing/2014/main" id="{F795513A-7D05-B6FC-9968-FC7C6DDCCF29}"/>
              </a:ext>
            </a:extLst>
          </p:cNvPr>
          <p:cNvGraphicFramePr>
            <a:graphicFrameLocks noGrp="1"/>
          </p:cNvGraphicFramePr>
          <p:nvPr>
            <p:ph idx="1"/>
            <p:extLst>
              <p:ext uri="{D42A27DB-BD31-4B8C-83A1-F6EECF244321}">
                <p14:modId xmlns:p14="http://schemas.microsoft.com/office/powerpoint/2010/main" val="3237911775"/>
              </p:ext>
            </p:extLst>
          </p:nvPr>
        </p:nvGraphicFramePr>
        <p:xfrm>
          <a:off x="279918" y="1258585"/>
          <a:ext cx="11632164" cy="4843009"/>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4" name="Date Placeholder 3">
            <a:extLst>
              <a:ext uri="{FF2B5EF4-FFF2-40B4-BE49-F238E27FC236}">
                <a16:creationId xmlns:a16="http://schemas.microsoft.com/office/drawing/2014/main" id="{AF6D47BB-D352-7F9D-A4CC-074BC020AD1E}"/>
              </a:ext>
            </a:extLst>
          </p:cNvPr>
          <p:cNvSpPr>
            <a:spLocks noGrp="1"/>
          </p:cNvSpPr>
          <p:nvPr>
            <p:ph type="dt" sz="half" idx="10"/>
          </p:nvPr>
        </p:nvSpPr>
        <p:spPr/>
        <p:txBody>
          <a:bodyPr/>
          <a:lstStyle/>
          <a:p>
            <a:fld id="{DF06F12F-02D3-425D-BF4C-BBE4220292D9}" type="datetime1">
              <a:rPr lang="en-US" smtClean="0"/>
              <a:t>12/22/2025</a:t>
            </a:fld>
            <a:endParaRPr lang="en-US"/>
          </a:p>
        </p:txBody>
      </p:sp>
      <p:sp>
        <p:nvSpPr>
          <p:cNvPr id="5" name="Slide Number Placeholder 4">
            <a:extLst>
              <a:ext uri="{FF2B5EF4-FFF2-40B4-BE49-F238E27FC236}">
                <a16:creationId xmlns:a16="http://schemas.microsoft.com/office/drawing/2014/main" id="{A31A3C84-EF63-ABCF-9070-7E131E3D27F4}"/>
              </a:ext>
            </a:extLst>
          </p:cNvPr>
          <p:cNvSpPr>
            <a:spLocks noGrp="1"/>
          </p:cNvSpPr>
          <p:nvPr>
            <p:ph type="sldNum" sz="quarter" idx="12"/>
          </p:nvPr>
        </p:nvSpPr>
        <p:spPr/>
        <p:txBody>
          <a:bodyPr/>
          <a:lstStyle/>
          <a:p>
            <a:fld id="{40742BEA-48CF-4F32-AFB8-C9C4AAF5269A}" type="slidenum">
              <a:rPr lang="en-US" smtClean="0"/>
              <a:t>6</a:t>
            </a:fld>
            <a:endParaRPr lang="en-US"/>
          </a:p>
        </p:txBody>
      </p:sp>
    </p:spTree>
    <p:extLst>
      <p:ext uri="{BB962C8B-B14F-4D97-AF65-F5344CB8AC3E}">
        <p14:creationId xmlns:p14="http://schemas.microsoft.com/office/powerpoint/2010/main" val="3078204096"/>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Date Placeholder 5">
            <a:extLst>
              <a:ext uri="{FF2B5EF4-FFF2-40B4-BE49-F238E27FC236}">
                <a16:creationId xmlns:a16="http://schemas.microsoft.com/office/drawing/2014/main" id="{2FC44CA1-2DAE-1A90-C9B1-7B5AA2E35D1C}"/>
              </a:ext>
            </a:extLst>
          </p:cNvPr>
          <p:cNvSpPr>
            <a:spLocks noGrp="1"/>
          </p:cNvSpPr>
          <p:nvPr>
            <p:ph type="dt" sz="half" idx="10"/>
          </p:nvPr>
        </p:nvSpPr>
        <p:spPr/>
        <p:txBody>
          <a:bodyPr/>
          <a:lstStyle/>
          <a:p>
            <a:fld id="{680BBC74-A4A0-4703-8585-4211D155C56C}" type="datetime1">
              <a:rPr lang="en-US" smtClean="0"/>
              <a:t>12/22/2025</a:t>
            </a:fld>
            <a:endParaRPr lang="en-US"/>
          </a:p>
        </p:txBody>
      </p:sp>
      <p:sp>
        <p:nvSpPr>
          <p:cNvPr id="7" name="Slide Number Placeholder 6">
            <a:extLst>
              <a:ext uri="{FF2B5EF4-FFF2-40B4-BE49-F238E27FC236}">
                <a16:creationId xmlns:a16="http://schemas.microsoft.com/office/drawing/2014/main" id="{50AF2471-45AA-A304-E03F-C0AFEF2BD4CE}"/>
              </a:ext>
            </a:extLst>
          </p:cNvPr>
          <p:cNvSpPr>
            <a:spLocks noGrp="1"/>
          </p:cNvSpPr>
          <p:nvPr>
            <p:ph type="sldNum" sz="quarter" idx="12"/>
          </p:nvPr>
        </p:nvSpPr>
        <p:spPr/>
        <p:txBody>
          <a:bodyPr/>
          <a:lstStyle/>
          <a:p>
            <a:fld id="{40742BEA-48CF-4F32-AFB8-C9C4AAF5269A}" type="slidenum">
              <a:rPr lang="en-US" smtClean="0"/>
              <a:t>7</a:t>
            </a:fld>
            <a:endParaRPr lang="en-US"/>
          </a:p>
        </p:txBody>
      </p:sp>
      <p:sp>
        <p:nvSpPr>
          <p:cNvPr id="5" name="TextBox 4">
            <a:extLst>
              <a:ext uri="{FF2B5EF4-FFF2-40B4-BE49-F238E27FC236}">
                <a16:creationId xmlns:a16="http://schemas.microsoft.com/office/drawing/2014/main" id="{7D6E8405-73D0-E984-2FF4-68E76B8C10E7}"/>
              </a:ext>
            </a:extLst>
          </p:cNvPr>
          <p:cNvSpPr txBox="1"/>
          <p:nvPr/>
        </p:nvSpPr>
        <p:spPr>
          <a:xfrm>
            <a:off x="3556488" y="134938"/>
            <a:ext cx="4818185" cy="830997"/>
          </a:xfrm>
          <a:prstGeom prst="rect">
            <a:avLst/>
          </a:prstGeom>
          <a:noFill/>
        </p:spPr>
        <p:txBody>
          <a:bodyPr wrap="square" rtlCol="0">
            <a:spAutoFit/>
          </a:bodyPr>
          <a:lstStyle/>
          <a:p>
            <a:r>
              <a:rPr lang="en-US" sz="4800" dirty="0"/>
              <a:t>Reference study</a:t>
            </a:r>
          </a:p>
        </p:txBody>
      </p:sp>
      <p:graphicFrame>
        <p:nvGraphicFramePr>
          <p:cNvPr id="8" name="Content Placeholder 7">
            <a:extLst>
              <a:ext uri="{FF2B5EF4-FFF2-40B4-BE49-F238E27FC236}">
                <a16:creationId xmlns:a16="http://schemas.microsoft.com/office/drawing/2014/main" id="{9AF4332B-C27F-5E5C-3CB7-3F4DD6359EEB}"/>
              </a:ext>
            </a:extLst>
          </p:cNvPr>
          <p:cNvGraphicFramePr>
            <a:graphicFrameLocks noGrp="1"/>
          </p:cNvGraphicFramePr>
          <p:nvPr>
            <p:ph idx="1"/>
            <p:extLst>
              <p:ext uri="{D42A27DB-BD31-4B8C-83A1-F6EECF244321}">
                <p14:modId xmlns:p14="http://schemas.microsoft.com/office/powerpoint/2010/main" val="1231663397"/>
              </p:ext>
            </p:extLst>
          </p:nvPr>
        </p:nvGraphicFramePr>
        <p:xfrm>
          <a:off x="569168" y="1119675"/>
          <a:ext cx="10832841" cy="5047858"/>
        </p:xfrm>
        <a:graphic>
          <a:graphicData uri="http://schemas.openxmlformats.org/drawingml/2006/table">
            <a:tbl>
              <a:tblPr firstRow="1" bandRow="1"/>
              <a:tblGrid>
                <a:gridCol w="1635834">
                  <a:extLst>
                    <a:ext uri="{9D8B030D-6E8A-4147-A177-3AD203B41FA5}">
                      <a16:colId xmlns:a16="http://schemas.microsoft.com/office/drawing/2014/main" val="2470178454"/>
                    </a:ext>
                  </a:extLst>
                </a:gridCol>
                <a:gridCol w="2410849">
                  <a:extLst>
                    <a:ext uri="{9D8B030D-6E8A-4147-A177-3AD203B41FA5}">
                      <a16:colId xmlns:a16="http://schemas.microsoft.com/office/drawing/2014/main" val="3547303012"/>
                    </a:ext>
                  </a:extLst>
                </a:gridCol>
                <a:gridCol w="2394417">
                  <a:extLst>
                    <a:ext uri="{9D8B030D-6E8A-4147-A177-3AD203B41FA5}">
                      <a16:colId xmlns:a16="http://schemas.microsoft.com/office/drawing/2014/main" val="1379236356"/>
                    </a:ext>
                  </a:extLst>
                </a:gridCol>
                <a:gridCol w="1653179">
                  <a:extLst>
                    <a:ext uri="{9D8B030D-6E8A-4147-A177-3AD203B41FA5}">
                      <a16:colId xmlns:a16="http://schemas.microsoft.com/office/drawing/2014/main" val="1252876788"/>
                    </a:ext>
                  </a:extLst>
                </a:gridCol>
                <a:gridCol w="2738562">
                  <a:extLst>
                    <a:ext uri="{9D8B030D-6E8A-4147-A177-3AD203B41FA5}">
                      <a16:colId xmlns:a16="http://schemas.microsoft.com/office/drawing/2014/main" val="2746501671"/>
                    </a:ext>
                  </a:extLst>
                </a:gridCol>
              </a:tblGrid>
              <a:tr h="1175747">
                <a:tc>
                  <a:txBody>
                    <a:bodyPr/>
                    <a:lstStyle/>
                    <a:p>
                      <a:pPr algn="ctr">
                        <a:lnSpc>
                          <a:spcPct val="107000"/>
                        </a:lnSpc>
                      </a:pPr>
                      <a:r>
                        <a:rPr lang="en-US" sz="1000" b="1" kern="100">
                          <a:solidFill>
                            <a:srgbClr val="000000"/>
                          </a:solidFill>
                          <a:effectLst/>
                          <a:latin typeface="Times New Roman" panose="02020603050405020304" pitchFamily="18" charset="0"/>
                          <a:ea typeface="Arial Unicode MS"/>
                          <a:cs typeface="Arial" panose="020B0604020202020204" pitchFamily="34" charset="0"/>
                        </a:rPr>
                        <a:t>STUDY NUMBER</a:t>
                      </a:r>
                      <a:endParaRPr lang="en-US" sz="900" kern="100">
                        <a:effectLst/>
                        <a:latin typeface="Times New Roman" panose="02020603050405020304" pitchFamily="18" charset="0"/>
                        <a:ea typeface="Arial Unicode MS"/>
                        <a:cs typeface="Arial" panose="020B0604020202020204" pitchFamily="34" charset="0"/>
                      </a:endParaRPr>
                    </a:p>
                  </a:txBody>
                  <a:tcPr marL="0" marR="0" marT="0"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38100" cap="flat" cmpd="sng" algn="ctr">
                      <a:solidFill>
                        <a:srgbClr val="FFFFFF"/>
                      </a:solidFill>
                      <a:prstDash val="solid"/>
                      <a:round/>
                      <a:headEnd type="none" w="med" len="med"/>
                      <a:tailEnd type="none" w="med" len="med"/>
                    </a:lnB>
                    <a:solidFill>
                      <a:srgbClr val="AC3EC1"/>
                    </a:solidFill>
                  </a:tcPr>
                </a:tc>
                <a:tc>
                  <a:txBody>
                    <a:bodyPr/>
                    <a:lstStyle/>
                    <a:p>
                      <a:pPr algn="ctr">
                        <a:lnSpc>
                          <a:spcPct val="107000"/>
                        </a:lnSpc>
                      </a:pPr>
                      <a:r>
                        <a:rPr lang="en-US" sz="1300" b="1" kern="100" dirty="0">
                          <a:solidFill>
                            <a:srgbClr val="000000"/>
                          </a:solidFill>
                          <a:effectLst/>
                          <a:latin typeface="Times New Roman" panose="02020603050405020304" pitchFamily="18" charset="0"/>
                          <a:ea typeface="Arial Unicode MS"/>
                          <a:cs typeface="Arial" panose="020B0604020202020204" pitchFamily="34" charset="0"/>
                        </a:rPr>
                        <a:t>Study Year</a:t>
                      </a:r>
                      <a:endParaRPr lang="en-US" sz="900" kern="100" dirty="0">
                        <a:effectLst/>
                        <a:latin typeface="Times New Roman" panose="02020603050405020304" pitchFamily="18" charset="0"/>
                        <a:ea typeface="Arial Unicode MS"/>
                        <a:cs typeface="Arial" panose="020B0604020202020204" pitchFamily="34" charset="0"/>
                      </a:endParaRPr>
                    </a:p>
                  </a:txBody>
                  <a:tcPr marL="66745" marR="66745" marT="33372" marB="33372"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38100" cap="flat" cmpd="sng" algn="ctr">
                      <a:solidFill>
                        <a:srgbClr val="FFFFFF"/>
                      </a:solidFill>
                      <a:prstDash val="solid"/>
                      <a:round/>
                      <a:headEnd type="none" w="med" len="med"/>
                      <a:tailEnd type="none" w="med" len="med"/>
                    </a:lnB>
                    <a:solidFill>
                      <a:srgbClr val="AC3EC1"/>
                    </a:solidFill>
                  </a:tcPr>
                </a:tc>
                <a:tc>
                  <a:txBody>
                    <a:bodyPr/>
                    <a:lstStyle/>
                    <a:p>
                      <a:pPr algn="ctr">
                        <a:lnSpc>
                          <a:spcPct val="107000"/>
                        </a:lnSpc>
                      </a:pPr>
                      <a:r>
                        <a:rPr lang="en-US" sz="1000" b="1" kern="100">
                          <a:solidFill>
                            <a:srgbClr val="000000"/>
                          </a:solidFill>
                          <a:effectLst/>
                          <a:latin typeface="Times New Roman" panose="02020603050405020304" pitchFamily="18" charset="0"/>
                          <a:ea typeface="Arial Unicode MS"/>
                          <a:cs typeface="Arial" panose="020B0604020202020204" pitchFamily="34" charset="0"/>
                        </a:rPr>
                        <a:t>DATASET USED</a:t>
                      </a:r>
                      <a:endParaRPr lang="en-US" sz="900" kern="100">
                        <a:effectLst/>
                        <a:latin typeface="Times New Roman" panose="02020603050405020304" pitchFamily="18" charset="0"/>
                        <a:ea typeface="Arial Unicode MS"/>
                        <a:cs typeface="Arial" panose="020B0604020202020204" pitchFamily="34" charset="0"/>
                      </a:endParaRPr>
                    </a:p>
                  </a:txBody>
                  <a:tcPr marL="66745" marR="66745" marT="33372" marB="33372"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38100" cap="flat" cmpd="sng" algn="ctr">
                      <a:solidFill>
                        <a:srgbClr val="FFFFFF"/>
                      </a:solidFill>
                      <a:prstDash val="solid"/>
                      <a:round/>
                      <a:headEnd type="none" w="med" len="med"/>
                      <a:tailEnd type="none" w="med" len="med"/>
                    </a:lnB>
                    <a:solidFill>
                      <a:srgbClr val="AC3EC1"/>
                    </a:solidFill>
                  </a:tcPr>
                </a:tc>
                <a:tc>
                  <a:txBody>
                    <a:bodyPr/>
                    <a:lstStyle/>
                    <a:p>
                      <a:pPr algn="ctr">
                        <a:lnSpc>
                          <a:spcPct val="107000"/>
                        </a:lnSpc>
                      </a:pPr>
                      <a:r>
                        <a:rPr lang="en-US" sz="1000" b="1" kern="100">
                          <a:solidFill>
                            <a:srgbClr val="000000"/>
                          </a:solidFill>
                          <a:effectLst/>
                          <a:latin typeface="Times New Roman" panose="02020603050405020304" pitchFamily="18" charset="0"/>
                          <a:ea typeface="Arial Unicode MS"/>
                          <a:cs typeface="Arial" panose="020B0604020202020204" pitchFamily="34" charset="0"/>
                        </a:rPr>
                        <a:t>METHODS USED</a:t>
                      </a:r>
                      <a:endParaRPr lang="en-US" sz="900" kern="100">
                        <a:effectLst/>
                        <a:latin typeface="Times New Roman" panose="02020603050405020304" pitchFamily="18" charset="0"/>
                        <a:ea typeface="Arial Unicode MS"/>
                        <a:cs typeface="Arial" panose="020B0604020202020204" pitchFamily="34" charset="0"/>
                      </a:endParaRPr>
                    </a:p>
                  </a:txBody>
                  <a:tcPr marL="66745" marR="66745" marT="33372" marB="33372"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38100" cap="flat" cmpd="sng" algn="ctr">
                      <a:solidFill>
                        <a:srgbClr val="FFFFFF"/>
                      </a:solidFill>
                      <a:prstDash val="solid"/>
                      <a:round/>
                      <a:headEnd type="none" w="med" len="med"/>
                      <a:tailEnd type="none" w="med" len="med"/>
                    </a:lnB>
                    <a:solidFill>
                      <a:srgbClr val="AC3EC1"/>
                    </a:solidFill>
                  </a:tcPr>
                </a:tc>
                <a:tc>
                  <a:txBody>
                    <a:bodyPr/>
                    <a:lstStyle/>
                    <a:p>
                      <a:pPr algn="ctr">
                        <a:lnSpc>
                          <a:spcPct val="107000"/>
                        </a:lnSpc>
                      </a:pPr>
                      <a:r>
                        <a:rPr lang="en-US" sz="1000" b="1" kern="100">
                          <a:solidFill>
                            <a:srgbClr val="000000"/>
                          </a:solidFill>
                          <a:effectLst/>
                          <a:latin typeface="Times New Roman" panose="02020603050405020304" pitchFamily="18" charset="0"/>
                          <a:ea typeface="Arial Unicode MS"/>
                          <a:cs typeface="Arial" panose="020B0604020202020204" pitchFamily="34" charset="0"/>
                        </a:rPr>
                        <a:t>OUTPUT</a:t>
                      </a:r>
                      <a:endParaRPr lang="en-US" sz="900" kern="100">
                        <a:effectLst/>
                        <a:latin typeface="Times New Roman" panose="02020603050405020304" pitchFamily="18" charset="0"/>
                        <a:ea typeface="Arial Unicode MS"/>
                        <a:cs typeface="Arial" panose="020B0604020202020204" pitchFamily="34" charset="0"/>
                      </a:endParaRPr>
                    </a:p>
                  </a:txBody>
                  <a:tcPr marL="0" marR="0" marT="0"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38100" cap="flat" cmpd="sng" algn="ctr">
                      <a:solidFill>
                        <a:srgbClr val="FFFFFF"/>
                      </a:solidFill>
                      <a:prstDash val="solid"/>
                      <a:round/>
                      <a:headEnd type="none" w="med" len="med"/>
                      <a:tailEnd type="none" w="med" len="med"/>
                    </a:lnB>
                    <a:solidFill>
                      <a:srgbClr val="AC3EC1"/>
                    </a:solidFill>
                  </a:tcPr>
                </a:tc>
                <a:extLst>
                  <a:ext uri="{0D108BD9-81ED-4DB2-BD59-A6C34878D82A}">
                    <a16:rowId xmlns:a16="http://schemas.microsoft.com/office/drawing/2014/main" val="1525634021"/>
                  </a:ext>
                </a:extLst>
              </a:tr>
              <a:tr h="1818225">
                <a:tc>
                  <a:txBody>
                    <a:bodyPr/>
                    <a:lstStyle/>
                    <a:p>
                      <a:pPr algn="ctr">
                        <a:lnSpc>
                          <a:spcPct val="107000"/>
                        </a:lnSpc>
                      </a:pPr>
                      <a:r>
                        <a:rPr lang="en-US" sz="1500" b="1" kern="100">
                          <a:solidFill>
                            <a:srgbClr val="000000"/>
                          </a:solidFill>
                          <a:effectLst/>
                          <a:latin typeface="Times New Roman" panose="02020603050405020304" pitchFamily="18" charset="0"/>
                          <a:ea typeface="Arial Unicode MS"/>
                          <a:cs typeface="Arial" panose="020B0604020202020204" pitchFamily="34" charset="0"/>
                        </a:rPr>
                        <a:t>1</a:t>
                      </a:r>
                      <a:endParaRPr lang="en-US" sz="900" kern="100">
                        <a:effectLst/>
                        <a:latin typeface="Times New Roman" panose="02020603050405020304" pitchFamily="18" charset="0"/>
                        <a:ea typeface="Arial Unicode MS"/>
                        <a:cs typeface="Arial" panose="020B0604020202020204" pitchFamily="34" charset="0"/>
                      </a:endParaRPr>
                    </a:p>
                  </a:txBody>
                  <a:tcPr marL="0" marR="0" marT="0"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381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3CEE9"/>
                    </a:solidFill>
                  </a:tcPr>
                </a:tc>
                <a:tc>
                  <a:txBody>
                    <a:bodyPr/>
                    <a:lstStyle/>
                    <a:p>
                      <a:pPr algn="ctr">
                        <a:lnSpc>
                          <a:spcPct val="107000"/>
                        </a:lnSpc>
                      </a:pPr>
                      <a:r>
                        <a:rPr lang="en-US" sz="1000" u="none" strike="noStrike" kern="100" dirty="0">
                          <a:solidFill>
                            <a:srgbClr val="0563C1"/>
                          </a:solidFill>
                          <a:effectLst/>
                          <a:latin typeface="Times New Roman" panose="02020603050405020304" pitchFamily="18" charset="0"/>
                          <a:ea typeface="Arial Unicode MS"/>
                          <a:cs typeface="Arial" panose="020B0604020202020204" pitchFamily="34" charset="0"/>
                        </a:rPr>
                        <a:t> </a:t>
                      </a:r>
                      <a:endParaRPr lang="en-US" sz="900" kern="100" dirty="0">
                        <a:effectLst/>
                        <a:latin typeface="Times New Roman" panose="02020603050405020304" pitchFamily="18" charset="0"/>
                        <a:ea typeface="Arial Unicode MS"/>
                        <a:cs typeface="Arial" panose="020B0604020202020204" pitchFamily="34" charset="0"/>
                      </a:endParaRPr>
                    </a:p>
                    <a:p>
                      <a:pPr algn="ctr">
                        <a:lnSpc>
                          <a:spcPct val="107000"/>
                        </a:lnSpc>
                      </a:pPr>
                      <a:r>
                        <a:rPr lang="en-US" sz="1600" b="1" kern="100" dirty="0">
                          <a:solidFill>
                            <a:srgbClr val="000000"/>
                          </a:solidFill>
                          <a:effectLst/>
                          <a:latin typeface="Times New Roman" panose="02020603050405020304" pitchFamily="18" charset="0"/>
                          <a:ea typeface="Arial Unicode MS"/>
                          <a:cs typeface="Arial" panose="020B0604020202020204" pitchFamily="34" charset="0"/>
                        </a:rPr>
                        <a:t>2023</a:t>
                      </a:r>
                      <a:endParaRPr lang="en-US" sz="1000" kern="100" dirty="0">
                        <a:effectLst/>
                        <a:latin typeface="Times New Roman" panose="02020603050405020304" pitchFamily="18" charset="0"/>
                        <a:ea typeface="Arial Unicode MS"/>
                        <a:cs typeface="Arial" panose="020B0604020202020204" pitchFamily="34" charset="0"/>
                      </a:endParaRPr>
                    </a:p>
                  </a:txBody>
                  <a:tcPr marL="66745" marR="66745" marT="33372" marB="33372"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381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3CEE9"/>
                    </a:solidFill>
                  </a:tcPr>
                </a:tc>
                <a:tc>
                  <a:txBody>
                    <a:bodyPr/>
                    <a:lstStyle/>
                    <a:p>
                      <a:pPr algn="ctr">
                        <a:lnSpc>
                          <a:spcPct val="107000"/>
                        </a:lnSpc>
                      </a:pPr>
                      <a:r>
                        <a:rPr lang="en-US" sz="1800" kern="100" dirty="0">
                          <a:solidFill>
                            <a:srgbClr val="000000"/>
                          </a:solidFill>
                          <a:effectLst/>
                          <a:latin typeface="Times New Roman" panose="02020603050405020304" pitchFamily="18" charset="0"/>
                          <a:ea typeface="Arial Unicode MS"/>
                          <a:cs typeface="Arial" panose="020B0604020202020204" pitchFamily="34" charset="0"/>
                        </a:rPr>
                        <a:t>dataset of brain tumor MRI images.</a:t>
                      </a:r>
                      <a:endParaRPr lang="en-US" sz="1100" kern="100" dirty="0">
                        <a:effectLst/>
                        <a:latin typeface="Times New Roman" panose="02020603050405020304" pitchFamily="18" charset="0"/>
                        <a:ea typeface="Arial Unicode MS"/>
                        <a:cs typeface="Arial" panose="020B0604020202020204" pitchFamily="34" charset="0"/>
                      </a:endParaRPr>
                    </a:p>
                  </a:txBody>
                  <a:tcPr marL="66745" marR="66745" marT="33372" marB="33372"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381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3CEE9"/>
                    </a:solidFill>
                  </a:tcPr>
                </a:tc>
                <a:tc>
                  <a:txBody>
                    <a:bodyPr/>
                    <a:lstStyle/>
                    <a:p>
                      <a:pPr algn="ctr">
                        <a:lnSpc>
                          <a:spcPct val="107000"/>
                        </a:lnSpc>
                      </a:pPr>
                      <a:r>
                        <a:rPr lang="en-US" sz="1800" b="1" kern="100" dirty="0">
                          <a:solidFill>
                            <a:srgbClr val="000000"/>
                          </a:solidFill>
                          <a:effectLst/>
                          <a:latin typeface="Times New Roman" panose="02020603050405020304" pitchFamily="18" charset="0"/>
                          <a:ea typeface="Arial Unicode MS"/>
                          <a:cs typeface="Arial" panose="020B0604020202020204" pitchFamily="34" charset="0"/>
                        </a:rPr>
                        <a:t>YOLOv7.</a:t>
                      </a:r>
                      <a:endParaRPr lang="en-US" sz="1600" kern="100" dirty="0">
                        <a:effectLst/>
                        <a:latin typeface="Times New Roman" panose="02020603050405020304" pitchFamily="18" charset="0"/>
                        <a:ea typeface="Arial Unicode MS"/>
                        <a:cs typeface="Arial" panose="020B0604020202020204" pitchFamily="34" charset="0"/>
                      </a:endParaRPr>
                    </a:p>
                  </a:txBody>
                  <a:tcPr marL="66745" marR="66745" marT="33372" marB="33372"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381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3CEE9"/>
                    </a:solidFill>
                  </a:tcPr>
                </a:tc>
                <a:tc>
                  <a:txBody>
                    <a:bodyPr/>
                    <a:lstStyle/>
                    <a:p>
                      <a:pPr algn="ctr">
                        <a:lnSpc>
                          <a:spcPct val="107000"/>
                        </a:lnSpc>
                      </a:pPr>
                      <a:r>
                        <a:rPr lang="en-US" sz="1800" b="1" kern="100" dirty="0">
                          <a:solidFill>
                            <a:srgbClr val="000000"/>
                          </a:solidFill>
                          <a:effectLst/>
                          <a:latin typeface="Times New Roman" panose="02020603050405020304" pitchFamily="18" charset="0"/>
                          <a:ea typeface="Arial Unicode MS"/>
                          <a:cs typeface="Arial" panose="020B0604020202020204" pitchFamily="34" charset="0"/>
                        </a:rPr>
                        <a:t>accuracy of 99.5%.</a:t>
                      </a:r>
                      <a:endParaRPr lang="en-US" sz="1100" kern="100" dirty="0">
                        <a:effectLst/>
                        <a:latin typeface="Times New Roman" panose="02020603050405020304" pitchFamily="18" charset="0"/>
                        <a:ea typeface="Arial Unicode MS"/>
                        <a:cs typeface="Arial" panose="020B0604020202020204" pitchFamily="34" charset="0"/>
                      </a:endParaRPr>
                    </a:p>
                  </a:txBody>
                  <a:tcPr marL="0" marR="0" marT="0"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381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3CEE9"/>
                    </a:solidFill>
                  </a:tcPr>
                </a:tc>
                <a:extLst>
                  <a:ext uri="{0D108BD9-81ED-4DB2-BD59-A6C34878D82A}">
                    <a16:rowId xmlns:a16="http://schemas.microsoft.com/office/drawing/2014/main" val="393470559"/>
                  </a:ext>
                </a:extLst>
              </a:tr>
              <a:tr h="2053886">
                <a:tc>
                  <a:txBody>
                    <a:bodyPr/>
                    <a:lstStyle/>
                    <a:p>
                      <a:pPr algn="ctr">
                        <a:lnSpc>
                          <a:spcPct val="107000"/>
                        </a:lnSpc>
                      </a:pPr>
                      <a:r>
                        <a:rPr lang="en-US" sz="1500" b="1" kern="100">
                          <a:solidFill>
                            <a:srgbClr val="000000"/>
                          </a:solidFill>
                          <a:effectLst/>
                          <a:latin typeface="Times New Roman" panose="02020603050405020304" pitchFamily="18" charset="0"/>
                          <a:ea typeface="Arial Unicode MS"/>
                          <a:cs typeface="Arial" panose="020B0604020202020204" pitchFamily="34" charset="0"/>
                        </a:rPr>
                        <a:t>2</a:t>
                      </a:r>
                      <a:endParaRPr lang="en-US" sz="900" kern="100">
                        <a:effectLst/>
                        <a:latin typeface="Times New Roman" panose="02020603050405020304" pitchFamily="18" charset="0"/>
                        <a:ea typeface="Arial Unicode MS"/>
                        <a:cs typeface="Arial" panose="020B0604020202020204" pitchFamily="34" charset="0"/>
                      </a:endParaRPr>
                    </a:p>
                  </a:txBody>
                  <a:tcPr marL="0" marR="0" marT="0"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1E8F4"/>
                    </a:solidFill>
                  </a:tcPr>
                </a:tc>
                <a:tc>
                  <a:txBody>
                    <a:bodyPr/>
                    <a:lstStyle/>
                    <a:p>
                      <a:pPr algn="ctr">
                        <a:lnSpc>
                          <a:spcPct val="107000"/>
                        </a:lnSpc>
                      </a:pPr>
                      <a:r>
                        <a:rPr lang="en-US" sz="900" u="none" strike="noStrike" kern="100" dirty="0">
                          <a:solidFill>
                            <a:srgbClr val="0563C1"/>
                          </a:solidFill>
                          <a:effectLst/>
                          <a:latin typeface="Times New Roman" panose="02020603050405020304" pitchFamily="18" charset="0"/>
                          <a:ea typeface="Arial Unicode MS"/>
                          <a:cs typeface="Arial" panose="020B0604020202020204" pitchFamily="34" charset="0"/>
                        </a:rPr>
                        <a:t> </a:t>
                      </a:r>
                      <a:endParaRPr lang="en-US" sz="900" kern="100" dirty="0">
                        <a:effectLst/>
                        <a:latin typeface="Times New Roman" panose="02020603050405020304" pitchFamily="18" charset="0"/>
                        <a:ea typeface="Arial Unicode MS"/>
                        <a:cs typeface="Arial" panose="020B0604020202020204" pitchFamily="34" charset="0"/>
                      </a:endParaRPr>
                    </a:p>
                    <a:p>
                      <a:pPr algn="ctr">
                        <a:lnSpc>
                          <a:spcPct val="107000"/>
                        </a:lnSpc>
                      </a:pPr>
                      <a:r>
                        <a:rPr lang="en-US" sz="1600" b="1" kern="100" dirty="0">
                          <a:solidFill>
                            <a:srgbClr val="000000"/>
                          </a:solidFill>
                          <a:effectLst/>
                          <a:latin typeface="Times New Roman" panose="02020603050405020304" pitchFamily="18" charset="0"/>
                          <a:ea typeface="Arial Unicode MS"/>
                          <a:cs typeface="Arial" panose="020B0604020202020204" pitchFamily="34" charset="0"/>
                        </a:rPr>
                        <a:t>2022</a:t>
                      </a:r>
                      <a:endParaRPr lang="en-US" sz="1000" kern="100" dirty="0">
                        <a:effectLst/>
                        <a:latin typeface="Times New Roman" panose="02020603050405020304" pitchFamily="18" charset="0"/>
                        <a:ea typeface="Arial Unicode MS"/>
                        <a:cs typeface="Arial" panose="020B0604020202020204" pitchFamily="34" charset="0"/>
                      </a:endParaRPr>
                    </a:p>
                  </a:txBody>
                  <a:tcPr marL="66745" marR="66745" marT="33372" marB="33372"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1E8F4"/>
                    </a:solidFill>
                  </a:tcPr>
                </a:tc>
                <a:tc>
                  <a:txBody>
                    <a:bodyPr/>
                    <a:lstStyle/>
                    <a:p>
                      <a:pPr algn="ctr">
                        <a:lnSpc>
                          <a:spcPct val="107000"/>
                        </a:lnSpc>
                      </a:pPr>
                      <a:r>
                        <a:rPr lang="en-US" sz="1600" kern="100" dirty="0">
                          <a:solidFill>
                            <a:srgbClr val="000000"/>
                          </a:solidFill>
                          <a:effectLst/>
                          <a:latin typeface="Times New Roman" panose="02020603050405020304" pitchFamily="18" charset="0"/>
                          <a:ea typeface="Arial Unicode MS"/>
                          <a:cs typeface="Arial" panose="020B0604020202020204" pitchFamily="34" charset="0"/>
                        </a:rPr>
                        <a:t>a collection of MRI images containing both healthy brains and brains with tumors.</a:t>
                      </a:r>
                      <a:endParaRPr lang="en-US" sz="1050" kern="100" dirty="0">
                        <a:effectLst/>
                        <a:latin typeface="Times New Roman" panose="02020603050405020304" pitchFamily="18" charset="0"/>
                        <a:ea typeface="Arial Unicode MS"/>
                        <a:cs typeface="Arial" panose="020B0604020202020204" pitchFamily="34" charset="0"/>
                      </a:endParaRPr>
                    </a:p>
                  </a:txBody>
                  <a:tcPr marL="66745" marR="66745" marT="33372" marB="33372"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1E8F4"/>
                    </a:solidFill>
                  </a:tcPr>
                </a:tc>
                <a:tc>
                  <a:txBody>
                    <a:bodyPr/>
                    <a:lstStyle/>
                    <a:p>
                      <a:pPr algn="ctr">
                        <a:lnSpc>
                          <a:spcPct val="107000"/>
                        </a:lnSpc>
                      </a:pPr>
                      <a:r>
                        <a:rPr lang="en-US" sz="1600" b="1" kern="100" dirty="0">
                          <a:solidFill>
                            <a:srgbClr val="000000"/>
                          </a:solidFill>
                          <a:effectLst/>
                          <a:latin typeface="Times New Roman" panose="02020603050405020304" pitchFamily="18" charset="0"/>
                          <a:ea typeface="Arial Unicode MS"/>
                          <a:cs typeface="Arial" panose="020B0604020202020204" pitchFamily="34" charset="0"/>
                        </a:rPr>
                        <a:t> (CNN)</a:t>
                      </a:r>
                      <a:r>
                        <a:rPr lang="en-US" sz="1600" kern="100" dirty="0">
                          <a:solidFill>
                            <a:srgbClr val="000000"/>
                          </a:solidFill>
                          <a:effectLst/>
                          <a:latin typeface="Times New Roman" panose="02020603050405020304" pitchFamily="18" charset="0"/>
                          <a:ea typeface="Arial Unicode MS"/>
                          <a:cs typeface="Arial" panose="020B0604020202020204" pitchFamily="34" charset="0"/>
                        </a:rPr>
                        <a:t> </a:t>
                      </a:r>
                      <a:r>
                        <a:rPr lang="en-US" sz="1600" b="1" kern="100" dirty="0">
                          <a:solidFill>
                            <a:srgbClr val="000000"/>
                          </a:solidFill>
                          <a:effectLst/>
                          <a:latin typeface="Times New Roman" panose="02020603050405020304" pitchFamily="18" charset="0"/>
                          <a:ea typeface="Arial Unicode MS"/>
                          <a:cs typeface="Arial" panose="020B0604020202020204" pitchFamily="34" charset="0"/>
                        </a:rPr>
                        <a:t>(SVM)</a:t>
                      </a:r>
                      <a:endParaRPr lang="en-US" sz="1400" kern="100" dirty="0">
                        <a:effectLst/>
                        <a:latin typeface="Times New Roman" panose="02020603050405020304" pitchFamily="18" charset="0"/>
                        <a:ea typeface="Arial Unicode MS"/>
                        <a:cs typeface="Arial" panose="020B0604020202020204" pitchFamily="34" charset="0"/>
                      </a:endParaRPr>
                    </a:p>
                  </a:txBody>
                  <a:tcPr marL="66745" marR="66745" marT="33372" marB="33372"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1E8F4"/>
                    </a:solidFill>
                  </a:tcPr>
                </a:tc>
                <a:tc>
                  <a:txBody>
                    <a:bodyPr/>
                    <a:lstStyle/>
                    <a:p>
                      <a:pPr algn="ctr">
                        <a:lnSpc>
                          <a:spcPct val="107000"/>
                        </a:lnSpc>
                      </a:pPr>
                      <a:r>
                        <a:rPr lang="en-US" sz="2000" b="1" kern="100" dirty="0">
                          <a:solidFill>
                            <a:srgbClr val="000000"/>
                          </a:solidFill>
                          <a:effectLst/>
                          <a:latin typeface="Times New Roman" panose="02020603050405020304" pitchFamily="18" charset="0"/>
                          <a:ea typeface="Arial Unicode MS"/>
                          <a:cs typeface="Arial" panose="020B0604020202020204" pitchFamily="34" charset="0"/>
                        </a:rPr>
                        <a:t>98.7% accuracy</a:t>
                      </a:r>
                      <a:endParaRPr lang="en-US" sz="1200" kern="100" dirty="0">
                        <a:effectLst/>
                        <a:latin typeface="Times New Roman" panose="02020603050405020304" pitchFamily="18" charset="0"/>
                        <a:ea typeface="Arial Unicode MS"/>
                        <a:cs typeface="Arial" panose="020B0604020202020204" pitchFamily="34" charset="0"/>
                      </a:endParaRPr>
                    </a:p>
                  </a:txBody>
                  <a:tcPr marL="0" marR="0" marT="0"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1E8F4"/>
                    </a:solidFill>
                  </a:tcPr>
                </a:tc>
                <a:extLst>
                  <a:ext uri="{0D108BD9-81ED-4DB2-BD59-A6C34878D82A}">
                    <a16:rowId xmlns:a16="http://schemas.microsoft.com/office/drawing/2014/main" val="1891074488"/>
                  </a:ext>
                </a:extLst>
              </a:tr>
            </a:tbl>
          </a:graphicData>
        </a:graphic>
      </p:graphicFrame>
    </p:spTree>
    <p:extLst>
      <p:ext uri="{BB962C8B-B14F-4D97-AF65-F5344CB8AC3E}">
        <p14:creationId xmlns:p14="http://schemas.microsoft.com/office/powerpoint/2010/main" val="729242069"/>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Date Placeholder 4">
            <a:extLst>
              <a:ext uri="{FF2B5EF4-FFF2-40B4-BE49-F238E27FC236}">
                <a16:creationId xmlns:a16="http://schemas.microsoft.com/office/drawing/2014/main" id="{6AE0EF24-CDE3-A62B-AE40-3E46829001CB}"/>
              </a:ext>
            </a:extLst>
          </p:cNvPr>
          <p:cNvSpPr>
            <a:spLocks noGrp="1"/>
          </p:cNvSpPr>
          <p:nvPr>
            <p:ph type="dt" sz="half" idx="10"/>
          </p:nvPr>
        </p:nvSpPr>
        <p:spPr/>
        <p:txBody>
          <a:bodyPr/>
          <a:lstStyle/>
          <a:p>
            <a:fld id="{EB94F3BB-163A-48C5-9E2B-9E08BC94E3D3}" type="datetime1">
              <a:rPr lang="en-US" smtClean="0"/>
              <a:t>12/22/2025</a:t>
            </a:fld>
            <a:endParaRPr lang="en-US"/>
          </a:p>
        </p:txBody>
      </p:sp>
      <p:sp>
        <p:nvSpPr>
          <p:cNvPr id="6" name="Slide Number Placeholder 5">
            <a:extLst>
              <a:ext uri="{FF2B5EF4-FFF2-40B4-BE49-F238E27FC236}">
                <a16:creationId xmlns:a16="http://schemas.microsoft.com/office/drawing/2014/main" id="{934F7E68-48D4-5509-31EE-E52335CACCD7}"/>
              </a:ext>
            </a:extLst>
          </p:cNvPr>
          <p:cNvSpPr>
            <a:spLocks noGrp="1"/>
          </p:cNvSpPr>
          <p:nvPr>
            <p:ph type="sldNum" sz="quarter" idx="12"/>
          </p:nvPr>
        </p:nvSpPr>
        <p:spPr/>
        <p:txBody>
          <a:bodyPr/>
          <a:lstStyle/>
          <a:p>
            <a:fld id="{40742BEA-48CF-4F32-AFB8-C9C4AAF5269A}" type="slidenum">
              <a:rPr lang="en-US" smtClean="0"/>
              <a:t>8</a:t>
            </a:fld>
            <a:endParaRPr lang="en-US"/>
          </a:p>
        </p:txBody>
      </p:sp>
      <p:graphicFrame>
        <p:nvGraphicFramePr>
          <p:cNvPr id="7" name="Content Placeholder 6">
            <a:extLst>
              <a:ext uri="{FF2B5EF4-FFF2-40B4-BE49-F238E27FC236}">
                <a16:creationId xmlns:a16="http://schemas.microsoft.com/office/drawing/2014/main" id="{93B73B4C-86C4-0244-97CB-1DCD6B55CDE4}"/>
              </a:ext>
            </a:extLst>
          </p:cNvPr>
          <p:cNvGraphicFramePr>
            <a:graphicFrameLocks noGrp="1"/>
          </p:cNvGraphicFramePr>
          <p:nvPr>
            <p:ph idx="1"/>
            <p:extLst>
              <p:ext uri="{D42A27DB-BD31-4B8C-83A1-F6EECF244321}">
                <p14:modId xmlns:p14="http://schemas.microsoft.com/office/powerpoint/2010/main" val="363257489"/>
              </p:ext>
            </p:extLst>
          </p:nvPr>
        </p:nvGraphicFramePr>
        <p:xfrm>
          <a:off x="541175" y="886408"/>
          <a:ext cx="10926147" cy="5215186"/>
        </p:xfrm>
        <a:graphic>
          <a:graphicData uri="http://schemas.openxmlformats.org/drawingml/2006/table">
            <a:tbl>
              <a:tblPr firstRow="1" bandRow="1"/>
              <a:tblGrid>
                <a:gridCol w="1715405">
                  <a:extLst>
                    <a:ext uri="{9D8B030D-6E8A-4147-A177-3AD203B41FA5}">
                      <a16:colId xmlns:a16="http://schemas.microsoft.com/office/drawing/2014/main" val="1831689858"/>
                    </a:ext>
                  </a:extLst>
                </a:gridCol>
                <a:gridCol w="1973262">
                  <a:extLst>
                    <a:ext uri="{9D8B030D-6E8A-4147-A177-3AD203B41FA5}">
                      <a16:colId xmlns:a16="http://schemas.microsoft.com/office/drawing/2014/main" val="660500226"/>
                    </a:ext>
                  </a:extLst>
                </a:gridCol>
                <a:gridCol w="3223214">
                  <a:extLst>
                    <a:ext uri="{9D8B030D-6E8A-4147-A177-3AD203B41FA5}">
                      <a16:colId xmlns:a16="http://schemas.microsoft.com/office/drawing/2014/main" val="3747513545"/>
                    </a:ext>
                  </a:extLst>
                </a:gridCol>
                <a:gridCol w="1584291">
                  <a:extLst>
                    <a:ext uri="{9D8B030D-6E8A-4147-A177-3AD203B41FA5}">
                      <a16:colId xmlns:a16="http://schemas.microsoft.com/office/drawing/2014/main" val="3832762800"/>
                    </a:ext>
                  </a:extLst>
                </a:gridCol>
                <a:gridCol w="2429975">
                  <a:extLst>
                    <a:ext uri="{9D8B030D-6E8A-4147-A177-3AD203B41FA5}">
                      <a16:colId xmlns:a16="http://schemas.microsoft.com/office/drawing/2014/main" val="2653915839"/>
                    </a:ext>
                  </a:extLst>
                </a:gridCol>
              </a:tblGrid>
              <a:tr h="888977">
                <a:tc>
                  <a:txBody>
                    <a:bodyPr/>
                    <a:lstStyle/>
                    <a:p>
                      <a:pPr algn="ctr">
                        <a:lnSpc>
                          <a:spcPct val="107000"/>
                        </a:lnSpc>
                      </a:pPr>
                      <a:r>
                        <a:rPr lang="en-US" sz="1000" b="1" kern="100">
                          <a:solidFill>
                            <a:srgbClr val="000000"/>
                          </a:solidFill>
                          <a:effectLst/>
                          <a:latin typeface="Times New Roman" panose="02020603050405020304" pitchFamily="18" charset="0"/>
                          <a:ea typeface="Arial Unicode MS"/>
                          <a:cs typeface="Arial" panose="020B0604020202020204" pitchFamily="34" charset="0"/>
                        </a:rPr>
                        <a:t>STUDY NUMBER</a:t>
                      </a:r>
                      <a:endParaRPr lang="en-US" sz="900" kern="100">
                        <a:effectLst/>
                        <a:latin typeface="Times New Roman" panose="02020603050405020304" pitchFamily="18" charset="0"/>
                        <a:ea typeface="Arial Unicode MS"/>
                        <a:cs typeface="Arial" panose="020B0604020202020204" pitchFamily="34" charset="0"/>
                      </a:endParaRPr>
                    </a:p>
                  </a:txBody>
                  <a:tcPr marL="0" marR="0" marT="0"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38100" cap="flat" cmpd="sng" algn="ctr">
                      <a:solidFill>
                        <a:srgbClr val="FFFFFF"/>
                      </a:solidFill>
                      <a:prstDash val="solid"/>
                      <a:round/>
                      <a:headEnd type="none" w="med" len="med"/>
                      <a:tailEnd type="none" w="med" len="med"/>
                    </a:lnB>
                    <a:solidFill>
                      <a:srgbClr val="AC3EC1"/>
                    </a:solidFill>
                  </a:tcPr>
                </a:tc>
                <a:tc>
                  <a:txBody>
                    <a:bodyPr/>
                    <a:lstStyle/>
                    <a:p>
                      <a:pPr algn="ctr">
                        <a:lnSpc>
                          <a:spcPct val="107000"/>
                        </a:lnSpc>
                      </a:pPr>
                      <a:r>
                        <a:rPr lang="en-US" sz="1000" b="1" kern="100">
                          <a:solidFill>
                            <a:srgbClr val="000000"/>
                          </a:solidFill>
                          <a:effectLst/>
                          <a:latin typeface="Times New Roman" panose="02020603050405020304" pitchFamily="18" charset="0"/>
                          <a:ea typeface="Arial Unicode MS"/>
                          <a:cs typeface="Arial" panose="020B0604020202020204" pitchFamily="34" charset="0"/>
                        </a:rPr>
                        <a:t>STUDY YEAR</a:t>
                      </a:r>
                      <a:endParaRPr lang="en-US" sz="900" kern="100">
                        <a:effectLst/>
                        <a:latin typeface="Times New Roman" panose="02020603050405020304" pitchFamily="18" charset="0"/>
                        <a:ea typeface="Arial Unicode MS"/>
                        <a:cs typeface="Arial" panose="020B0604020202020204" pitchFamily="34" charset="0"/>
                      </a:endParaRPr>
                    </a:p>
                  </a:txBody>
                  <a:tcPr marL="67235" marR="67235" marT="33618" marB="33618"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38100" cap="flat" cmpd="sng" algn="ctr">
                      <a:solidFill>
                        <a:srgbClr val="FFFFFF"/>
                      </a:solidFill>
                      <a:prstDash val="solid"/>
                      <a:round/>
                      <a:headEnd type="none" w="med" len="med"/>
                      <a:tailEnd type="none" w="med" len="med"/>
                    </a:lnB>
                    <a:solidFill>
                      <a:srgbClr val="AC3EC1"/>
                    </a:solidFill>
                  </a:tcPr>
                </a:tc>
                <a:tc>
                  <a:txBody>
                    <a:bodyPr/>
                    <a:lstStyle/>
                    <a:p>
                      <a:pPr algn="ctr">
                        <a:lnSpc>
                          <a:spcPct val="107000"/>
                        </a:lnSpc>
                      </a:pPr>
                      <a:r>
                        <a:rPr lang="en-US" sz="1000" b="1" kern="100">
                          <a:solidFill>
                            <a:srgbClr val="000000"/>
                          </a:solidFill>
                          <a:effectLst/>
                          <a:latin typeface="Times New Roman" panose="02020603050405020304" pitchFamily="18" charset="0"/>
                          <a:ea typeface="Arial Unicode MS"/>
                          <a:cs typeface="Arial" panose="020B0604020202020204" pitchFamily="34" charset="0"/>
                        </a:rPr>
                        <a:t>DATASET USED</a:t>
                      </a:r>
                      <a:endParaRPr lang="en-US" sz="900" kern="100">
                        <a:effectLst/>
                        <a:latin typeface="Times New Roman" panose="02020603050405020304" pitchFamily="18" charset="0"/>
                        <a:ea typeface="Arial Unicode MS"/>
                        <a:cs typeface="Arial" panose="020B0604020202020204" pitchFamily="34" charset="0"/>
                      </a:endParaRPr>
                    </a:p>
                  </a:txBody>
                  <a:tcPr marL="67235" marR="67235" marT="33618" marB="33618"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38100" cap="flat" cmpd="sng" algn="ctr">
                      <a:solidFill>
                        <a:srgbClr val="FFFFFF"/>
                      </a:solidFill>
                      <a:prstDash val="solid"/>
                      <a:round/>
                      <a:headEnd type="none" w="med" len="med"/>
                      <a:tailEnd type="none" w="med" len="med"/>
                    </a:lnB>
                    <a:solidFill>
                      <a:srgbClr val="AC3EC1"/>
                    </a:solidFill>
                  </a:tcPr>
                </a:tc>
                <a:tc>
                  <a:txBody>
                    <a:bodyPr/>
                    <a:lstStyle/>
                    <a:p>
                      <a:pPr algn="ctr">
                        <a:lnSpc>
                          <a:spcPct val="107000"/>
                        </a:lnSpc>
                      </a:pPr>
                      <a:r>
                        <a:rPr lang="en-US" sz="1000" b="1" kern="100">
                          <a:solidFill>
                            <a:srgbClr val="000000"/>
                          </a:solidFill>
                          <a:effectLst/>
                          <a:latin typeface="Times New Roman" panose="02020603050405020304" pitchFamily="18" charset="0"/>
                          <a:ea typeface="Arial Unicode MS"/>
                          <a:cs typeface="Arial" panose="020B0604020202020204" pitchFamily="34" charset="0"/>
                        </a:rPr>
                        <a:t>METHODS USED</a:t>
                      </a:r>
                      <a:endParaRPr lang="en-US" sz="900" kern="100">
                        <a:effectLst/>
                        <a:latin typeface="Times New Roman" panose="02020603050405020304" pitchFamily="18" charset="0"/>
                        <a:ea typeface="Arial Unicode MS"/>
                        <a:cs typeface="Arial" panose="020B0604020202020204" pitchFamily="34" charset="0"/>
                      </a:endParaRPr>
                    </a:p>
                  </a:txBody>
                  <a:tcPr marL="67235" marR="67235" marT="33618" marB="33618"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38100" cap="flat" cmpd="sng" algn="ctr">
                      <a:solidFill>
                        <a:srgbClr val="FFFFFF"/>
                      </a:solidFill>
                      <a:prstDash val="solid"/>
                      <a:round/>
                      <a:headEnd type="none" w="med" len="med"/>
                      <a:tailEnd type="none" w="med" len="med"/>
                    </a:lnB>
                    <a:solidFill>
                      <a:srgbClr val="AC3EC1"/>
                    </a:solidFill>
                  </a:tcPr>
                </a:tc>
                <a:tc>
                  <a:txBody>
                    <a:bodyPr/>
                    <a:lstStyle/>
                    <a:p>
                      <a:pPr algn="ctr">
                        <a:lnSpc>
                          <a:spcPct val="107000"/>
                        </a:lnSpc>
                      </a:pPr>
                      <a:r>
                        <a:rPr lang="en-US" sz="1000" b="1" kern="100">
                          <a:solidFill>
                            <a:srgbClr val="000000"/>
                          </a:solidFill>
                          <a:effectLst/>
                          <a:latin typeface="Times New Roman" panose="02020603050405020304" pitchFamily="18" charset="0"/>
                          <a:ea typeface="Arial Unicode MS"/>
                          <a:cs typeface="Arial" panose="020B0604020202020204" pitchFamily="34" charset="0"/>
                        </a:rPr>
                        <a:t>OUTPUT</a:t>
                      </a:r>
                      <a:endParaRPr lang="en-US" sz="900" kern="100">
                        <a:effectLst/>
                        <a:latin typeface="Times New Roman" panose="02020603050405020304" pitchFamily="18" charset="0"/>
                        <a:ea typeface="Arial Unicode MS"/>
                        <a:cs typeface="Arial" panose="020B0604020202020204" pitchFamily="34" charset="0"/>
                      </a:endParaRPr>
                    </a:p>
                  </a:txBody>
                  <a:tcPr marL="67235" marR="67235" marT="33618" marB="33618"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38100" cap="flat" cmpd="sng" algn="ctr">
                      <a:solidFill>
                        <a:srgbClr val="FFFFFF"/>
                      </a:solidFill>
                      <a:prstDash val="solid"/>
                      <a:round/>
                      <a:headEnd type="none" w="med" len="med"/>
                      <a:tailEnd type="none" w="med" len="med"/>
                    </a:lnB>
                    <a:solidFill>
                      <a:srgbClr val="AC3EC1"/>
                    </a:solidFill>
                  </a:tcPr>
                </a:tc>
                <a:extLst>
                  <a:ext uri="{0D108BD9-81ED-4DB2-BD59-A6C34878D82A}">
                    <a16:rowId xmlns:a16="http://schemas.microsoft.com/office/drawing/2014/main" val="393533604"/>
                  </a:ext>
                </a:extLst>
              </a:tr>
              <a:tr h="1863541">
                <a:tc>
                  <a:txBody>
                    <a:bodyPr/>
                    <a:lstStyle/>
                    <a:p>
                      <a:pPr algn="ctr">
                        <a:lnSpc>
                          <a:spcPct val="107000"/>
                        </a:lnSpc>
                      </a:pPr>
                      <a:r>
                        <a:rPr lang="en-US" sz="1500" b="1" kern="100">
                          <a:solidFill>
                            <a:srgbClr val="000000"/>
                          </a:solidFill>
                          <a:effectLst/>
                          <a:latin typeface="Times New Roman" panose="02020603050405020304" pitchFamily="18" charset="0"/>
                          <a:ea typeface="Arial Unicode MS"/>
                          <a:cs typeface="Arial" panose="020B0604020202020204" pitchFamily="34" charset="0"/>
                        </a:rPr>
                        <a:t>3</a:t>
                      </a:r>
                      <a:endParaRPr lang="en-US" sz="900" kern="100">
                        <a:effectLst/>
                        <a:latin typeface="Times New Roman" panose="02020603050405020304" pitchFamily="18" charset="0"/>
                        <a:ea typeface="Arial Unicode MS"/>
                        <a:cs typeface="Arial" panose="020B0604020202020204" pitchFamily="34" charset="0"/>
                      </a:endParaRPr>
                    </a:p>
                  </a:txBody>
                  <a:tcPr marL="0" marR="0" marT="0"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381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3CEE9"/>
                    </a:solidFill>
                  </a:tcPr>
                </a:tc>
                <a:tc>
                  <a:txBody>
                    <a:bodyPr/>
                    <a:lstStyle/>
                    <a:p>
                      <a:pPr>
                        <a:lnSpc>
                          <a:spcPct val="107000"/>
                        </a:lnSpc>
                      </a:pPr>
                      <a:r>
                        <a:rPr lang="en-US" sz="900" u="none" strike="noStrike" kern="100" dirty="0">
                          <a:solidFill>
                            <a:srgbClr val="0563C1"/>
                          </a:solidFill>
                          <a:effectLst/>
                          <a:latin typeface="Times New Roman" panose="02020603050405020304" pitchFamily="18" charset="0"/>
                          <a:ea typeface="Arial Unicode MS"/>
                          <a:cs typeface="Arial" panose="020B0604020202020204" pitchFamily="34" charset="0"/>
                        </a:rPr>
                        <a:t> </a:t>
                      </a:r>
                      <a:endParaRPr lang="en-US" sz="900" kern="100" dirty="0">
                        <a:effectLst/>
                        <a:latin typeface="Times New Roman" panose="02020603050405020304" pitchFamily="18" charset="0"/>
                        <a:ea typeface="Arial Unicode MS"/>
                        <a:cs typeface="Arial" panose="020B0604020202020204" pitchFamily="34" charset="0"/>
                      </a:endParaRPr>
                    </a:p>
                    <a:p>
                      <a:pPr algn="ctr">
                        <a:lnSpc>
                          <a:spcPct val="107000"/>
                        </a:lnSpc>
                      </a:pPr>
                      <a:r>
                        <a:rPr lang="en-US" sz="1600" b="1" kern="100" dirty="0">
                          <a:solidFill>
                            <a:srgbClr val="000000"/>
                          </a:solidFill>
                          <a:effectLst/>
                          <a:latin typeface="Times New Roman" panose="02020603050405020304" pitchFamily="18" charset="0"/>
                          <a:ea typeface="Arial Unicode MS"/>
                          <a:cs typeface="Arial" panose="020B0604020202020204" pitchFamily="34" charset="0"/>
                        </a:rPr>
                        <a:t>2021</a:t>
                      </a:r>
                      <a:endParaRPr lang="en-US" sz="900" kern="100" dirty="0">
                        <a:effectLst/>
                        <a:latin typeface="Times New Roman" panose="02020603050405020304" pitchFamily="18" charset="0"/>
                        <a:ea typeface="Arial Unicode MS"/>
                        <a:cs typeface="Arial" panose="020B0604020202020204" pitchFamily="34" charset="0"/>
                      </a:endParaRPr>
                    </a:p>
                  </a:txBody>
                  <a:tcPr marL="67235" marR="67235" marT="33618" marB="33618"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381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3CEE9"/>
                    </a:solidFill>
                  </a:tcPr>
                </a:tc>
                <a:tc>
                  <a:txBody>
                    <a:bodyPr/>
                    <a:lstStyle/>
                    <a:p>
                      <a:pPr algn="ctr">
                        <a:lnSpc>
                          <a:spcPct val="107000"/>
                        </a:lnSpc>
                      </a:pPr>
                      <a:r>
                        <a:rPr lang="en-US" sz="1800" kern="100" dirty="0">
                          <a:solidFill>
                            <a:srgbClr val="000000"/>
                          </a:solidFill>
                          <a:effectLst/>
                          <a:latin typeface="Times New Roman" panose="02020603050405020304" pitchFamily="18" charset="0"/>
                          <a:ea typeface="Arial Unicode MS"/>
                          <a:cs typeface="Arial" panose="020B0604020202020204" pitchFamily="34" charset="0"/>
                        </a:rPr>
                        <a:t>200 MRI image.</a:t>
                      </a:r>
                      <a:endParaRPr lang="en-US" sz="1100" kern="100" dirty="0">
                        <a:effectLst/>
                        <a:latin typeface="Times New Roman" panose="02020603050405020304" pitchFamily="18" charset="0"/>
                        <a:ea typeface="Arial Unicode MS"/>
                        <a:cs typeface="Arial" panose="020B0604020202020204" pitchFamily="34" charset="0"/>
                      </a:endParaRPr>
                    </a:p>
                    <a:p>
                      <a:pPr algn="ctr">
                        <a:lnSpc>
                          <a:spcPct val="107000"/>
                        </a:lnSpc>
                      </a:pPr>
                      <a:r>
                        <a:rPr lang="en-US" sz="1800" kern="100" dirty="0">
                          <a:solidFill>
                            <a:srgbClr val="000000"/>
                          </a:solidFill>
                          <a:effectLst/>
                          <a:latin typeface="Times New Roman" panose="02020603050405020304" pitchFamily="18" charset="0"/>
                          <a:ea typeface="Arial Unicode MS"/>
                          <a:cs typeface="Arial" panose="020B0604020202020204" pitchFamily="34" charset="0"/>
                        </a:rPr>
                        <a:t>the brain images of 12 patients </a:t>
                      </a:r>
                      <a:endParaRPr lang="en-US" sz="1100" kern="100" dirty="0">
                        <a:effectLst/>
                        <a:latin typeface="Times New Roman" panose="02020603050405020304" pitchFamily="18" charset="0"/>
                        <a:ea typeface="Arial Unicode MS"/>
                        <a:cs typeface="Arial" panose="020B0604020202020204" pitchFamily="34" charset="0"/>
                      </a:endParaRPr>
                    </a:p>
                  </a:txBody>
                  <a:tcPr marL="67235" marR="67235" marT="33618" marB="33618"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381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3CEE9"/>
                    </a:solidFill>
                  </a:tcPr>
                </a:tc>
                <a:tc>
                  <a:txBody>
                    <a:bodyPr/>
                    <a:lstStyle/>
                    <a:p>
                      <a:pPr algn="ctr">
                        <a:lnSpc>
                          <a:spcPct val="107000"/>
                        </a:lnSpc>
                      </a:pPr>
                      <a:r>
                        <a:rPr lang="en-US" sz="2000" b="1" kern="100" dirty="0">
                          <a:solidFill>
                            <a:srgbClr val="000000"/>
                          </a:solidFill>
                          <a:effectLst/>
                          <a:latin typeface="Times New Roman" panose="02020603050405020304" pitchFamily="18" charset="0"/>
                          <a:ea typeface="Arial Unicode MS"/>
                          <a:cs typeface="Arial" panose="020B0604020202020204" pitchFamily="34" charset="0"/>
                        </a:rPr>
                        <a:t>CNN</a:t>
                      </a:r>
                      <a:endParaRPr lang="en-US" sz="1800" kern="100" dirty="0">
                        <a:effectLst/>
                        <a:latin typeface="Times New Roman" panose="02020603050405020304" pitchFamily="18" charset="0"/>
                        <a:ea typeface="Arial Unicode MS"/>
                        <a:cs typeface="Arial" panose="020B0604020202020204" pitchFamily="34" charset="0"/>
                      </a:endParaRPr>
                    </a:p>
                  </a:txBody>
                  <a:tcPr marL="67235" marR="67235" marT="33618" marB="33618"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381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3CEE9"/>
                    </a:solidFill>
                  </a:tcPr>
                </a:tc>
                <a:tc>
                  <a:txBody>
                    <a:bodyPr/>
                    <a:lstStyle/>
                    <a:p>
                      <a:pPr marL="342900" lvl="0" indent="-342900" algn="ctr" rtl="0">
                        <a:lnSpc>
                          <a:spcPct val="107000"/>
                        </a:lnSpc>
                        <a:buFont typeface="Symbol" panose="05050102010706020507" pitchFamily="18" charset="2"/>
                        <a:buChar char=""/>
                      </a:pPr>
                      <a:r>
                        <a:rPr lang="en-US" sz="1600" b="1" kern="100" dirty="0">
                          <a:solidFill>
                            <a:srgbClr val="000000"/>
                          </a:solidFill>
                          <a:effectLst/>
                          <a:latin typeface="Times New Roman" panose="02020603050405020304" pitchFamily="18" charset="0"/>
                          <a:ea typeface="Arial Unicode MS"/>
                          <a:cs typeface="Arial" panose="020B0604020202020204" pitchFamily="34" charset="0"/>
                        </a:rPr>
                        <a:t>Accuracy: 99.5%</a:t>
                      </a:r>
                      <a:r>
                        <a:rPr lang="en-US" sz="1600" kern="100" dirty="0">
                          <a:solidFill>
                            <a:srgbClr val="000000"/>
                          </a:solidFill>
                          <a:effectLst/>
                          <a:latin typeface="Times New Roman" panose="02020603050405020304" pitchFamily="18" charset="0"/>
                          <a:ea typeface="Arial Unicode MS"/>
                          <a:cs typeface="Arial" panose="020B0604020202020204" pitchFamily="34" charset="0"/>
                        </a:rPr>
                        <a:t> </a:t>
                      </a:r>
                      <a:endParaRPr lang="en-US" sz="1400" kern="100" dirty="0">
                        <a:effectLst/>
                        <a:latin typeface="Times New Roman" panose="02020603050405020304" pitchFamily="18" charset="0"/>
                        <a:ea typeface="Arial Unicode MS"/>
                        <a:cs typeface="Arial" panose="020B0604020202020204" pitchFamily="34" charset="0"/>
                      </a:endParaRPr>
                    </a:p>
                    <a:p>
                      <a:pPr marL="342900" lvl="0" indent="-342900" algn="ctr">
                        <a:lnSpc>
                          <a:spcPct val="107000"/>
                        </a:lnSpc>
                        <a:buFont typeface="Symbol" panose="05050102010706020507" pitchFamily="18" charset="2"/>
                        <a:buChar char=""/>
                      </a:pPr>
                      <a:r>
                        <a:rPr lang="en-US" sz="1600" kern="100" dirty="0">
                          <a:solidFill>
                            <a:srgbClr val="000000"/>
                          </a:solidFill>
                          <a:effectLst/>
                          <a:latin typeface="Times New Roman" panose="02020603050405020304" pitchFamily="18" charset="0"/>
                          <a:ea typeface="Arial Unicode MS"/>
                          <a:cs typeface="Arial" panose="020B0604020202020204" pitchFamily="34" charset="0"/>
                        </a:rPr>
                        <a:t>Precision: 99.2</a:t>
                      </a:r>
                      <a:endParaRPr lang="en-US" sz="1400" kern="100" dirty="0">
                        <a:effectLst/>
                        <a:latin typeface="Times New Roman" panose="02020603050405020304" pitchFamily="18" charset="0"/>
                        <a:ea typeface="Arial Unicode MS"/>
                        <a:cs typeface="Arial" panose="020B0604020202020204" pitchFamily="34" charset="0"/>
                      </a:endParaRPr>
                    </a:p>
                    <a:p>
                      <a:pPr marL="342900" lvl="0" indent="-342900" algn="ctr">
                        <a:lnSpc>
                          <a:spcPct val="107000"/>
                        </a:lnSpc>
                        <a:buFont typeface="Symbol" panose="05050102010706020507" pitchFamily="18" charset="2"/>
                        <a:buChar char=""/>
                      </a:pPr>
                      <a:r>
                        <a:rPr lang="en-US" sz="1600" kern="100" dirty="0">
                          <a:solidFill>
                            <a:srgbClr val="000000"/>
                          </a:solidFill>
                          <a:effectLst/>
                          <a:latin typeface="Times New Roman" panose="02020603050405020304" pitchFamily="18" charset="0"/>
                          <a:ea typeface="Arial Unicode MS"/>
                          <a:cs typeface="Arial" panose="020B0604020202020204" pitchFamily="34" charset="0"/>
                        </a:rPr>
                        <a:t>Recall: 99.7%</a:t>
                      </a:r>
                      <a:endParaRPr lang="en-US" sz="1400" kern="100" dirty="0">
                        <a:effectLst/>
                        <a:latin typeface="Times New Roman" panose="02020603050405020304" pitchFamily="18" charset="0"/>
                        <a:ea typeface="Arial Unicode MS"/>
                        <a:cs typeface="Arial" panose="020B0604020202020204" pitchFamily="34" charset="0"/>
                      </a:endParaRPr>
                    </a:p>
                    <a:p>
                      <a:pPr marL="342900" lvl="0" indent="-342900" algn="ctr">
                        <a:lnSpc>
                          <a:spcPct val="107000"/>
                        </a:lnSpc>
                        <a:buFont typeface="Symbol" panose="05050102010706020507" pitchFamily="18" charset="2"/>
                        <a:buChar char=""/>
                      </a:pPr>
                      <a:r>
                        <a:rPr lang="en-US" sz="1600" kern="100" dirty="0">
                          <a:solidFill>
                            <a:srgbClr val="000000"/>
                          </a:solidFill>
                          <a:effectLst/>
                          <a:latin typeface="Times New Roman" panose="02020603050405020304" pitchFamily="18" charset="0"/>
                          <a:ea typeface="Arial Unicode MS"/>
                          <a:cs typeface="Arial" panose="020B0604020202020204" pitchFamily="34" charset="0"/>
                        </a:rPr>
                        <a:t>F1-Score: 99.4%</a:t>
                      </a:r>
                      <a:endParaRPr lang="en-US" sz="1400" kern="100" dirty="0">
                        <a:effectLst/>
                        <a:latin typeface="Times New Roman" panose="02020603050405020304" pitchFamily="18" charset="0"/>
                        <a:ea typeface="Arial Unicode MS"/>
                        <a:cs typeface="Arial" panose="020B0604020202020204" pitchFamily="34" charset="0"/>
                      </a:endParaRPr>
                    </a:p>
                  </a:txBody>
                  <a:tcPr marL="67235" marR="67235" marT="33618" marB="33618"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381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3CEE9"/>
                    </a:solidFill>
                  </a:tcPr>
                </a:tc>
                <a:extLst>
                  <a:ext uri="{0D108BD9-81ED-4DB2-BD59-A6C34878D82A}">
                    <a16:rowId xmlns:a16="http://schemas.microsoft.com/office/drawing/2014/main" val="469052904"/>
                  </a:ext>
                </a:extLst>
              </a:tr>
              <a:tr h="2462668">
                <a:tc>
                  <a:txBody>
                    <a:bodyPr/>
                    <a:lstStyle/>
                    <a:p>
                      <a:pPr algn="ctr">
                        <a:lnSpc>
                          <a:spcPct val="107000"/>
                        </a:lnSpc>
                      </a:pPr>
                      <a:r>
                        <a:rPr lang="en-US" sz="1500" b="1" kern="100">
                          <a:solidFill>
                            <a:srgbClr val="000000"/>
                          </a:solidFill>
                          <a:effectLst/>
                          <a:latin typeface="Times New Roman" panose="02020603050405020304" pitchFamily="18" charset="0"/>
                          <a:ea typeface="Arial Unicode MS"/>
                          <a:cs typeface="Arial" panose="020B0604020202020204" pitchFamily="34" charset="0"/>
                        </a:rPr>
                        <a:t>4</a:t>
                      </a:r>
                      <a:endParaRPr lang="en-US" sz="900" kern="100">
                        <a:effectLst/>
                        <a:latin typeface="Times New Roman" panose="02020603050405020304" pitchFamily="18" charset="0"/>
                        <a:ea typeface="Arial Unicode MS"/>
                        <a:cs typeface="Arial" panose="020B0604020202020204" pitchFamily="34" charset="0"/>
                      </a:endParaRPr>
                    </a:p>
                  </a:txBody>
                  <a:tcPr marL="0" marR="0" marT="0"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1E8F4"/>
                    </a:solidFill>
                  </a:tcPr>
                </a:tc>
                <a:tc>
                  <a:txBody>
                    <a:bodyPr/>
                    <a:lstStyle/>
                    <a:p>
                      <a:pPr algn="ctr">
                        <a:lnSpc>
                          <a:spcPct val="107000"/>
                        </a:lnSpc>
                      </a:pPr>
                      <a:r>
                        <a:rPr lang="en-US" sz="900" u="none" strike="noStrike" kern="100">
                          <a:solidFill>
                            <a:srgbClr val="0563C1"/>
                          </a:solidFill>
                          <a:effectLst/>
                          <a:latin typeface="Times New Roman" panose="02020603050405020304" pitchFamily="18" charset="0"/>
                          <a:ea typeface="Arial Unicode MS"/>
                          <a:cs typeface="Arial" panose="020B0604020202020204" pitchFamily="34" charset="0"/>
                        </a:rPr>
                        <a:t> </a:t>
                      </a:r>
                      <a:endParaRPr lang="en-US" sz="900" kern="100">
                        <a:effectLst/>
                        <a:latin typeface="Times New Roman" panose="02020603050405020304" pitchFamily="18" charset="0"/>
                        <a:ea typeface="Arial Unicode MS"/>
                        <a:cs typeface="Arial" panose="020B0604020202020204" pitchFamily="34" charset="0"/>
                      </a:endParaRPr>
                    </a:p>
                    <a:p>
                      <a:pPr algn="ctr">
                        <a:lnSpc>
                          <a:spcPct val="107000"/>
                        </a:lnSpc>
                      </a:pPr>
                      <a:r>
                        <a:rPr lang="en-US" sz="1600" b="1" kern="100">
                          <a:solidFill>
                            <a:srgbClr val="000000"/>
                          </a:solidFill>
                          <a:effectLst/>
                          <a:latin typeface="Times New Roman" panose="02020603050405020304" pitchFamily="18" charset="0"/>
                          <a:ea typeface="Arial Unicode MS"/>
                          <a:cs typeface="Arial" panose="020B0604020202020204" pitchFamily="34" charset="0"/>
                        </a:rPr>
                        <a:t>2022</a:t>
                      </a:r>
                      <a:endParaRPr lang="en-US" sz="900" kern="100">
                        <a:effectLst/>
                        <a:latin typeface="Times New Roman" panose="02020603050405020304" pitchFamily="18" charset="0"/>
                        <a:ea typeface="Arial Unicode MS"/>
                        <a:cs typeface="Arial" panose="020B0604020202020204" pitchFamily="34" charset="0"/>
                      </a:endParaRPr>
                    </a:p>
                  </a:txBody>
                  <a:tcPr marL="67235" marR="67235" marT="33618" marB="33618"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1E8F4"/>
                    </a:solidFill>
                  </a:tcPr>
                </a:tc>
                <a:tc>
                  <a:txBody>
                    <a:bodyPr/>
                    <a:lstStyle/>
                    <a:p>
                      <a:pPr algn="ctr">
                        <a:lnSpc>
                          <a:spcPct val="107000"/>
                        </a:lnSpc>
                      </a:pPr>
                      <a:r>
                        <a:rPr lang="en-US" sz="1000" kern="100" dirty="0">
                          <a:effectLst/>
                          <a:latin typeface="Times New Roman" panose="02020603050405020304" pitchFamily="18" charset="0"/>
                          <a:ea typeface="Arial Unicode MS"/>
                          <a:cs typeface="Arial" panose="020B0604020202020204" pitchFamily="34" charset="0"/>
                        </a:rPr>
                        <a:t> </a:t>
                      </a:r>
                      <a:endParaRPr lang="en-US" sz="900" kern="100" dirty="0">
                        <a:effectLst/>
                        <a:latin typeface="Times New Roman" panose="02020603050405020304" pitchFamily="18" charset="0"/>
                        <a:ea typeface="Arial Unicode MS"/>
                        <a:cs typeface="Arial" panose="020B0604020202020204" pitchFamily="34" charset="0"/>
                      </a:endParaRPr>
                    </a:p>
                    <a:p>
                      <a:pPr algn="ctr">
                        <a:lnSpc>
                          <a:spcPct val="107000"/>
                        </a:lnSpc>
                      </a:pPr>
                      <a:r>
                        <a:rPr lang="en-US" sz="2000" b="1" kern="100" dirty="0" err="1">
                          <a:solidFill>
                            <a:srgbClr val="000000"/>
                          </a:solidFill>
                          <a:effectLst/>
                          <a:latin typeface="Times New Roman" panose="02020603050405020304" pitchFamily="18" charset="0"/>
                          <a:ea typeface="Arial Unicode MS"/>
                          <a:cs typeface="Arial" panose="020B0604020202020204" pitchFamily="34" charset="0"/>
                        </a:rPr>
                        <a:t>BraTS</a:t>
                      </a:r>
                      <a:r>
                        <a:rPr lang="en-US" sz="2000" b="1" kern="100" dirty="0">
                          <a:solidFill>
                            <a:srgbClr val="000000"/>
                          </a:solidFill>
                          <a:effectLst/>
                          <a:latin typeface="Times New Roman" panose="02020603050405020304" pitchFamily="18" charset="0"/>
                          <a:ea typeface="Arial Unicode MS"/>
                          <a:cs typeface="Arial" panose="020B0604020202020204" pitchFamily="34" charset="0"/>
                        </a:rPr>
                        <a:t> dataset</a:t>
                      </a:r>
                      <a:endParaRPr lang="en-US" sz="1200" kern="100" dirty="0">
                        <a:effectLst/>
                        <a:latin typeface="Times New Roman" panose="02020603050405020304" pitchFamily="18" charset="0"/>
                        <a:ea typeface="Arial Unicode MS"/>
                        <a:cs typeface="Arial" panose="020B0604020202020204" pitchFamily="34" charset="0"/>
                      </a:endParaRPr>
                    </a:p>
                  </a:txBody>
                  <a:tcPr marL="67235" marR="67235" marT="33618" marB="33618"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1E8F4"/>
                    </a:solidFill>
                  </a:tcPr>
                </a:tc>
                <a:tc>
                  <a:txBody>
                    <a:bodyPr/>
                    <a:lstStyle/>
                    <a:p>
                      <a:pPr algn="ctr">
                        <a:lnSpc>
                          <a:spcPct val="107000"/>
                        </a:lnSpc>
                      </a:pPr>
                      <a:r>
                        <a:rPr lang="en-US" sz="1400" b="1" kern="100" dirty="0">
                          <a:solidFill>
                            <a:srgbClr val="000000"/>
                          </a:solidFill>
                          <a:effectLst/>
                          <a:latin typeface="Times New Roman" panose="02020603050405020304" pitchFamily="18" charset="0"/>
                          <a:ea typeface="Arial Unicode MS"/>
                          <a:cs typeface="Arial" panose="020B0604020202020204" pitchFamily="34" charset="0"/>
                        </a:rPr>
                        <a:t>DenseNet-121 convolutional neural network (CNN)</a:t>
                      </a:r>
                      <a:r>
                        <a:rPr lang="en-US" sz="1400" kern="100" dirty="0">
                          <a:solidFill>
                            <a:srgbClr val="000000"/>
                          </a:solidFill>
                          <a:effectLst/>
                          <a:latin typeface="Times New Roman" panose="02020603050405020304" pitchFamily="18" charset="0"/>
                          <a:ea typeface="Arial Unicode MS"/>
                          <a:cs typeface="Arial" panose="020B0604020202020204" pitchFamily="34" charset="0"/>
                        </a:rPr>
                        <a:t> </a:t>
                      </a:r>
                      <a:endParaRPr lang="en-US" sz="1200" kern="100" dirty="0">
                        <a:effectLst/>
                        <a:latin typeface="Times New Roman" panose="02020603050405020304" pitchFamily="18" charset="0"/>
                        <a:ea typeface="Arial Unicode MS"/>
                        <a:cs typeface="Arial" panose="020B0604020202020204" pitchFamily="34" charset="0"/>
                      </a:endParaRPr>
                    </a:p>
                  </a:txBody>
                  <a:tcPr marL="67235" marR="67235" marT="33618" marB="33618"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1E8F4"/>
                    </a:solidFill>
                  </a:tcPr>
                </a:tc>
                <a:tc>
                  <a:txBody>
                    <a:bodyPr/>
                    <a:lstStyle/>
                    <a:p>
                      <a:pPr algn="ctr">
                        <a:lnSpc>
                          <a:spcPct val="107000"/>
                        </a:lnSpc>
                      </a:pPr>
                      <a:r>
                        <a:rPr lang="en-US" sz="1600" kern="100" dirty="0">
                          <a:solidFill>
                            <a:srgbClr val="000000"/>
                          </a:solidFill>
                          <a:effectLst/>
                          <a:latin typeface="Times New Roman" panose="02020603050405020304" pitchFamily="18" charset="0"/>
                          <a:ea typeface="Arial Unicode MS"/>
                          <a:cs typeface="Arial" panose="020B0604020202020204" pitchFamily="34" charset="0"/>
                        </a:rPr>
                        <a:t>A</a:t>
                      </a:r>
                      <a:r>
                        <a:rPr lang="en-US" sz="1600" b="1" kern="100" dirty="0">
                          <a:solidFill>
                            <a:srgbClr val="000000"/>
                          </a:solidFill>
                          <a:effectLst/>
                          <a:latin typeface="Times New Roman" panose="02020603050405020304" pitchFamily="18" charset="0"/>
                          <a:ea typeface="Arial Unicode MS"/>
                          <a:cs typeface="Arial" panose="020B0604020202020204" pitchFamily="34" charset="0"/>
                        </a:rPr>
                        <a:t>ccuracy (98.28)</a:t>
                      </a:r>
                      <a:endParaRPr lang="en-US" sz="1400" kern="100" dirty="0">
                        <a:effectLst/>
                        <a:latin typeface="Times New Roman" panose="02020603050405020304" pitchFamily="18" charset="0"/>
                        <a:ea typeface="Arial Unicode MS"/>
                        <a:cs typeface="Arial" panose="020B0604020202020204" pitchFamily="34" charset="0"/>
                      </a:endParaRPr>
                    </a:p>
                  </a:txBody>
                  <a:tcPr marL="67235" marR="67235" marT="33618" marB="33618"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1E8F4"/>
                    </a:solidFill>
                  </a:tcPr>
                </a:tc>
                <a:extLst>
                  <a:ext uri="{0D108BD9-81ED-4DB2-BD59-A6C34878D82A}">
                    <a16:rowId xmlns:a16="http://schemas.microsoft.com/office/drawing/2014/main" val="2634133947"/>
                  </a:ext>
                </a:extLst>
              </a:tr>
            </a:tbl>
          </a:graphicData>
        </a:graphic>
      </p:graphicFrame>
    </p:spTree>
    <p:extLst>
      <p:ext uri="{BB962C8B-B14F-4D97-AF65-F5344CB8AC3E}">
        <p14:creationId xmlns:p14="http://schemas.microsoft.com/office/powerpoint/2010/main" val="3223240702"/>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Date Placeholder 5">
            <a:extLst>
              <a:ext uri="{FF2B5EF4-FFF2-40B4-BE49-F238E27FC236}">
                <a16:creationId xmlns:a16="http://schemas.microsoft.com/office/drawing/2014/main" id="{0AE33114-50DA-FC98-757E-18018F61DE8F}"/>
              </a:ext>
            </a:extLst>
          </p:cNvPr>
          <p:cNvSpPr>
            <a:spLocks noGrp="1"/>
          </p:cNvSpPr>
          <p:nvPr>
            <p:ph type="dt" sz="half" idx="10"/>
          </p:nvPr>
        </p:nvSpPr>
        <p:spPr/>
        <p:txBody>
          <a:bodyPr/>
          <a:lstStyle/>
          <a:p>
            <a:fld id="{022E81D1-48FF-42B4-B3C6-F074C16865C2}" type="datetime1">
              <a:rPr lang="en-US" smtClean="0"/>
              <a:t>12/22/2025</a:t>
            </a:fld>
            <a:endParaRPr lang="en-US"/>
          </a:p>
        </p:txBody>
      </p:sp>
      <p:sp>
        <p:nvSpPr>
          <p:cNvPr id="7" name="Slide Number Placeholder 6">
            <a:extLst>
              <a:ext uri="{FF2B5EF4-FFF2-40B4-BE49-F238E27FC236}">
                <a16:creationId xmlns:a16="http://schemas.microsoft.com/office/drawing/2014/main" id="{C34F5396-3573-7D7E-A048-ED0990309BAD}"/>
              </a:ext>
            </a:extLst>
          </p:cNvPr>
          <p:cNvSpPr>
            <a:spLocks noGrp="1"/>
          </p:cNvSpPr>
          <p:nvPr>
            <p:ph type="sldNum" sz="quarter" idx="12"/>
          </p:nvPr>
        </p:nvSpPr>
        <p:spPr/>
        <p:txBody>
          <a:bodyPr/>
          <a:lstStyle/>
          <a:p>
            <a:fld id="{40742BEA-48CF-4F32-AFB8-C9C4AAF5269A}" type="slidenum">
              <a:rPr lang="en-US" smtClean="0"/>
              <a:t>9</a:t>
            </a:fld>
            <a:endParaRPr lang="en-US"/>
          </a:p>
        </p:txBody>
      </p:sp>
      <p:graphicFrame>
        <p:nvGraphicFramePr>
          <p:cNvPr id="2" name="Table 1">
            <a:extLst>
              <a:ext uri="{FF2B5EF4-FFF2-40B4-BE49-F238E27FC236}">
                <a16:creationId xmlns:a16="http://schemas.microsoft.com/office/drawing/2014/main" id="{CFB06D34-FB82-EE29-B4A9-D0E21E376FDB}"/>
              </a:ext>
            </a:extLst>
          </p:cNvPr>
          <p:cNvGraphicFramePr>
            <a:graphicFrameLocks noGrp="1"/>
          </p:cNvGraphicFramePr>
          <p:nvPr>
            <p:extLst>
              <p:ext uri="{D42A27DB-BD31-4B8C-83A1-F6EECF244321}">
                <p14:modId xmlns:p14="http://schemas.microsoft.com/office/powerpoint/2010/main" val="543598368"/>
              </p:ext>
            </p:extLst>
          </p:nvPr>
        </p:nvGraphicFramePr>
        <p:xfrm>
          <a:off x="410547" y="633588"/>
          <a:ext cx="10814180" cy="5468006"/>
        </p:xfrm>
        <a:graphic>
          <a:graphicData uri="http://schemas.openxmlformats.org/drawingml/2006/table">
            <a:tbl>
              <a:tblPr firstRow="1" bandRow="1"/>
              <a:tblGrid>
                <a:gridCol w="1578870">
                  <a:extLst>
                    <a:ext uri="{9D8B030D-6E8A-4147-A177-3AD203B41FA5}">
                      <a16:colId xmlns:a16="http://schemas.microsoft.com/office/drawing/2014/main" val="4273701721"/>
                    </a:ext>
                  </a:extLst>
                </a:gridCol>
                <a:gridCol w="2033065">
                  <a:extLst>
                    <a:ext uri="{9D8B030D-6E8A-4147-A177-3AD203B41FA5}">
                      <a16:colId xmlns:a16="http://schemas.microsoft.com/office/drawing/2014/main" val="1281318985"/>
                    </a:ext>
                  </a:extLst>
                </a:gridCol>
                <a:gridCol w="2147697">
                  <a:extLst>
                    <a:ext uri="{9D8B030D-6E8A-4147-A177-3AD203B41FA5}">
                      <a16:colId xmlns:a16="http://schemas.microsoft.com/office/drawing/2014/main" val="654237727"/>
                    </a:ext>
                  </a:extLst>
                </a:gridCol>
                <a:gridCol w="2017927">
                  <a:extLst>
                    <a:ext uri="{9D8B030D-6E8A-4147-A177-3AD203B41FA5}">
                      <a16:colId xmlns:a16="http://schemas.microsoft.com/office/drawing/2014/main" val="2275270734"/>
                    </a:ext>
                  </a:extLst>
                </a:gridCol>
                <a:gridCol w="3036621">
                  <a:extLst>
                    <a:ext uri="{9D8B030D-6E8A-4147-A177-3AD203B41FA5}">
                      <a16:colId xmlns:a16="http://schemas.microsoft.com/office/drawing/2014/main" val="2305716108"/>
                    </a:ext>
                  </a:extLst>
                </a:gridCol>
              </a:tblGrid>
              <a:tr h="720948">
                <a:tc>
                  <a:txBody>
                    <a:bodyPr/>
                    <a:lstStyle/>
                    <a:p>
                      <a:pPr algn="ctr">
                        <a:lnSpc>
                          <a:spcPct val="115000"/>
                        </a:lnSpc>
                      </a:pPr>
                      <a:r>
                        <a:rPr lang="en-US" sz="900" b="1" kern="100" dirty="0">
                          <a:solidFill>
                            <a:srgbClr val="000000"/>
                          </a:solidFill>
                          <a:effectLst/>
                          <a:latin typeface="Times New Roman" panose="02020603050405020304" pitchFamily="18" charset="0"/>
                          <a:ea typeface="Arial Unicode MS"/>
                          <a:cs typeface="Arial" panose="020B0604020202020204" pitchFamily="34" charset="0"/>
                        </a:rPr>
                        <a:t>STUDY NUMBER</a:t>
                      </a:r>
                      <a:endParaRPr lang="en-US" sz="800" kern="100" dirty="0">
                        <a:effectLst/>
                        <a:latin typeface="Times New Roman" panose="02020603050405020304" pitchFamily="18" charset="0"/>
                        <a:ea typeface="Arial Unicode MS"/>
                        <a:cs typeface="Arial" panose="020B0604020202020204" pitchFamily="34" charset="0"/>
                      </a:endParaRPr>
                    </a:p>
                  </a:txBody>
                  <a:tcPr marL="0" marR="0" marT="0"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38100" cap="flat" cmpd="sng" algn="ctr">
                      <a:solidFill>
                        <a:srgbClr val="FFFFFF"/>
                      </a:solidFill>
                      <a:prstDash val="solid"/>
                      <a:round/>
                      <a:headEnd type="none" w="med" len="med"/>
                      <a:tailEnd type="none" w="med" len="med"/>
                    </a:lnB>
                    <a:solidFill>
                      <a:srgbClr val="AC3EC1"/>
                    </a:solidFill>
                  </a:tcPr>
                </a:tc>
                <a:tc>
                  <a:txBody>
                    <a:bodyPr/>
                    <a:lstStyle/>
                    <a:p>
                      <a:pPr algn="ctr">
                        <a:lnSpc>
                          <a:spcPct val="115000"/>
                        </a:lnSpc>
                      </a:pPr>
                      <a:r>
                        <a:rPr lang="en-US" sz="900" b="1" kern="100">
                          <a:solidFill>
                            <a:srgbClr val="000000"/>
                          </a:solidFill>
                          <a:effectLst/>
                          <a:latin typeface="Times New Roman" panose="02020603050405020304" pitchFamily="18" charset="0"/>
                          <a:ea typeface="Arial Unicode MS"/>
                          <a:cs typeface="Arial" panose="020B0604020202020204" pitchFamily="34" charset="0"/>
                        </a:rPr>
                        <a:t>STUDY YEAR</a:t>
                      </a:r>
                      <a:endParaRPr lang="en-US" sz="800" kern="100">
                        <a:effectLst/>
                        <a:latin typeface="Times New Roman" panose="02020603050405020304" pitchFamily="18" charset="0"/>
                        <a:ea typeface="Arial Unicode MS"/>
                        <a:cs typeface="Arial" panose="020B0604020202020204" pitchFamily="34" charset="0"/>
                      </a:endParaRPr>
                    </a:p>
                  </a:txBody>
                  <a:tcPr marL="60841" marR="60841" marT="30421" marB="30421"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38100" cap="flat" cmpd="sng" algn="ctr">
                      <a:solidFill>
                        <a:srgbClr val="FFFFFF"/>
                      </a:solidFill>
                      <a:prstDash val="solid"/>
                      <a:round/>
                      <a:headEnd type="none" w="med" len="med"/>
                      <a:tailEnd type="none" w="med" len="med"/>
                    </a:lnB>
                    <a:solidFill>
                      <a:srgbClr val="AC3EC1"/>
                    </a:solidFill>
                  </a:tcPr>
                </a:tc>
                <a:tc>
                  <a:txBody>
                    <a:bodyPr/>
                    <a:lstStyle/>
                    <a:p>
                      <a:pPr algn="ctr">
                        <a:lnSpc>
                          <a:spcPct val="115000"/>
                        </a:lnSpc>
                      </a:pPr>
                      <a:r>
                        <a:rPr lang="en-US" sz="900" b="1" kern="100">
                          <a:solidFill>
                            <a:srgbClr val="000000"/>
                          </a:solidFill>
                          <a:effectLst/>
                          <a:latin typeface="Times New Roman" panose="02020603050405020304" pitchFamily="18" charset="0"/>
                          <a:ea typeface="Arial Unicode MS"/>
                          <a:cs typeface="Arial" panose="020B0604020202020204" pitchFamily="34" charset="0"/>
                        </a:rPr>
                        <a:t>DATASET USED</a:t>
                      </a:r>
                      <a:endParaRPr lang="en-US" sz="800" kern="100">
                        <a:effectLst/>
                        <a:latin typeface="Times New Roman" panose="02020603050405020304" pitchFamily="18" charset="0"/>
                        <a:ea typeface="Arial Unicode MS"/>
                        <a:cs typeface="Arial" panose="020B0604020202020204" pitchFamily="34" charset="0"/>
                      </a:endParaRPr>
                    </a:p>
                  </a:txBody>
                  <a:tcPr marL="60841" marR="60841" marT="30421" marB="30421"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38100" cap="flat" cmpd="sng" algn="ctr">
                      <a:solidFill>
                        <a:srgbClr val="FFFFFF"/>
                      </a:solidFill>
                      <a:prstDash val="solid"/>
                      <a:round/>
                      <a:headEnd type="none" w="med" len="med"/>
                      <a:tailEnd type="none" w="med" len="med"/>
                    </a:lnB>
                    <a:solidFill>
                      <a:srgbClr val="AC3EC1"/>
                    </a:solidFill>
                  </a:tcPr>
                </a:tc>
                <a:tc>
                  <a:txBody>
                    <a:bodyPr/>
                    <a:lstStyle/>
                    <a:p>
                      <a:pPr algn="ctr">
                        <a:lnSpc>
                          <a:spcPct val="115000"/>
                        </a:lnSpc>
                      </a:pPr>
                      <a:r>
                        <a:rPr lang="en-US" sz="900" b="1" kern="100">
                          <a:solidFill>
                            <a:srgbClr val="000000"/>
                          </a:solidFill>
                          <a:effectLst/>
                          <a:latin typeface="Times New Roman" panose="02020603050405020304" pitchFamily="18" charset="0"/>
                          <a:ea typeface="Arial Unicode MS"/>
                          <a:cs typeface="Arial" panose="020B0604020202020204" pitchFamily="34" charset="0"/>
                        </a:rPr>
                        <a:t>METHODS USED</a:t>
                      </a:r>
                      <a:endParaRPr lang="en-US" sz="800" kern="100">
                        <a:effectLst/>
                        <a:latin typeface="Times New Roman" panose="02020603050405020304" pitchFamily="18" charset="0"/>
                        <a:ea typeface="Arial Unicode MS"/>
                        <a:cs typeface="Arial" panose="020B0604020202020204" pitchFamily="34" charset="0"/>
                      </a:endParaRPr>
                    </a:p>
                  </a:txBody>
                  <a:tcPr marL="60841" marR="60841" marT="30421" marB="30421"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38100" cap="flat" cmpd="sng" algn="ctr">
                      <a:solidFill>
                        <a:srgbClr val="FFFFFF"/>
                      </a:solidFill>
                      <a:prstDash val="solid"/>
                      <a:round/>
                      <a:headEnd type="none" w="med" len="med"/>
                      <a:tailEnd type="none" w="med" len="med"/>
                    </a:lnB>
                    <a:solidFill>
                      <a:srgbClr val="AC3EC1"/>
                    </a:solidFill>
                  </a:tcPr>
                </a:tc>
                <a:tc>
                  <a:txBody>
                    <a:bodyPr/>
                    <a:lstStyle/>
                    <a:p>
                      <a:pPr algn="ctr">
                        <a:lnSpc>
                          <a:spcPct val="115000"/>
                        </a:lnSpc>
                      </a:pPr>
                      <a:r>
                        <a:rPr lang="en-US" sz="900" b="1" kern="100">
                          <a:solidFill>
                            <a:srgbClr val="000000"/>
                          </a:solidFill>
                          <a:effectLst/>
                          <a:latin typeface="Times New Roman" panose="02020603050405020304" pitchFamily="18" charset="0"/>
                          <a:ea typeface="Arial Unicode MS"/>
                          <a:cs typeface="Arial" panose="020B0604020202020204" pitchFamily="34" charset="0"/>
                        </a:rPr>
                        <a:t>OUTPUT</a:t>
                      </a:r>
                      <a:endParaRPr lang="en-US" sz="800" kern="100">
                        <a:effectLst/>
                        <a:latin typeface="Times New Roman" panose="02020603050405020304" pitchFamily="18" charset="0"/>
                        <a:ea typeface="Arial Unicode MS"/>
                        <a:cs typeface="Arial" panose="020B0604020202020204" pitchFamily="34" charset="0"/>
                      </a:endParaRPr>
                    </a:p>
                  </a:txBody>
                  <a:tcPr marL="60841" marR="60841" marT="30421" marB="30421"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38100" cap="flat" cmpd="sng" algn="ctr">
                      <a:solidFill>
                        <a:srgbClr val="FFFFFF"/>
                      </a:solidFill>
                      <a:prstDash val="solid"/>
                      <a:round/>
                      <a:headEnd type="none" w="med" len="med"/>
                      <a:tailEnd type="none" w="med" len="med"/>
                    </a:lnB>
                    <a:solidFill>
                      <a:srgbClr val="AC3EC1"/>
                    </a:solidFill>
                  </a:tcPr>
                </a:tc>
                <a:extLst>
                  <a:ext uri="{0D108BD9-81ED-4DB2-BD59-A6C34878D82A}">
                    <a16:rowId xmlns:a16="http://schemas.microsoft.com/office/drawing/2014/main" val="232392654"/>
                  </a:ext>
                </a:extLst>
              </a:tr>
              <a:tr h="1254354">
                <a:tc>
                  <a:txBody>
                    <a:bodyPr/>
                    <a:lstStyle/>
                    <a:p>
                      <a:pPr algn="ctr">
                        <a:lnSpc>
                          <a:spcPct val="115000"/>
                        </a:lnSpc>
                      </a:pPr>
                      <a:r>
                        <a:rPr lang="en-US" sz="1300" b="1" kern="100">
                          <a:solidFill>
                            <a:srgbClr val="000000"/>
                          </a:solidFill>
                          <a:effectLst/>
                          <a:latin typeface="Times New Roman" panose="02020603050405020304" pitchFamily="18" charset="0"/>
                          <a:ea typeface="Arial Unicode MS"/>
                          <a:cs typeface="Arial" panose="020B0604020202020204" pitchFamily="34" charset="0"/>
                        </a:rPr>
                        <a:t>5</a:t>
                      </a:r>
                      <a:endParaRPr lang="en-US" sz="800" kern="100">
                        <a:effectLst/>
                        <a:latin typeface="Times New Roman" panose="02020603050405020304" pitchFamily="18" charset="0"/>
                        <a:ea typeface="Arial Unicode MS"/>
                        <a:cs typeface="Arial" panose="020B0604020202020204" pitchFamily="34" charset="0"/>
                      </a:endParaRPr>
                    </a:p>
                  </a:txBody>
                  <a:tcPr marL="0" marR="0" marT="0"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381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3CEE9"/>
                    </a:solidFill>
                  </a:tcPr>
                </a:tc>
                <a:tc>
                  <a:txBody>
                    <a:bodyPr/>
                    <a:lstStyle/>
                    <a:p>
                      <a:pPr algn="ctr">
                        <a:lnSpc>
                          <a:spcPct val="115000"/>
                        </a:lnSpc>
                      </a:pPr>
                      <a:r>
                        <a:rPr lang="en-US" sz="800" u="none" strike="noStrike" kern="100">
                          <a:solidFill>
                            <a:srgbClr val="0563C1"/>
                          </a:solidFill>
                          <a:effectLst/>
                          <a:latin typeface="Times New Roman" panose="02020603050405020304" pitchFamily="18" charset="0"/>
                          <a:ea typeface="Arial Unicode MS"/>
                          <a:cs typeface="Arial" panose="020B0604020202020204" pitchFamily="34" charset="0"/>
                        </a:rPr>
                        <a:t> </a:t>
                      </a:r>
                      <a:endParaRPr lang="en-US" sz="800" kern="100">
                        <a:effectLst/>
                        <a:latin typeface="Times New Roman" panose="02020603050405020304" pitchFamily="18" charset="0"/>
                        <a:ea typeface="Arial Unicode MS"/>
                        <a:cs typeface="Arial" panose="020B0604020202020204" pitchFamily="34" charset="0"/>
                      </a:endParaRPr>
                    </a:p>
                    <a:p>
                      <a:pPr algn="ctr">
                        <a:lnSpc>
                          <a:spcPct val="115000"/>
                        </a:lnSpc>
                      </a:pPr>
                      <a:r>
                        <a:rPr lang="en-US" sz="1500" b="1" kern="100">
                          <a:solidFill>
                            <a:srgbClr val="000000"/>
                          </a:solidFill>
                          <a:effectLst/>
                          <a:latin typeface="Times New Roman" panose="02020603050405020304" pitchFamily="18" charset="0"/>
                          <a:ea typeface="Arial Unicode MS"/>
                          <a:cs typeface="Arial" panose="020B0604020202020204" pitchFamily="34" charset="0"/>
                        </a:rPr>
                        <a:t>2018</a:t>
                      </a:r>
                      <a:endParaRPr lang="en-US" sz="800" kern="100">
                        <a:effectLst/>
                        <a:latin typeface="Times New Roman" panose="02020603050405020304" pitchFamily="18" charset="0"/>
                        <a:ea typeface="Arial Unicode MS"/>
                        <a:cs typeface="Arial" panose="020B0604020202020204" pitchFamily="34" charset="0"/>
                      </a:endParaRPr>
                    </a:p>
                  </a:txBody>
                  <a:tcPr marL="60841" marR="60841" marT="30421" marB="30421"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381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3CEE9"/>
                    </a:solidFill>
                  </a:tcPr>
                </a:tc>
                <a:tc>
                  <a:txBody>
                    <a:bodyPr/>
                    <a:lstStyle/>
                    <a:p>
                      <a:pPr algn="ctr">
                        <a:lnSpc>
                          <a:spcPct val="115000"/>
                        </a:lnSpc>
                      </a:pPr>
                      <a:r>
                        <a:rPr lang="en-US" sz="1800" b="1" kern="100" dirty="0" err="1">
                          <a:solidFill>
                            <a:srgbClr val="000000"/>
                          </a:solidFill>
                          <a:effectLst/>
                          <a:latin typeface="Times New Roman" panose="02020603050405020304" pitchFamily="18" charset="0"/>
                          <a:ea typeface="Arial Unicode MS"/>
                          <a:cs typeface="Arial" panose="020B0604020202020204" pitchFamily="34" charset="0"/>
                        </a:rPr>
                        <a:t>BraTS</a:t>
                      </a:r>
                      <a:r>
                        <a:rPr lang="en-US" sz="1800" b="1" kern="100" dirty="0">
                          <a:solidFill>
                            <a:srgbClr val="000000"/>
                          </a:solidFill>
                          <a:effectLst/>
                          <a:latin typeface="Times New Roman" panose="02020603050405020304" pitchFamily="18" charset="0"/>
                          <a:ea typeface="Arial Unicode MS"/>
                          <a:cs typeface="Arial" panose="020B0604020202020204" pitchFamily="34" charset="0"/>
                        </a:rPr>
                        <a:t> 2015</a:t>
                      </a:r>
                      <a:endParaRPr lang="en-US" sz="1050" kern="100" dirty="0">
                        <a:effectLst/>
                        <a:latin typeface="Times New Roman" panose="02020603050405020304" pitchFamily="18" charset="0"/>
                        <a:ea typeface="Arial Unicode MS"/>
                        <a:cs typeface="Arial" panose="020B0604020202020204" pitchFamily="34" charset="0"/>
                      </a:endParaRPr>
                    </a:p>
                  </a:txBody>
                  <a:tcPr marL="60841" marR="60841" marT="30421" marB="30421"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381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3CEE9"/>
                    </a:solidFill>
                  </a:tcPr>
                </a:tc>
                <a:tc>
                  <a:txBody>
                    <a:bodyPr/>
                    <a:lstStyle/>
                    <a:p>
                      <a:pPr algn="ctr">
                        <a:lnSpc>
                          <a:spcPct val="115000"/>
                        </a:lnSpc>
                      </a:pPr>
                      <a:r>
                        <a:rPr lang="en-US" sz="1400" b="1" kern="100" dirty="0">
                          <a:solidFill>
                            <a:srgbClr val="000000"/>
                          </a:solidFill>
                          <a:effectLst/>
                          <a:latin typeface="Times New Roman" panose="02020603050405020304" pitchFamily="18" charset="0"/>
                          <a:ea typeface="Arial Unicode MS"/>
                          <a:cs typeface="Arial" panose="020B0604020202020204" pitchFamily="34" charset="0"/>
                        </a:rPr>
                        <a:t>U-Net architecture</a:t>
                      </a:r>
                      <a:r>
                        <a:rPr lang="en-US" sz="1400" kern="100" dirty="0">
                          <a:solidFill>
                            <a:srgbClr val="000000"/>
                          </a:solidFill>
                          <a:effectLst/>
                          <a:latin typeface="Times New Roman" panose="02020603050405020304" pitchFamily="18" charset="0"/>
                          <a:ea typeface="Arial Unicode MS"/>
                          <a:cs typeface="Arial" panose="020B0604020202020204" pitchFamily="34" charset="0"/>
                        </a:rPr>
                        <a:t>,</a:t>
                      </a:r>
                      <a:endParaRPr lang="en-US" sz="1200" kern="100" dirty="0">
                        <a:effectLst/>
                        <a:latin typeface="Times New Roman" panose="02020603050405020304" pitchFamily="18" charset="0"/>
                        <a:ea typeface="Arial Unicode MS"/>
                        <a:cs typeface="Arial" panose="020B0604020202020204" pitchFamily="34" charset="0"/>
                      </a:endParaRPr>
                    </a:p>
                  </a:txBody>
                  <a:tcPr marL="60841" marR="60841" marT="30421" marB="30421"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381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3CEE9"/>
                    </a:solidFill>
                  </a:tcPr>
                </a:tc>
                <a:tc>
                  <a:txBody>
                    <a:bodyPr/>
                    <a:lstStyle/>
                    <a:p>
                      <a:pPr algn="ctr">
                        <a:lnSpc>
                          <a:spcPct val="115000"/>
                        </a:lnSpc>
                      </a:pPr>
                      <a:r>
                        <a:rPr lang="en-US" sz="1600" b="1" kern="100" dirty="0">
                          <a:solidFill>
                            <a:srgbClr val="000000"/>
                          </a:solidFill>
                          <a:effectLst/>
                          <a:latin typeface="Times New Roman" panose="02020603050405020304" pitchFamily="18" charset="0"/>
                          <a:ea typeface="Arial Unicode MS"/>
                          <a:cs typeface="Arial" panose="020B0604020202020204" pitchFamily="34" charset="0"/>
                        </a:rPr>
                        <a:t>(DSC) of over 0.9</a:t>
                      </a:r>
                      <a:r>
                        <a:rPr lang="en-US" sz="1600" kern="100" dirty="0">
                          <a:solidFill>
                            <a:srgbClr val="000000"/>
                          </a:solidFill>
                          <a:effectLst/>
                          <a:latin typeface="Times New Roman" panose="02020603050405020304" pitchFamily="18" charset="0"/>
                          <a:ea typeface="Arial Unicode MS"/>
                          <a:cs typeface="Arial" panose="020B0604020202020204" pitchFamily="34" charset="0"/>
                        </a:rPr>
                        <a:t> for</a:t>
                      </a:r>
                      <a:endParaRPr lang="en-US" sz="1400" kern="100" dirty="0">
                        <a:effectLst/>
                        <a:latin typeface="Times New Roman" panose="02020603050405020304" pitchFamily="18" charset="0"/>
                        <a:ea typeface="Arial Unicode MS"/>
                        <a:cs typeface="Arial" panose="020B0604020202020204" pitchFamily="34" charset="0"/>
                      </a:endParaRPr>
                    </a:p>
                    <a:p>
                      <a:pPr algn="ctr">
                        <a:lnSpc>
                          <a:spcPct val="115000"/>
                        </a:lnSpc>
                      </a:pPr>
                      <a:r>
                        <a:rPr lang="en-US" sz="1600" b="1" kern="100" dirty="0">
                          <a:solidFill>
                            <a:srgbClr val="000000"/>
                          </a:solidFill>
                          <a:effectLst/>
                          <a:latin typeface="Times New Roman" panose="02020603050405020304" pitchFamily="18" charset="0"/>
                          <a:ea typeface="Arial Unicode MS"/>
                          <a:cs typeface="Arial" panose="020B0604020202020204" pitchFamily="34" charset="0"/>
                        </a:rPr>
                        <a:t>accuracy: 95.6%</a:t>
                      </a:r>
                      <a:endParaRPr lang="en-US" sz="1400" kern="100" dirty="0">
                        <a:effectLst/>
                        <a:latin typeface="Times New Roman" panose="02020603050405020304" pitchFamily="18" charset="0"/>
                        <a:ea typeface="Arial Unicode MS"/>
                        <a:cs typeface="Arial" panose="020B0604020202020204" pitchFamily="34" charset="0"/>
                      </a:endParaRPr>
                    </a:p>
                  </a:txBody>
                  <a:tcPr marL="60841" marR="60841" marT="30421" marB="30421"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381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3CEE9"/>
                    </a:solidFill>
                  </a:tcPr>
                </a:tc>
                <a:extLst>
                  <a:ext uri="{0D108BD9-81ED-4DB2-BD59-A6C34878D82A}">
                    <a16:rowId xmlns:a16="http://schemas.microsoft.com/office/drawing/2014/main" val="3004735679"/>
                  </a:ext>
                </a:extLst>
              </a:tr>
              <a:tr h="1782887">
                <a:tc>
                  <a:txBody>
                    <a:bodyPr/>
                    <a:lstStyle/>
                    <a:p>
                      <a:pPr algn="ctr">
                        <a:lnSpc>
                          <a:spcPct val="115000"/>
                        </a:lnSpc>
                      </a:pPr>
                      <a:r>
                        <a:rPr lang="en-US" sz="1300" b="1" kern="100">
                          <a:solidFill>
                            <a:srgbClr val="000000"/>
                          </a:solidFill>
                          <a:effectLst/>
                          <a:latin typeface="Times New Roman" panose="02020603050405020304" pitchFamily="18" charset="0"/>
                          <a:ea typeface="Arial Unicode MS"/>
                          <a:cs typeface="Arial" panose="020B0604020202020204" pitchFamily="34" charset="0"/>
                        </a:rPr>
                        <a:t>6</a:t>
                      </a:r>
                      <a:endParaRPr lang="en-US" sz="800" kern="100">
                        <a:effectLst/>
                        <a:latin typeface="Times New Roman" panose="02020603050405020304" pitchFamily="18" charset="0"/>
                        <a:ea typeface="Arial Unicode MS"/>
                        <a:cs typeface="Arial" panose="020B0604020202020204" pitchFamily="34" charset="0"/>
                      </a:endParaRPr>
                    </a:p>
                  </a:txBody>
                  <a:tcPr marL="0" marR="0" marT="0"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1E8F4"/>
                    </a:solidFill>
                  </a:tcPr>
                </a:tc>
                <a:tc>
                  <a:txBody>
                    <a:bodyPr/>
                    <a:lstStyle/>
                    <a:p>
                      <a:pPr algn="ctr">
                        <a:lnSpc>
                          <a:spcPct val="115000"/>
                        </a:lnSpc>
                      </a:pPr>
                      <a:r>
                        <a:rPr lang="en-US" sz="800" u="none" strike="noStrike" kern="100">
                          <a:solidFill>
                            <a:srgbClr val="0563C1"/>
                          </a:solidFill>
                          <a:effectLst/>
                          <a:latin typeface="Times New Roman" panose="02020603050405020304" pitchFamily="18" charset="0"/>
                          <a:ea typeface="Arial Unicode MS"/>
                          <a:cs typeface="Arial" panose="020B0604020202020204" pitchFamily="34" charset="0"/>
                        </a:rPr>
                        <a:t> </a:t>
                      </a:r>
                      <a:endParaRPr lang="en-US" sz="800" kern="100">
                        <a:effectLst/>
                        <a:latin typeface="Times New Roman" panose="02020603050405020304" pitchFamily="18" charset="0"/>
                        <a:ea typeface="Arial Unicode MS"/>
                        <a:cs typeface="Arial" panose="020B0604020202020204" pitchFamily="34" charset="0"/>
                      </a:endParaRPr>
                    </a:p>
                    <a:p>
                      <a:pPr algn="ctr">
                        <a:lnSpc>
                          <a:spcPct val="115000"/>
                        </a:lnSpc>
                      </a:pPr>
                      <a:r>
                        <a:rPr lang="en-US" sz="1500" b="1" kern="100">
                          <a:solidFill>
                            <a:srgbClr val="000000"/>
                          </a:solidFill>
                          <a:effectLst/>
                          <a:latin typeface="Times New Roman" panose="02020603050405020304" pitchFamily="18" charset="0"/>
                          <a:ea typeface="Arial Unicode MS"/>
                          <a:cs typeface="Arial" panose="020B0604020202020204" pitchFamily="34" charset="0"/>
                        </a:rPr>
                        <a:t>2018</a:t>
                      </a:r>
                      <a:endParaRPr lang="en-US" sz="800" kern="100">
                        <a:effectLst/>
                        <a:latin typeface="Times New Roman" panose="02020603050405020304" pitchFamily="18" charset="0"/>
                        <a:ea typeface="Arial Unicode MS"/>
                        <a:cs typeface="Arial" panose="020B0604020202020204" pitchFamily="34" charset="0"/>
                      </a:endParaRPr>
                    </a:p>
                  </a:txBody>
                  <a:tcPr marL="60841" marR="60841" marT="30421" marB="30421"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1E8F4"/>
                    </a:solidFill>
                  </a:tcPr>
                </a:tc>
                <a:tc>
                  <a:txBody>
                    <a:bodyPr/>
                    <a:lstStyle/>
                    <a:p>
                      <a:pPr algn="ctr">
                        <a:lnSpc>
                          <a:spcPct val="115000"/>
                        </a:lnSpc>
                      </a:pPr>
                      <a:r>
                        <a:rPr lang="en-US" sz="1800" b="1" kern="100" dirty="0" err="1">
                          <a:solidFill>
                            <a:srgbClr val="000000"/>
                          </a:solidFill>
                          <a:effectLst/>
                          <a:latin typeface="Times New Roman" panose="02020603050405020304" pitchFamily="18" charset="0"/>
                          <a:ea typeface="Arial Unicode MS"/>
                          <a:cs typeface="Arial" panose="020B0604020202020204" pitchFamily="34" charset="0"/>
                        </a:rPr>
                        <a:t>BraTS</a:t>
                      </a:r>
                      <a:r>
                        <a:rPr lang="en-US" sz="1800" b="1" kern="100" dirty="0">
                          <a:solidFill>
                            <a:srgbClr val="000000"/>
                          </a:solidFill>
                          <a:effectLst/>
                          <a:latin typeface="Times New Roman" panose="02020603050405020304" pitchFamily="18" charset="0"/>
                          <a:ea typeface="Arial Unicode MS"/>
                          <a:cs typeface="Arial" panose="020B0604020202020204" pitchFamily="34" charset="0"/>
                        </a:rPr>
                        <a:t> 2017</a:t>
                      </a:r>
                      <a:endParaRPr lang="en-US" sz="1050" kern="100" dirty="0">
                        <a:effectLst/>
                        <a:latin typeface="Times New Roman" panose="02020603050405020304" pitchFamily="18" charset="0"/>
                        <a:ea typeface="Arial Unicode MS"/>
                        <a:cs typeface="Arial" panose="020B0604020202020204" pitchFamily="34" charset="0"/>
                      </a:endParaRPr>
                    </a:p>
                  </a:txBody>
                  <a:tcPr marL="60841" marR="60841" marT="30421" marB="30421"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1E8F4"/>
                    </a:solidFill>
                  </a:tcPr>
                </a:tc>
                <a:tc>
                  <a:txBody>
                    <a:bodyPr/>
                    <a:lstStyle/>
                    <a:p>
                      <a:pPr algn="ctr">
                        <a:lnSpc>
                          <a:spcPct val="115000"/>
                        </a:lnSpc>
                      </a:pPr>
                      <a:r>
                        <a:rPr lang="en-US" sz="1100" b="1" kern="100" dirty="0">
                          <a:solidFill>
                            <a:srgbClr val="000000"/>
                          </a:solidFill>
                          <a:effectLst/>
                          <a:latin typeface="Times New Roman" panose="02020603050405020304" pitchFamily="18" charset="0"/>
                          <a:ea typeface="Arial Unicode MS"/>
                          <a:cs typeface="Arial" panose="020B0604020202020204" pitchFamily="34" charset="0"/>
                        </a:rPr>
                        <a:t>fully convolutional network (FCN)</a:t>
                      </a:r>
                      <a:endParaRPr lang="en-US" sz="1050" kern="100" dirty="0">
                        <a:effectLst/>
                        <a:latin typeface="Times New Roman" panose="02020603050405020304" pitchFamily="18" charset="0"/>
                        <a:ea typeface="Arial Unicode MS"/>
                        <a:cs typeface="Arial" panose="020B0604020202020204" pitchFamily="34" charset="0"/>
                      </a:endParaRPr>
                    </a:p>
                  </a:txBody>
                  <a:tcPr marL="60841" marR="60841" marT="30421" marB="30421"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1E8F4"/>
                    </a:solidFill>
                  </a:tcPr>
                </a:tc>
                <a:tc>
                  <a:txBody>
                    <a:bodyPr/>
                    <a:lstStyle/>
                    <a:p>
                      <a:pPr algn="ctr">
                        <a:lnSpc>
                          <a:spcPct val="115000"/>
                        </a:lnSpc>
                      </a:pPr>
                      <a:r>
                        <a:rPr lang="en-US" sz="1200" b="1" kern="100" dirty="0">
                          <a:solidFill>
                            <a:srgbClr val="000000"/>
                          </a:solidFill>
                          <a:effectLst/>
                          <a:latin typeface="Times New Roman" panose="02020603050405020304" pitchFamily="18" charset="0"/>
                          <a:ea typeface="Arial Unicode MS"/>
                          <a:cs typeface="Arial" panose="020B0604020202020204" pitchFamily="34" charset="0"/>
                        </a:rPr>
                        <a:t>Dice Similarity Coefficient (DSC)</a:t>
                      </a:r>
                      <a:r>
                        <a:rPr lang="en-US" sz="1200" kern="100" dirty="0">
                          <a:solidFill>
                            <a:srgbClr val="000000"/>
                          </a:solidFill>
                          <a:effectLst/>
                          <a:latin typeface="Times New Roman" panose="02020603050405020304" pitchFamily="18" charset="0"/>
                          <a:ea typeface="Arial Unicode MS"/>
                          <a:cs typeface="Arial" panose="020B0604020202020204" pitchFamily="34" charset="0"/>
                        </a:rPr>
                        <a:t> of </a:t>
                      </a:r>
                      <a:r>
                        <a:rPr lang="en-US" sz="1200" b="1" kern="100" dirty="0">
                          <a:solidFill>
                            <a:srgbClr val="000000"/>
                          </a:solidFill>
                          <a:effectLst/>
                          <a:latin typeface="Times New Roman" panose="02020603050405020304" pitchFamily="18" charset="0"/>
                          <a:ea typeface="Arial Unicode MS"/>
                          <a:cs typeface="Arial" panose="020B0604020202020204" pitchFamily="34" charset="0"/>
                        </a:rPr>
                        <a:t>0.87</a:t>
                      </a:r>
                      <a:endParaRPr lang="en-US" sz="1100" kern="100" dirty="0">
                        <a:effectLst/>
                        <a:latin typeface="Times New Roman" panose="02020603050405020304" pitchFamily="18" charset="0"/>
                        <a:ea typeface="Arial Unicode MS"/>
                        <a:cs typeface="Arial" panose="020B0604020202020204" pitchFamily="34" charset="0"/>
                      </a:endParaRPr>
                    </a:p>
                    <a:p>
                      <a:pPr algn="ctr">
                        <a:lnSpc>
                          <a:spcPct val="115000"/>
                        </a:lnSpc>
                      </a:pPr>
                      <a:r>
                        <a:rPr lang="en-US" sz="1200" b="1" kern="100" dirty="0">
                          <a:solidFill>
                            <a:srgbClr val="000000"/>
                          </a:solidFill>
                          <a:effectLst/>
                          <a:latin typeface="Times New Roman" panose="02020603050405020304" pitchFamily="18" charset="0"/>
                          <a:ea typeface="Arial Unicode MS"/>
                          <a:cs typeface="Arial" panose="020B0604020202020204" pitchFamily="34" charset="0"/>
                        </a:rPr>
                        <a:t>Accuracy	93.7%</a:t>
                      </a:r>
                      <a:endParaRPr lang="en-US" sz="1100" kern="100" dirty="0">
                        <a:effectLst/>
                        <a:latin typeface="Times New Roman" panose="02020603050405020304" pitchFamily="18" charset="0"/>
                        <a:ea typeface="Arial Unicode MS"/>
                        <a:cs typeface="Arial" panose="020B0604020202020204" pitchFamily="34" charset="0"/>
                      </a:endParaRPr>
                    </a:p>
                  </a:txBody>
                  <a:tcPr marL="60841" marR="60841" marT="30421" marB="30421"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1E8F4"/>
                    </a:solidFill>
                  </a:tcPr>
                </a:tc>
                <a:extLst>
                  <a:ext uri="{0D108BD9-81ED-4DB2-BD59-A6C34878D82A}">
                    <a16:rowId xmlns:a16="http://schemas.microsoft.com/office/drawing/2014/main" val="1961221926"/>
                  </a:ext>
                </a:extLst>
              </a:tr>
              <a:tr h="1709817">
                <a:tc>
                  <a:txBody>
                    <a:bodyPr/>
                    <a:lstStyle/>
                    <a:p>
                      <a:pPr algn="ctr">
                        <a:lnSpc>
                          <a:spcPct val="115000"/>
                        </a:lnSpc>
                      </a:pPr>
                      <a:r>
                        <a:rPr lang="en-US" sz="1300" b="1" kern="100">
                          <a:solidFill>
                            <a:srgbClr val="000000"/>
                          </a:solidFill>
                          <a:effectLst/>
                          <a:latin typeface="Times New Roman" panose="02020603050405020304" pitchFamily="18" charset="0"/>
                          <a:ea typeface="Arial Unicode MS"/>
                          <a:cs typeface="Arial" panose="020B0604020202020204" pitchFamily="34" charset="0"/>
                        </a:rPr>
                        <a:t>7</a:t>
                      </a:r>
                      <a:endParaRPr lang="en-US" sz="800" kern="100">
                        <a:effectLst/>
                        <a:latin typeface="Times New Roman" panose="02020603050405020304" pitchFamily="18" charset="0"/>
                        <a:ea typeface="Arial Unicode MS"/>
                        <a:cs typeface="Arial" panose="020B0604020202020204" pitchFamily="34" charset="0"/>
                      </a:endParaRPr>
                    </a:p>
                  </a:txBody>
                  <a:tcPr marL="0" marR="0" marT="0"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BDD6EE"/>
                    </a:solidFill>
                  </a:tcPr>
                </a:tc>
                <a:tc>
                  <a:txBody>
                    <a:bodyPr/>
                    <a:lstStyle/>
                    <a:p>
                      <a:pPr algn="ctr">
                        <a:lnSpc>
                          <a:spcPct val="115000"/>
                        </a:lnSpc>
                      </a:pPr>
                      <a:r>
                        <a:rPr lang="en-US" sz="900" kern="100">
                          <a:effectLst/>
                          <a:latin typeface="Times New Roman" panose="02020603050405020304" pitchFamily="18" charset="0"/>
                          <a:ea typeface="Arial Unicode MS"/>
                          <a:cs typeface="Arial" panose="020B0604020202020204" pitchFamily="34" charset="0"/>
                        </a:rPr>
                        <a:t> </a:t>
                      </a:r>
                      <a:endParaRPr lang="en-US" sz="800" kern="100">
                        <a:effectLst/>
                        <a:latin typeface="Times New Roman" panose="02020603050405020304" pitchFamily="18" charset="0"/>
                        <a:ea typeface="Arial Unicode MS"/>
                        <a:cs typeface="Arial" panose="020B0604020202020204" pitchFamily="34" charset="0"/>
                      </a:endParaRPr>
                    </a:p>
                    <a:p>
                      <a:pPr algn="ctr">
                        <a:lnSpc>
                          <a:spcPct val="115000"/>
                        </a:lnSpc>
                      </a:pPr>
                      <a:r>
                        <a:rPr lang="en-US" sz="900" kern="100">
                          <a:effectLst/>
                          <a:latin typeface="Times New Roman" panose="02020603050405020304" pitchFamily="18" charset="0"/>
                          <a:ea typeface="Arial Unicode MS"/>
                          <a:cs typeface="Arial" panose="020B0604020202020204" pitchFamily="34" charset="0"/>
                        </a:rPr>
                        <a:t> </a:t>
                      </a:r>
                      <a:endParaRPr lang="en-US" sz="800" kern="100">
                        <a:effectLst/>
                        <a:latin typeface="Times New Roman" panose="02020603050405020304" pitchFamily="18" charset="0"/>
                        <a:ea typeface="Arial Unicode MS"/>
                        <a:cs typeface="Arial" panose="020B0604020202020204" pitchFamily="34" charset="0"/>
                      </a:endParaRPr>
                    </a:p>
                    <a:p>
                      <a:pPr algn="ctr">
                        <a:lnSpc>
                          <a:spcPct val="115000"/>
                        </a:lnSpc>
                      </a:pPr>
                      <a:r>
                        <a:rPr lang="en-US" sz="1300" b="1" kern="100">
                          <a:solidFill>
                            <a:srgbClr val="000000"/>
                          </a:solidFill>
                          <a:effectLst/>
                          <a:latin typeface="Times New Roman" panose="02020603050405020304" pitchFamily="18" charset="0"/>
                          <a:ea typeface="Arial Unicode MS"/>
                          <a:cs typeface="Arial" panose="020B0604020202020204" pitchFamily="34" charset="0"/>
                        </a:rPr>
                        <a:t>2024</a:t>
                      </a:r>
                      <a:endParaRPr lang="en-US" sz="800" kern="100">
                        <a:effectLst/>
                        <a:latin typeface="Times New Roman" panose="02020603050405020304" pitchFamily="18" charset="0"/>
                        <a:ea typeface="Arial Unicode MS"/>
                        <a:cs typeface="Arial" panose="020B0604020202020204" pitchFamily="34" charset="0"/>
                      </a:endParaRPr>
                    </a:p>
                    <a:p>
                      <a:pPr algn="ctr">
                        <a:lnSpc>
                          <a:spcPct val="115000"/>
                        </a:lnSpc>
                      </a:pPr>
                      <a:r>
                        <a:rPr lang="en-US" sz="900" kern="100">
                          <a:effectLst/>
                          <a:latin typeface="Times New Roman" panose="02020603050405020304" pitchFamily="18" charset="0"/>
                          <a:ea typeface="Arial Unicode MS"/>
                          <a:cs typeface="Arial" panose="020B0604020202020204" pitchFamily="34" charset="0"/>
                        </a:rPr>
                        <a:t> </a:t>
                      </a:r>
                      <a:endParaRPr lang="en-US" sz="800" kern="100">
                        <a:effectLst/>
                        <a:latin typeface="Times New Roman" panose="02020603050405020304" pitchFamily="18" charset="0"/>
                        <a:ea typeface="Arial Unicode MS"/>
                        <a:cs typeface="Arial" panose="020B0604020202020204" pitchFamily="34" charset="0"/>
                      </a:endParaRPr>
                    </a:p>
                  </a:txBody>
                  <a:tcPr marL="60841" marR="60841" marT="30421" marB="30421"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BDD6EE"/>
                    </a:solidFill>
                  </a:tcPr>
                </a:tc>
                <a:tc>
                  <a:txBody>
                    <a:bodyPr/>
                    <a:lstStyle/>
                    <a:p>
                      <a:pPr algn="ctr">
                        <a:lnSpc>
                          <a:spcPct val="115000"/>
                        </a:lnSpc>
                      </a:pPr>
                      <a:r>
                        <a:rPr lang="en-US" sz="1200" b="1" kern="100" dirty="0">
                          <a:effectLst/>
                          <a:latin typeface="Times New Roman" panose="02020603050405020304" pitchFamily="18" charset="0"/>
                          <a:ea typeface="Arial Unicode MS"/>
                          <a:cs typeface="Arial" panose="020B0604020202020204" pitchFamily="34" charset="0"/>
                        </a:rPr>
                        <a:t> </a:t>
                      </a:r>
                      <a:endParaRPr lang="en-US" sz="800" kern="100" dirty="0">
                        <a:effectLst/>
                        <a:latin typeface="Times New Roman" panose="02020603050405020304" pitchFamily="18" charset="0"/>
                        <a:ea typeface="Arial Unicode MS"/>
                        <a:cs typeface="Arial" panose="020B0604020202020204" pitchFamily="34" charset="0"/>
                      </a:endParaRPr>
                    </a:p>
                    <a:p>
                      <a:pPr algn="ctr">
                        <a:lnSpc>
                          <a:spcPct val="115000"/>
                        </a:lnSpc>
                      </a:pPr>
                      <a:r>
                        <a:rPr lang="en-US" sz="1800" b="1" kern="100" dirty="0">
                          <a:solidFill>
                            <a:srgbClr val="000000"/>
                          </a:solidFill>
                          <a:effectLst/>
                          <a:latin typeface="Times New Roman" panose="02020603050405020304" pitchFamily="18" charset="0"/>
                          <a:ea typeface="Arial Unicode MS"/>
                          <a:cs typeface="Arial" panose="020B0604020202020204" pitchFamily="34" charset="0"/>
                        </a:rPr>
                        <a:t>My same Dataset</a:t>
                      </a:r>
                      <a:endParaRPr lang="en-US" sz="1050" kern="100" dirty="0">
                        <a:effectLst/>
                        <a:latin typeface="Times New Roman" panose="02020603050405020304" pitchFamily="18" charset="0"/>
                        <a:ea typeface="Arial Unicode MS"/>
                        <a:cs typeface="Arial" panose="020B0604020202020204" pitchFamily="34" charset="0"/>
                      </a:endParaRPr>
                    </a:p>
                  </a:txBody>
                  <a:tcPr marL="60841" marR="60841" marT="30421" marB="30421"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BDD6EE"/>
                    </a:solidFill>
                  </a:tcPr>
                </a:tc>
                <a:tc>
                  <a:txBody>
                    <a:bodyPr/>
                    <a:lstStyle/>
                    <a:p>
                      <a:pPr algn="ctr">
                        <a:lnSpc>
                          <a:spcPct val="115000"/>
                        </a:lnSpc>
                      </a:pPr>
                      <a:r>
                        <a:rPr lang="en-US" sz="1400" kern="100" dirty="0">
                          <a:effectLst/>
                          <a:latin typeface="Times New Roman" panose="02020603050405020304" pitchFamily="18" charset="0"/>
                          <a:ea typeface="Arial Unicode MS"/>
                          <a:cs typeface="Arial" panose="020B0604020202020204" pitchFamily="34" charset="0"/>
                        </a:rPr>
                        <a:t> </a:t>
                      </a:r>
                      <a:endParaRPr lang="en-US" sz="1200" kern="100" dirty="0">
                        <a:effectLst/>
                        <a:latin typeface="Times New Roman" panose="02020603050405020304" pitchFamily="18" charset="0"/>
                        <a:ea typeface="Arial Unicode MS"/>
                        <a:cs typeface="Arial" panose="020B0604020202020204" pitchFamily="34" charset="0"/>
                      </a:endParaRPr>
                    </a:p>
                    <a:p>
                      <a:pPr algn="ctr">
                        <a:lnSpc>
                          <a:spcPct val="115000"/>
                        </a:lnSpc>
                      </a:pPr>
                      <a:r>
                        <a:rPr lang="en-US" sz="1400" kern="100" dirty="0">
                          <a:solidFill>
                            <a:srgbClr val="000000"/>
                          </a:solidFill>
                          <a:effectLst/>
                          <a:latin typeface="Times New Roman" panose="02020603050405020304" pitchFamily="18" charset="0"/>
                          <a:ea typeface="Arial Unicode MS"/>
                          <a:cs typeface="Arial" panose="020B0604020202020204" pitchFamily="34" charset="0"/>
                        </a:rPr>
                        <a:t>- YOLOv7 (for tumor localization)</a:t>
                      </a:r>
                      <a:endParaRPr lang="en-US" sz="1200" kern="100" dirty="0">
                        <a:effectLst/>
                        <a:latin typeface="Times New Roman" panose="02020603050405020304" pitchFamily="18" charset="0"/>
                        <a:ea typeface="Arial Unicode MS"/>
                        <a:cs typeface="Arial" panose="020B0604020202020204" pitchFamily="34" charset="0"/>
                      </a:endParaRPr>
                    </a:p>
                    <a:p>
                      <a:pPr algn="ctr">
                        <a:lnSpc>
                          <a:spcPct val="115000"/>
                        </a:lnSpc>
                      </a:pPr>
                      <a:r>
                        <a:rPr lang="en-US" sz="1400" kern="100" dirty="0">
                          <a:solidFill>
                            <a:srgbClr val="000000"/>
                          </a:solidFill>
                          <a:effectLst/>
                          <a:latin typeface="Times New Roman" panose="02020603050405020304" pitchFamily="18" charset="0"/>
                          <a:ea typeface="Arial Unicode MS"/>
                          <a:cs typeface="Arial" panose="020B0604020202020204" pitchFamily="34" charset="0"/>
                        </a:rPr>
                        <a:t>- Custom CNN</a:t>
                      </a:r>
                      <a:endParaRPr lang="en-US" sz="1200" kern="100" dirty="0">
                        <a:effectLst/>
                        <a:latin typeface="Times New Roman" panose="02020603050405020304" pitchFamily="18" charset="0"/>
                        <a:ea typeface="Arial Unicode MS"/>
                        <a:cs typeface="Arial" panose="020B0604020202020204" pitchFamily="34" charset="0"/>
                      </a:endParaRPr>
                    </a:p>
                  </a:txBody>
                  <a:tcPr marL="60841" marR="60841" marT="30421" marB="30421"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BDD6EE"/>
                    </a:solidFill>
                  </a:tcPr>
                </a:tc>
                <a:tc>
                  <a:txBody>
                    <a:bodyPr/>
                    <a:lstStyle/>
                    <a:p>
                      <a:pPr algn="ctr">
                        <a:lnSpc>
                          <a:spcPct val="115000"/>
                        </a:lnSpc>
                      </a:pPr>
                      <a:r>
                        <a:rPr lang="en-US" sz="1400" b="1" kern="100" dirty="0">
                          <a:effectLst/>
                          <a:latin typeface="Times New Roman" panose="02020603050405020304" pitchFamily="18" charset="0"/>
                          <a:ea typeface="Arial Unicode MS"/>
                          <a:cs typeface="Arial" panose="020B0604020202020204" pitchFamily="34" charset="0"/>
                        </a:rPr>
                        <a:t> </a:t>
                      </a:r>
                      <a:endParaRPr lang="en-US" sz="1200" kern="100" dirty="0">
                        <a:effectLst/>
                        <a:latin typeface="Times New Roman" panose="02020603050405020304" pitchFamily="18" charset="0"/>
                        <a:ea typeface="Arial Unicode MS"/>
                        <a:cs typeface="Arial" panose="020B0604020202020204" pitchFamily="34" charset="0"/>
                      </a:endParaRPr>
                    </a:p>
                    <a:p>
                      <a:pPr algn="ctr">
                        <a:lnSpc>
                          <a:spcPct val="115000"/>
                        </a:lnSpc>
                      </a:pPr>
                      <a:r>
                        <a:rPr lang="en-US" sz="1400" b="1" kern="100" dirty="0" err="1">
                          <a:solidFill>
                            <a:srgbClr val="000000"/>
                          </a:solidFill>
                          <a:effectLst/>
                          <a:latin typeface="Times New Roman" panose="02020603050405020304" pitchFamily="18" charset="0"/>
                          <a:ea typeface="Arial Unicode MS"/>
                          <a:cs typeface="Arial" panose="020B0604020202020204" pitchFamily="34" charset="0"/>
                        </a:rPr>
                        <a:t>Accuraacy</a:t>
                      </a:r>
                      <a:r>
                        <a:rPr lang="en-US" sz="1400" b="1" kern="100" dirty="0">
                          <a:solidFill>
                            <a:srgbClr val="000000"/>
                          </a:solidFill>
                          <a:effectLst/>
                          <a:latin typeface="Times New Roman" panose="02020603050405020304" pitchFamily="18" charset="0"/>
                          <a:ea typeface="Arial Unicode MS"/>
                          <a:cs typeface="Arial" panose="020B0604020202020204" pitchFamily="34" charset="0"/>
                        </a:rPr>
                        <a:t>:</a:t>
                      </a:r>
                      <a:endParaRPr lang="en-US" sz="1200" kern="100" dirty="0">
                        <a:effectLst/>
                        <a:latin typeface="Times New Roman" panose="02020603050405020304" pitchFamily="18" charset="0"/>
                        <a:ea typeface="Arial Unicode MS"/>
                        <a:cs typeface="Arial" panose="020B0604020202020204" pitchFamily="34" charset="0"/>
                      </a:endParaRPr>
                    </a:p>
                    <a:p>
                      <a:pPr algn="ctr">
                        <a:lnSpc>
                          <a:spcPct val="115000"/>
                        </a:lnSpc>
                      </a:pPr>
                      <a:r>
                        <a:rPr lang="en-US" sz="1400" b="1" kern="100" dirty="0">
                          <a:solidFill>
                            <a:srgbClr val="000000"/>
                          </a:solidFill>
                          <a:effectLst/>
                          <a:latin typeface="Times New Roman" panose="02020603050405020304" pitchFamily="18" charset="0"/>
                          <a:ea typeface="Arial Unicode MS"/>
                          <a:cs typeface="Arial" panose="020B0604020202020204" pitchFamily="34" charset="0"/>
                        </a:rPr>
                        <a:t>99.5% </a:t>
                      </a:r>
                      <a:r>
                        <a:rPr lang="en-US" sz="1400" kern="100" dirty="0">
                          <a:solidFill>
                            <a:srgbClr val="000000"/>
                          </a:solidFill>
                          <a:effectLst/>
                          <a:latin typeface="Times New Roman" panose="02020603050405020304" pitchFamily="18" charset="0"/>
                          <a:ea typeface="Arial Unicode MS"/>
                          <a:cs typeface="Arial" panose="020B0604020202020204" pitchFamily="34" charset="0"/>
                        </a:rPr>
                        <a:t>(binary tumor vs. non-tumor)</a:t>
                      </a:r>
                      <a:endParaRPr lang="en-US" sz="1200" kern="100" dirty="0">
                        <a:effectLst/>
                        <a:latin typeface="Times New Roman" panose="02020603050405020304" pitchFamily="18" charset="0"/>
                        <a:ea typeface="Arial Unicode MS"/>
                        <a:cs typeface="Arial" panose="020B0604020202020204" pitchFamily="34" charset="0"/>
                      </a:endParaRPr>
                    </a:p>
                    <a:p>
                      <a:pPr algn="ctr">
                        <a:lnSpc>
                          <a:spcPct val="115000"/>
                        </a:lnSpc>
                      </a:pPr>
                      <a:r>
                        <a:rPr lang="en-US" sz="1400" b="1" kern="100" dirty="0">
                          <a:solidFill>
                            <a:srgbClr val="000000"/>
                          </a:solidFill>
                          <a:effectLst/>
                          <a:latin typeface="Times New Roman" panose="02020603050405020304" pitchFamily="18" charset="0"/>
                          <a:ea typeface="Arial Unicode MS"/>
                          <a:cs typeface="Arial" panose="020B0604020202020204" pitchFamily="34" charset="0"/>
                        </a:rPr>
                        <a:t>98.7% </a:t>
                      </a:r>
                      <a:r>
                        <a:rPr lang="en-US" sz="1400" kern="100" dirty="0">
                          <a:solidFill>
                            <a:srgbClr val="000000"/>
                          </a:solidFill>
                          <a:effectLst/>
                          <a:latin typeface="Times New Roman" panose="02020603050405020304" pitchFamily="18" charset="0"/>
                          <a:ea typeface="Arial Unicode MS"/>
                          <a:cs typeface="Arial" panose="020B0604020202020204" pitchFamily="34" charset="0"/>
                        </a:rPr>
                        <a:t>(multi-class)</a:t>
                      </a:r>
                      <a:endParaRPr lang="en-US" sz="1200" kern="100" dirty="0">
                        <a:effectLst/>
                        <a:latin typeface="Times New Roman" panose="02020603050405020304" pitchFamily="18" charset="0"/>
                        <a:ea typeface="Arial Unicode MS"/>
                        <a:cs typeface="Arial" panose="020B0604020202020204" pitchFamily="34" charset="0"/>
                      </a:endParaRPr>
                    </a:p>
                    <a:p>
                      <a:pPr algn="ctr">
                        <a:lnSpc>
                          <a:spcPct val="115000"/>
                        </a:lnSpc>
                      </a:pPr>
                      <a:r>
                        <a:rPr lang="ar-SY" sz="1400" b="1" kern="100" dirty="0">
                          <a:effectLst/>
                          <a:latin typeface="Times New Roman" panose="02020603050405020304" pitchFamily="18" charset="0"/>
                          <a:ea typeface="Arial Unicode MS"/>
                          <a:cs typeface="Arial" panose="020B0604020202020204" pitchFamily="34" charset="0"/>
                        </a:rPr>
                        <a:t> </a:t>
                      </a:r>
                      <a:endParaRPr lang="en-US" sz="1200" kern="100" dirty="0">
                        <a:effectLst/>
                        <a:latin typeface="Times New Roman" panose="02020603050405020304" pitchFamily="18" charset="0"/>
                        <a:ea typeface="Arial Unicode MS"/>
                        <a:cs typeface="Arial" panose="020B0604020202020204" pitchFamily="34" charset="0"/>
                      </a:endParaRPr>
                    </a:p>
                  </a:txBody>
                  <a:tcPr marL="60841" marR="60841" marT="30421" marB="30421"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BDD6EE"/>
                    </a:solidFill>
                  </a:tcPr>
                </a:tc>
                <a:extLst>
                  <a:ext uri="{0D108BD9-81ED-4DB2-BD59-A6C34878D82A}">
                    <a16:rowId xmlns:a16="http://schemas.microsoft.com/office/drawing/2014/main" val="2265891007"/>
                  </a:ext>
                </a:extLst>
              </a:tr>
            </a:tbl>
          </a:graphicData>
        </a:graphic>
      </p:graphicFrame>
    </p:spTree>
    <p:extLst>
      <p:ext uri="{BB962C8B-B14F-4D97-AF65-F5344CB8AC3E}">
        <p14:creationId xmlns:p14="http://schemas.microsoft.com/office/powerpoint/2010/main" val="3774706667"/>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2C91580-7D23-A773-41DA-13117E27D1F9}"/>
              </a:ext>
            </a:extLst>
          </p:cNvPr>
          <p:cNvSpPr>
            <a:spLocks noGrp="1"/>
          </p:cNvSpPr>
          <p:nvPr>
            <p:ph type="title"/>
          </p:nvPr>
        </p:nvSpPr>
        <p:spPr>
          <a:xfrm>
            <a:off x="633048" y="-152278"/>
            <a:ext cx="10131425" cy="1456267"/>
          </a:xfrm>
        </p:spPr>
        <p:txBody>
          <a:bodyPr/>
          <a:lstStyle/>
          <a:p>
            <a:r>
              <a:rPr lang="en-US" dirty="0">
                <a:solidFill>
                  <a:schemeClr val="accent1">
                    <a:lumMod val="40000"/>
                    <a:lumOff val="60000"/>
                  </a:schemeClr>
                </a:solidFill>
              </a:rPr>
              <a:t>My dataset</a:t>
            </a:r>
          </a:p>
        </p:txBody>
      </p:sp>
      <p:sp>
        <p:nvSpPr>
          <p:cNvPr id="7" name="Date Placeholder 6">
            <a:extLst>
              <a:ext uri="{FF2B5EF4-FFF2-40B4-BE49-F238E27FC236}">
                <a16:creationId xmlns:a16="http://schemas.microsoft.com/office/drawing/2014/main" id="{2A9D2C63-8710-CA7E-B365-BB666697783F}"/>
              </a:ext>
            </a:extLst>
          </p:cNvPr>
          <p:cNvSpPr>
            <a:spLocks noGrp="1"/>
          </p:cNvSpPr>
          <p:nvPr>
            <p:ph type="dt" sz="half" idx="10"/>
          </p:nvPr>
        </p:nvSpPr>
        <p:spPr/>
        <p:txBody>
          <a:bodyPr/>
          <a:lstStyle/>
          <a:p>
            <a:fld id="{1F8815AE-244F-4358-A922-4E1FB7C327D8}" type="datetime1">
              <a:rPr lang="en-US" smtClean="0"/>
              <a:t>12/22/2025</a:t>
            </a:fld>
            <a:endParaRPr lang="en-US"/>
          </a:p>
        </p:txBody>
      </p:sp>
      <p:sp>
        <p:nvSpPr>
          <p:cNvPr id="8" name="Slide Number Placeholder 7">
            <a:extLst>
              <a:ext uri="{FF2B5EF4-FFF2-40B4-BE49-F238E27FC236}">
                <a16:creationId xmlns:a16="http://schemas.microsoft.com/office/drawing/2014/main" id="{F6CDA5C4-14F5-1E17-3E9A-1EE545756BF4}"/>
              </a:ext>
            </a:extLst>
          </p:cNvPr>
          <p:cNvSpPr>
            <a:spLocks noGrp="1"/>
          </p:cNvSpPr>
          <p:nvPr>
            <p:ph type="sldNum" sz="quarter" idx="12"/>
          </p:nvPr>
        </p:nvSpPr>
        <p:spPr/>
        <p:txBody>
          <a:bodyPr/>
          <a:lstStyle/>
          <a:p>
            <a:fld id="{40742BEA-48CF-4F32-AFB8-C9C4AAF5269A}" type="slidenum">
              <a:rPr lang="en-US" smtClean="0"/>
              <a:t>10</a:t>
            </a:fld>
            <a:endParaRPr lang="en-US"/>
          </a:p>
        </p:txBody>
      </p:sp>
      <p:sp>
        <p:nvSpPr>
          <p:cNvPr id="4" name="TextBox 3">
            <a:extLst>
              <a:ext uri="{FF2B5EF4-FFF2-40B4-BE49-F238E27FC236}">
                <a16:creationId xmlns:a16="http://schemas.microsoft.com/office/drawing/2014/main" id="{8B5CA82F-2FFB-CEF4-9164-71217B590813}"/>
              </a:ext>
            </a:extLst>
          </p:cNvPr>
          <p:cNvSpPr txBox="1"/>
          <p:nvPr/>
        </p:nvSpPr>
        <p:spPr>
          <a:xfrm>
            <a:off x="633048" y="978615"/>
            <a:ext cx="10067191" cy="6370975"/>
          </a:xfrm>
          <a:prstGeom prst="rect">
            <a:avLst/>
          </a:prstGeom>
          <a:noFill/>
        </p:spPr>
        <p:txBody>
          <a:bodyPr wrap="square" rtlCol="0">
            <a:spAutoFit/>
          </a:bodyPr>
          <a:lstStyle/>
          <a:p>
            <a:r>
              <a:rPr lang="en-US" sz="2400" b="1" dirty="0"/>
              <a:t>Previous data: </a:t>
            </a:r>
          </a:p>
          <a:p>
            <a:endParaRPr lang="en-US" sz="2400" dirty="0"/>
          </a:p>
          <a:p>
            <a:r>
              <a:rPr lang="en-US" sz="2400" dirty="0"/>
              <a:t>This dataset is a combination of the following three datasets :</a:t>
            </a:r>
          </a:p>
          <a:p>
            <a:r>
              <a:rPr lang="en-US" sz="2400" dirty="0" err="1"/>
              <a:t>figshare</a:t>
            </a:r>
            <a:endParaRPr lang="en-US" sz="2400" dirty="0"/>
          </a:p>
          <a:p>
            <a:r>
              <a:rPr lang="en-US" sz="2400" dirty="0"/>
              <a:t>SARTAJ dataset</a:t>
            </a:r>
          </a:p>
          <a:p>
            <a:r>
              <a:rPr lang="en-US" sz="2400" dirty="0"/>
              <a:t>Br35H</a:t>
            </a:r>
          </a:p>
          <a:p>
            <a:endParaRPr lang="en-US" sz="2400" dirty="0"/>
          </a:p>
          <a:p>
            <a:r>
              <a:rPr lang="en-US" sz="2400" dirty="0"/>
              <a:t>This dataset contains 7023 images of human brain MRI images which are classified into 4 classes: glioma - meningioma - no tumor and pituitary.</a:t>
            </a:r>
          </a:p>
          <a:p>
            <a:endParaRPr lang="en-US" sz="2400" dirty="0"/>
          </a:p>
          <a:p>
            <a:r>
              <a:rPr lang="en-US" sz="2400" dirty="0"/>
              <a:t>no tumor class images were taken from the Br35H dataset</a:t>
            </a:r>
          </a:p>
          <a:p>
            <a:endParaRPr lang="en-US" sz="2400" dirty="0"/>
          </a:p>
          <a:p>
            <a:r>
              <a:rPr lang="en-US" sz="2400" dirty="0"/>
              <a:t>The source is from Kaggle website</a:t>
            </a:r>
          </a:p>
          <a:p>
            <a:r>
              <a:rPr lang="en-US" sz="2400" dirty="0"/>
              <a:t>Link </a:t>
            </a:r>
            <a:r>
              <a:rPr lang="en-US" sz="2400" dirty="0">
                <a:hlinkClick r:id="rId2" action="ppaction://hlinkfile"/>
              </a:rPr>
              <a:t>:https://www.kaggle.com/datasets/masoudnickparvar/brain-tumor-mri-dataset</a:t>
            </a:r>
            <a:endParaRPr lang="en-US" sz="2400" dirty="0"/>
          </a:p>
          <a:p>
            <a:endParaRPr lang="en-US" sz="2400" dirty="0">
              <a:latin typeface="Arial" panose="020B0604020202020204" pitchFamily="34" charset="0"/>
            </a:endParaRPr>
          </a:p>
          <a:p>
            <a:endParaRPr lang="en-US" sz="2400" dirty="0">
              <a:latin typeface="Arial" panose="020B0604020202020204" pitchFamily="34" charset="0"/>
            </a:endParaRPr>
          </a:p>
        </p:txBody>
      </p:sp>
    </p:spTree>
    <p:extLst>
      <p:ext uri="{BB962C8B-B14F-4D97-AF65-F5344CB8AC3E}">
        <p14:creationId xmlns:p14="http://schemas.microsoft.com/office/powerpoint/2010/main" val="728280302"/>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904B0BD-DD97-AAA0-6F6B-46FAC90FA2E7}"/>
              </a:ext>
            </a:extLst>
          </p:cNvPr>
          <p:cNvSpPr>
            <a:spLocks noGrp="1"/>
          </p:cNvSpPr>
          <p:nvPr>
            <p:ph type="title"/>
          </p:nvPr>
        </p:nvSpPr>
        <p:spPr>
          <a:xfrm>
            <a:off x="517851" y="0"/>
            <a:ext cx="10131425" cy="1513574"/>
          </a:xfrm>
        </p:spPr>
        <p:txBody>
          <a:bodyPr/>
          <a:lstStyle/>
          <a:p>
            <a:r>
              <a:rPr lang="en-US" dirty="0"/>
              <a:t>New Data</a:t>
            </a:r>
          </a:p>
        </p:txBody>
      </p:sp>
      <p:sp>
        <p:nvSpPr>
          <p:cNvPr id="3" name="Content Placeholder 2">
            <a:extLst>
              <a:ext uri="{FF2B5EF4-FFF2-40B4-BE49-F238E27FC236}">
                <a16:creationId xmlns:a16="http://schemas.microsoft.com/office/drawing/2014/main" id="{4828FC68-B9C2-DB29-641C-05D4C88B3546}"/>
              </a:ext>
            </a:extLst>
          </p:cNvPr>
          <p:cNvSpPr>
            <a:spLocks noGrp="1"/>
          </p:cNvSpPr>
          <p:nvPr>
            <p:ph idx="1"/>
          </p:nvPr>
        </p:nvSpPr>
        <p:spPr>
          <a:xfrm>
            <a:off x="530231" y="1454099"/>
            <a:ext cx="10974414" cy="5161305"/>
          </a:xfrm>
        </p:spPr>
        <p:txBody>
          <a:bodyPr anchor="t"/>
          <a:lstStyle/>
          <a:p>
            <a:pPr marL="0" indent="0">
              <a:buNone/>
            </a:pPr>
            <a:r>
              <a:rPr lang="en-US" dirty="0"/>
              <a:t>New MRI pictures taken from different sources with 7153 images. Same as the old one it’s classified to 4 classes</a:t>
            </a:r>
          </a:p>
          <a:p>
            <a:pPr marL="0" indent="0">
              <a:buNone/>
            </a:pPr>
            <a:r>
              <a:rPr lang="en-US" dirty="0"/>
              <a:t>Combined with my old dataset</a:t>
            </a:r>
          </a:p>
          <a:p>
            <a:pPr algn="l" fontAlgn="base"/>
            <a:r>
              <a:rPr lang="en-US" b="0" i="0" dirty="0">
                <a:solidFill>
                  <a:schemeClr val="bg2">
                    <a:lumMod val="40000"/>
                    <a:lumOff val="60000"/>
                  </a:schemeClr>
                </a:solidFill>
                <a:effectLst/>
                <a:latin typeface="Inter"/>
              </a:rPr>
              <a:t>Current data sources:</a:t>
            </a:r>
          </a:p>
          <a:p>
            <a:pPr algn="l" fontAlgn="base">
              <a:buFont typeface="Arial" panose="020B0604020202020204" pitchFamily="34" charset="0"/>
              <a:buChar char="•"/>
            </a:pPr>
            <a:r>
              <a:rPr lang="en-US" b="0" i="0" u="none" strike="noStrike" dirty="0">
                <a:solidFill>
                  <a:srgbClr val="202124"/>
                </a:solidFill>
                <a:effectLst/>
                <a:latin typeface="inherit"/>
                <a:hlinkClick r:id="rId2"/>
              </a:rPr>
              <a:t>https://figshare.com/articles/dataset/brain_tumor_dataset/1512427</a:t>
            </a:r>
            <a:endParaRPr lang="en-US" b="0" i="0" dirty="0">
              <a:solidFill>
                <a:srgbClr val="3C4043"/>
              </a:solidFill>
              <a:effectLst/>
              <a:latin typeface="inherit"/>
            </a:endParaRPr>
          </a:p>
          <a:p>
            <a:pPr algn="l" fontAlgn="base">
              <a:buFont typeface="Arial" panose="020B0604020202020204" pitchFamily="34" charset="0"/>
              <a:buChar char="•"/>
            </a:pPr>
            <a:r>
              <a:rPr lang="en-US" b="0" i="0" u="none" strike="noStrike" dirty="0">
                <a:solidFill>
                  <a:srgbClr val="202124"/>
                </a:solidFill>
                <a:effectLst/>
                <a:latin typeface="inherit"/>
                <a:hlinkClick r:id="rId3"/>
              </a:rPr>
              <a:t>https://www.kaggle.com/sartajbhuvaji/brain-tumor-classification-mri</a:t>
            </a:r>
            <a:endParaRPr lang="en-US" b="0" i="0" dirty="0">
              <a:solidFill>
                <a:srgbClr val="3C4043"/>
              </a:solidFill>
              <a:effectLst/>
              <a:latin typeface="inherit"/>
            </a:endParaRPr>
          </a:p>
          <a:p>
            <a:pPr algn="l" fontAlgn="base">
              <a:buFont typeface="Arial" panose="020B0604020202020204" pitchFamily="34" charset="0"/>
              <a:buChar char="•"/>
            </a:pPr>
            <a:r>
              <a:rPr lang="en-US" b="0" i="0" u="none" strike="noStrike" dirty="0">
                <a:solidFill>
                  <a:srgbClr val="202124"/>
                </a:solidFill>
                <a:effectLst/>
                <a:latin typeface="inherit"/>
                <a:hlinkClick r:id="rId4"/>
              </a:rPr>
              <a:t>https://www.kaggle.com/datasets/ahmedhamada0/brain-tumor-detection?select=no</a:t>
            </a:r>
            <a:endParaRPr lang="en-US" b="0" i="0" u="none" strike="noStrike" dirty="0">
              <a:solidFill>
                <a:srgbClr val="202124"/>
              </a:solidFill>
              <a:effectLst/>
              <a:latin typeface="inherit"/>
            </a:endParaRPr>
          </a:p>
          <a:p>
            <a:pPr algn="l" fontAlgn="base">
              <a:buFont typeface="Arial" panose="020B0604020202020204" pitchFamily="34" charset="0"/>
              <a:buChar char="•"/>
            </a:pPr>
            <a:endParaRPr lang="en-US" dirty="0">
              <a:solidFill>
                <a:srgbClr val="202124"/>
              </a:solidFill>
              <a:latin typeface="inherit"/>
            </a:endParaRPr>
          </a:p>
          <a:p>
            <a:pPr marL="0" indent="0" algn="l" fontAlgn="base">
              <a:buNone/>
            </a:pPr>
            <a:r>
              <a:rPr lang="en-US" dirty="0">
                <a:latin typeface="inherit"/>
              </a:rPr>
              <a:t>Dataset link: </a:t>
            </a:r>
            <a:r>
              <a:rPr lang="en-US" dirty="0">
                <a:solidFill>
                  <a:schemeClr val="accent1"/>
                </a:solidFill>
                <a:latin typeface="inherit"/>
              </a:rPr>
              <a:t>https://www.kaggle.com/datasets/tombackert/brain-tumor-mri-data</a:t>
            </a:r>
            <a:endParaRPr lang="en-US" b="0" i="0" dirty="0">
              <a:solidFill>
                <a:schemeClr val="accent1"/>
              </a:solidFill>
              <a:effectLst/>
              <a:latin typeface="inherit"/>
            </a:endParaRPr>
          </a:p>
          <a:p>
            <a:pPr marL="0" indent="0">
              <a:buNone/>
            </a:pPr>
            <a:endParaRPr lang="en-US" dirty="0"/>
          </a:p>
        </p:txBody>
      </p:sp>
      <p:sp>
        <p:nvSpPr>
          <p:cNvPr id="4" name="Date Placeholder 3">
            <a:extLst>
              <a:ext uri="{FF2B5EF4-FFF2-40B4-BE49-F238E27FC236}">
                <a16:creationId xmlns:a16="http://schemas.microsoft.com/office/drawing/2014/main" id="{E8B828AF-3346-38EF-BFCE-382C071EE007}"/>
              </a:ext>
            </a:extLst>
          </p:cNvPr>
          <p:cNvSpPr>
            <a:spLocks noGrp="1"/>
          </p:cNvSpPr>
          <p:nvPr>
            <p:ph type="dt" sz="half" idx="10"/>
          </p:nvPr>
        </p:nvSpPr>
        <p:spPr/>
        <p:txBody>
          <a:bodyPr/>
          <a:lstStyle/>
          <a:p>
            <a:fld id="{DF06F12F-02D3-425D-BF4C-BBE4220292D9}" type="datetime1">
              <a:rPr lang="en-US" smtClean="0"/>
              <a:t>12/22/2025</a:t>
            </a:fld>
            <a:endParaRPr lang="en-US"/>
          </a:p>
        </p:txBody>
      </p:sp>
      <p:sp>
        <p:nvSpPr>
          <p:cNvPr id="5" name="Slide Number Placeholder 4">
            <a:extLst>
              <a:ext uri="{FF2B5EF4-FFF2-40B4-BE49-F238E27FC236}">
                <a16:creationId xmlns:a16="http://schemas.microsoft.com/office/drawing/2014/main" id="{BD46E235-396D-BC73-5819-EDBE387B448F}"/>
              </a:ext>
            </a:extLst>
          </p:cNvPr>
          <p:cNvSpPr>
            <a:spLocks noGrp="1"/>
          </p:cNvSpPr>
          <p:nvPr>
            <p:ph type="sldNum" sz="quarter" idx="12"/>
          </p:nvPr>
        </p:nvSpPr>
        <p:spPr/>
        <p:txBody>
          <a:bodyPr/>
          <a:lstStyle/>
          <a:p>
            <a:fld id="{40742BEA-48CF-4F32-AFB8-C9C4AAF5269A}" type="slidenum">
              <a:rPr lang="en-US" smtClean="0"/>
              <a:t>11</a:t>
            </a:fld>
            <a:endParaRPr lang="en-US"/>
          </a:p>
        </p:txBody>
      </p:sp>
      <p:pic>
        <p:nvPicPr>
          <p:cNvPr id="9" name="Picture 8">
            <a:extLst>
              <a:ext uri="{FF2B5EF4-FFF2-40B4-BE49-F238E27FC236}">
                <a16:creationId xmlns:a16="http://schemas.microsoft.com/office/drawing/2014/main" id="{10E18BC8-5DD4-6A4D-16C4-705BD50FB31B}"/>
              </a:ext>
            </a:extLst>
          </p:cNvPr>
          <p:cNvPicPr>
            <a:picLocks noChangeAspect="1"/>
          </p:cNvPicPr>
          <p:nvPr/>
        </p:nvPicPr>
        <p:blipFill>
          <a:blip r:embed="rId5"/>
          <a:stretch>
            <a:fillRect/>
          </a:stretch>
        </p:blipFill>
        <p:spPr>
          <a:xfrm>
            <a:off x="1330374" y="4745470"/>
            <a:ext cx="8859486" cy="2152950"/>
          </a:xfrm>
          <a:prstGeom prst="rect">
            <a:avLst/>
          </a:prstGeom>
        </p:spPr>
      </p:pic>
    </p:spTree>
    <p:extLst>
      <p:ext uri="{BB962C8B-B14F-4D97-AF65-F5344CB8AC3E}">
        <p14:creationId xmlns:p14="http://schemas.microsoft.com/office/powerpoint/2010/main" val="3757964835"/>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C69E069-5D3A-9275-C893-D6AD04C9C64F}"/>
              </a:ext>
            </a:extLst>
          </p:cNvPr>
          <p:cNvSpPr>
            <a:spLocks noGrp="1"/>
          </p:cNvSpPr>
          <p:nvPr>
            <p:ph type="title"/>
          </p:nvPr>
        </p:nvSpPr>
        <p:spPr>
          <a:xfrm>
            <a:off x="134636" y="-123199"/>
            <a:ext cx="10131425" cy="1513574"/>
          </a:xfrm>
        </p:spPr>
        <p:txBody>
          <a:bodyPr/>
          <a:lstStyle/>
          <a:p>
            <a:r>
              <a:rPr lang="en-US" dirty="0"/>
              <a:t>Dataset description </a:t>
            </a:r>
          </a:p>
        </p:txBody>
      </p:sp>
      <p:sp>
        <p:nvSpPr>
          <p:cNvPr id="3" name="Content Placeholder 2">
            <a:extLst>
              <a:ext uri="{FF2B5EF4-FFF2-40B4-BE49-F238E27FC236}">
                <a16:creationId xmlns:a16="http://schemas.microsoft.com/office/drawing/2014/main" id="{AC148264-DBBE-F4B9-3BFB-3E55199B5B1E}"/>
              </a:ext>
            </a:extLst>
          </p:cNvPr>
          <p:cNvSpPr>
            <a:spLocks noGrp="1"/>
          </p:cNvSpPr>
          <p:nvPr>
            <p:ph idx="1"/>
          </p:nvPr>
        </p:nvSpPr>
        <p:spPr>
          <a:xfrm>
            <a:off x="0" y="727788"/>
            <a:ext cx="11952514" cy="6400087"/>
          </a:xfrm>
        </p:spPr>
        <p:txBody>
          <a:bodyPr>
            <a:noAutofit/>
          </a:bodyPr>
          <a:lstStyle/>
          <a:p>
            <a:r>
              <a:rPr lang="en-US" dirty="0"/>
              <a:t>The dataset now has a total of </a:t>
            </a:r>
            <a:r>
              <a:rPr lang="en-US" b="1" dirty="0"/>
              <a:t>14,176 </a:t>
            </a:r>
            <a:r>
              <a:rPr lang="en-US" dirty="0"/>
              <a:t> human brain MRI images, categorized into four distinct classes. The dataset focuses on brain tumors and their classification. The four classes are as follows:</a:t>
            </a:r>
          </a:p>
          <a:p>
            <a:endParaRPr lang="en-US" dirty="0"/>
          </a:p>
          <a:p>
            <a:r>
              <a:rPr lang="en-US" b="1" dirty="0"/>
              <a:t>Glioma: </a:t>
            </a:r>
            <a:r>
              <a:rPr lang="en-US" dirty="0"/>
              <a:t>Cancerous brain tumors in glial cells.</a:t>
            </a:r>
          </a:p>
          <a:p>
            <a:r>
              <a:rPr lang="en-US" b="1" dirty="0"/>
              <a:t>Meningioma: </a:t>
            </a:r>
            <a:r>
              <a:rPr lang="en-US" dirty="0"/>
              <a:t>Non-cancerous tumors originating from the meninges.</a:t>
            </a:r>
          </a:p>
          <a:p>
            <a:r>
              <a:rPr lang="en-US" b="1" dirty="0"/>
              <a:t>No Tumor: </a:t>
            </a:r>
            <a:r>
              <a:rPr lang="en-US" dirty="0"/>
              <a:t>Normal brain scans without detectable tumors.</a:t>
            </a:r>
          </a:p>
          <a:p>
            <a:r>
              <a:rPr lang="en-US" b="1" dirty="0"/>
              <a:t>Pituitary: </a:t>
            </a:r>
            <a:r>
              <a:rPr lang="en-US" dirty="0"/>
              <a:t>Tumors affecting the pituitary gland, which can be cancerous or non-cancerous.</a:t>
            </a:r>
          </a:p>
          <a:p>
            <a:endParaRPr lang="en-US" dirty="0"/>
          </a:p>
          <a:p>
            <a:pPr marL="0" indent="0">
              <a:buNone/>
            </a:pPr>
            <a:endParaRPr lang="en-US" dirty="0"/>
          </a:p>
          <a:p>
            <a:r>
              <a:rPr lang="en-US" dirty="0"/>
              <a:t>The "</a:t>
            </a:r>
            <a:r>
              <a:rPr lang="en-US" b="1" dirty="0"/>
              <a:t>No Tumor</a:t>
            </a:r>
            <a:r>
              <a:rPr lang="en-US" dirty="0"/>
              <a:t>" class images were obtained from the Br35H dataset in the old dataset.</a:t>
            </a:r>
          </a:p>
          <a:p>
            <a:pPr marL="0" indent="0">
              <a:buNone/>
            </a:pPr>
            <a:endParaRPr lang="en-US" sz="1400" dirty="0"/>
          </a:p>
        </p:txBody>
      </p:sp>
      <p:sp>
        <p:nvSpPr>
          <p:cNvPr id="4" name="Date Placeholder 3">
            <a:extLst>
              <a:ext uri="{FF2B5EF4-FFF2-40B4-BE49-F238E27FC236}">
                <a16:creationId xmlns:a16="http://schemas.microsoft.com/office/drawing/2014/main" id="{F63BD72A-1FCB-222C-A7A2-FB96EEA55870}"/>
              </a:ext>
            </a:extLst>
          </p:cNvPr>
          <p:cNvSpPr>
            <a:spLocks noGrp="1"/>
          </p:cNvSpPr>
          <p:nvPr>
            <p:ph type="dt" sz="half" idx="10"/>
          </p:nvPr>
        </p:nvSpPr>
        <p:spPr/>
        <p:txBody>
          <a:bodyPr/>
          <a:lstStyle/>
          <a:p>
            <a:fld id="{DF06F12F-02D3-425D-BF4C-BBE4220292D9}" type="datetime1">
              <a:rPr lang="en-US" smtClean="0"/>
              <a:t>12/22/2025</a:t>
            </a:fld>
            <a:endParaRPr lang="en-US"/>
          </a:p>
        </p:txBody>
      </p:sp>
      <p:sp>
        <p:nvSpPr>
          <p:cNvPr id="5" name="Slide Number Placeholder 4">
            <a:extLst>
              <a:ext uri="{FF2B5EF4-FFF2-40B4-BE49-F238E27FC236}">
                <a16:creationId xmlns:a16="http://schemas.microsoft.com/office/drawing/2014/main" id="{29CD82CB-C252-CEE0-ED54-13B6791F7AA5}"/>
              </a:ext>
            </a:extLst>
          </p:cNvPr>
          <p:cNvSpPr>
            <a:spLocks noGrp="1"/>
          </p:cNvSpPr>
          <p:nvPr>
            <p:ph type="sldNum" sz="quarter" idx="12"/>
          </p:nvPr>
        </p:nvSpPr>
        <p:spPr/>
        <p:txBody>
          <a:bodyPr/>
          <a:lstStyle/>
          <a:p>
            <a:fld id="{40742BEA-48CF-4F32-AFB8-C9C4AAF5269A}" type="slidenum">
              <a:rPr lang="en-US" smtClean="0"/>
              <a:t>12</a:t>
            </a:fld>
            <a:endParaRPr lang="en-US"/>
          </a:p>
        </p:txBody>
      </p:sp>
    </p:spTree>
    <p:extLst>
      <p:ext uri="{BB962C8B-B14F-4D97-AF65-F5344CB8AC3E}">
        <p14:creationId xmlns:p14="http://schemas.microsoft.com/office/powerpoint/2010/main" val="2434061779"/>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D5ADF0F-3DD9-710E-B436-6368527E5B19}"/>
              </a:ext>
            </a:extLst>
          </p:cNvPr>
          <p:cNvSpPr>
            <a:spLocks noGrp="1"/>
          </p:cNvSpPr>
          <p:nvPr>
            <p:ph type="title"/>
          </p:nvPr>
        </p:nvSpPr>
        <p:spPr>
          <a:xfrm>
            <a:off x="293916" y="0"/>
            <a:ext cx="10131425" cy="1513574"/>
          </a:xfrm>
        </p:spPr>
        <p:txBody>
          <a:bodyPr/>
          <a:lstStyle/>
          <a:p>
            <a:r>
              <a:rPr lang="en-US" dirty="0"/>
              <a:t>Dataset</a:t>
            </a:r>
          </a:p>
        </p:txBody>
      </p:sp>
      <p:pic>
        <p:nvPicPr>
          <p:cNvPr id="7" name="Content Placeholder 6">
            <a:extLst>
              <a:ext uri="{FF2B5EF4-FFF2-40B4-BE49-F238E27FC236}">
                <a16:creationId xmlns:a16="http://schemas.microsoft.com/office/drawing/2014/main" id="{E66D9921-0FE5-C9AC-60FB-DA5558137C75}"/>
              </a:ext>
            </a:extLst>
          </p:cNvPr>
          <p:cNvPicPr>
            <a:picLocks noGrp="1" noChangeAspect="1"/>
          </p:cNvPicPr>
          <p:nvPr>
            <p:ph idx="1"/>
          </p:nvPr>
        </p:nvPicPr>
        <p:blipFill>
          <a:blip r:embed="rId2"/>
          <a:stretch>
            <a:fillRect/>
          </a:stretch>
        </p:blipFill>
        <p:spPr>
          <a:xfrm>
            <a:off x="266340" y="2923492"/>
            <a:ext cx="5694232" cy="2925866"/>
          </a:xfrm>
        </p:spPr>
      </p:pic>
      <p:sp>
        <p:nvSpPr>
          <p:cNvPr id="4" name="Date Placeholder 3">
            <a:extLst>
              <a:ext uri="{FF2B5EF4-FFF2-40B4-BE49-F238E27FC236}">
                <a16:creationId xmlns:a16="http://schemas.microsoft.com/office/drawing/2014/main" id="{161427C3-6A3D-1728-39E5-ECE6B37C3C4B}"/>
              </a:ext>
            </a:extLst>
          </p:cNvPr>
          <p:cNvSpPr>
            <a:spLocks noGrp="1"/>
          </p:cNvSpPr>
          <p:nvPr>
            <p:ph type="dt" sz="half" idx="10"/>
          </p:nvPr>
        </p:nvSpPr>
        <p:spPr/>
        <p:txBody>
          <a:bodyPr/>
          <a:lstStyle/>
          <a:p>
            <a:fld id="{DF06F12F-02D3-425D-BF4C-BBE4220292D9}" type="datetime1">
              <a:rPr lang="en-US" smtClean="0"/>
              <a:t>12/22/2025</a:t>
            </a:fld>
            <a:endParaRPr lang="en-US"/>
          </a:p>
        </p:txBody>
      </p:sp>
      <p:sp>
        <p:nvSpPr>
          <p:cNvPr id="5" name="Slide Number Placeholder 4">
            <a:extLst>
              <a:ext uri="{FF2B5EF4-FFF2-40B4-BE49-F238E27FC236}">
                <a16:creationId xmlns:a16="http://schemas.microsoft.com/office/drawing/2014/main" id="{7161E9F2-6E32-A4A6-4E3E-34269B054458}"/>
              </a:ext>
            </a:extLst>
          </p:cNvPr>
          <p:cNvSpPr>
            <a:spLocks noGrp="1"/>
          </p:cNvSpPr>
          <p:nvPr>
            <p:ph type="sldNum" sz="quarter" idx="12"/>
          </p:nvPr>
        </p:nvSpPr>
        <p:spPr/>
        <p:txBody>
          <a:bodyPr/>
          <a:lstStyle/>
          <a:p>
            <a:fld id="{40742BEA-48CF-4F32-AFB8-C9C4AAF5269A}" type="slidenum">
              <a:rPr lang="en-US" smtClean="0"/>
              <a:t>13</a:t>
            </a:fld>
            <a:endParaRPr lang="en-US"/>
          </a:p>
        </p:txBody>
      </p:sp>
      <p:pic>
        <p:nvPicPr>
          <p:cNvPr id="9" name="Picture 8">
            <a:extLst>
              <a:ext uri="{FF2B5EF4-FFF2-40B4-BE49-F238E27FC236}">
                <a16:creationId xmlns:a16="http://schemas.microsoft.com/office/drawing/2014/main" id="{F31E1296-F6C9-BCA5-B245-586AC65DD8CE}"/>
              </a:ext>
            </a:extLst>
          </p:cNvPr>
          <p:cNvPicPr>
            <a:picLocks noChangeAspect="1"/>
          </p:cNvPicPr>
          <p:nvPr/>
        </p:nvPicPr>
        <p:blipFill>
          <a:blip r:embed="rId3"/>
          <a:stretch>
            <a:fillRect/>
          </a:stretch>
        </p:blipFill>
        <p:spPr>
          <a:xfrm>
            <a:off x="6231428" y="2923492"/>
            <a:ext cx="5694232" cy="2925866"/>
          </a:xfrm>
          <a:prstGeom prst="rect">
            <a:avLst/>
          </a:prstGeom>
        </p:spPr>
      </p:pic>
      <p:sp>
        <p:nvSpPr>
          <p:cNvPr id="10" name="TextBox 9">
            <a:extLst>
              <a:ext uri="{FF2B5EF4-FFF2-40B4-BE49-F238E27FC236}">
                <a16:creationId xmlns:a16="http://schemas.microsoft.com/office/drawing/2014/main" id="{F008140A-36B6-4DCB-4DC1-61777B3DF78C}"/>
              </a:ext>
            </a:extLst>
          </p:cNvPr>
          <p:cNvSpPr txBox="1"/>
          <p:nvPr/>
        </p:nvSpPr>
        <p:spPr>
          <a:xfrm>
            <a:off x="466530" y="1614195"/>
            <a:ext cx="10350697" cy="923330"/>
          </a:xfrm>
          <a:prstGeom prst="rect">
            <a:avLst/>
          </a:prstGeom>
          <a:noFill/>
        </p:spPr>
        <p:txBody>
          <a:bodyPr wrap="square" rtlCol="0">
            <a:spAutoFit/>
          </a:bodyPr>
          <a:lstStyle/>
          <a:p>
            <a:r>
              <a:rPr lang="en-US" dirty="0"/>
              <a:t>The dataset size was 158 MB now 305 MB</a:t>
            </a:r>
          </a:p>
          <a:p>
            <a:r>
              <a:rPr lang="en-US" dirty="0"/>
              <a:t>It had </a:t>
            </a:r>
            <a:r>
              <a:rPr lang="en-US" b="1" dirty="0"/>
              <a:t>5712</a:t>
            </a:r>
            <a:r>
              <a:rPr lang="en-US" dirty="0"/>
              <a:t> images for training and </a:t>
            </a:r>
            <a:r>
              <a:rPr lang="en-US" b="1" dirty="0"/>
              <a:t>1311</a:t>
            </a:r>
            <a:r>
              <a:rPr lang="en-US" dirty="0"/>
              <a:t> images for testing</a:t>
            </a:r>
          </a:p>
          <a:p>
            <a:r>
              <a:rPr lang="en-US" dirty="0"/>
              <a:t>Now it has </a:t>
            </a:r>
            <a:r>
              <a:rPr lang="en-US" b="1" dirty="0"/>
              <a:t>11,56</a:t>
            </a:r>
            <a:r>
              <a:rPr lang="en-US" dirty="0"/>
              <a:t> images for training and </a:t>
            </a:r>
            <a:r>
              <a:rPr lang="en-US" b="1" dirty="0"/>
              <a:t>2,615</a:t>
            </a:r>
            <a:r>
              <a:rPr lang="en-US" dirty="0"/>
              <a:t> images for testing</a:t>
            </a:r>
          </a:p>
        </p:txBody>
      </p:sp>
    </p:spTree>
    <p:extLst>
      <p:ext uri="{BB962C8B-B14F-4D97-AF65-F5344CB8AC3E}">
        <p14:creationId xmlns:p14="http://schemas.microsoft.com/office/powerpoint/2010/main" val="1715998455"/>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21811EE-8C45-DEDC-35F9-A8583FDC8026}"/>
              </a:ext>
            </a:extLst>
          </p:cNvPr>
          <p:cNvSpPr>
            <a:spLocks noGrp="1"/>
          </p:cNvSpPr>
          <p:nvPr>
            <p:ph type="title"/>
          </p:nvPr>
        </p:nvSpPr>
        <p:spPr/>
        <p:txBody>
          <a:bodyPr/>
          <a:lstStyle/>
          <a:p>
            <a:r>
              <a:rPr lang="en-US" dirty="0"/>
              <a:t>Dataset</a:t>
            </a:r>
          </a:p>
        </p:txBody>
      </p:sp>
      <p:pic>
        <p:nvPicPr>
          <p:cNvPr id="7" name="Content Placeholder 6">
            <a:extLst>
              <a:ext uri="{FF2B5EF4-FFF2-40B4-BE49-F238E27FC236}">
                <a16:creationId xmlns:a16="http://schemas.microsoft.com/office/drawing/2014/main" id="{0055C4BD-94B2-BE6D-CE08-35521B843E8C}"/>
              </a:ext>
            </a:extLst>
          </p:cNvPr>
          <p:cNvPicPr>
            <a:picLocks noGrp="1" noChangeAspect="1"/>
          </p:cNvPicPr>
          <p:nvPr>
            <p:ph idx="1"/>
          </p:nvPr>
        </p:nvPicPr>
        <p:blipFill>
          <a:blip r:embed="rId2"/>
          <a:stretch>
            <a:fillRect/>
          </a:stretch>
        </p:blipFill>
        <p:spPr>
          <a:xfrm>
            <a:off x="77692" y="1983079"/>
            <a:ext cx="5410416" cy="2411639"/>
          </a:xfrm>
        </p:spPr>
      </p:pic>
      <p:sp>
        <p:nvSpPr>
          <p:cNvPr id="4" name="Date Placeholder 3">
            <a:extLst>
              <a:ext uri="{FF2B5EF4-FFF2-40B4-BE49-F238E27FC236}">
                <a16:creationId xmlns:a16="http://schemas.microsoft.com/office/drawing/2014/main" id="{5DB977E1-C40B-4B3A-72D6-38A5732A19D7}"/>
              </a:ext>
            </a:extLst>
          </p:cNvPr>
          <p:cNvSpPr>
            <a:spLocks noGrp="1"/>
          </p:cNvSpPr>
          <p:nvPr>
            <p:ph type="dt" sz="half" idx="10"/>
          </p:nvPr>
        </p:nvSpPr>
        <p:spPr/>
        <p:txBody>
          <a:bodyPr/>
          <a:lstStyle/>
          <a:p>
            <a:fld id="{DF06F12F-02D3-425D-BF4C-BBE4220292D9}" type="datetime1">
              <a:rPr lang="en-US" smtClean="0"/>
              <a:t>12/22/2025</a:t>
            </a:fld>
            <a:endParaRPr lang="en-US"/>
          </a:p>
        </p:txBody>
      </p:sp>
      <p:sp>
        <p:nvSpPr>
          <p:cNvPr id="5" name="Slide Number Placeholder 4">
            <a:extLst>
              <a:ext uri="{FF2B5EF4-FFF2-40B4-BE49-F238E27FC236}">
                <a16:creationId xmlns:a16="http://schemas.microsoft.com/office/drawing/2014/main" id="{90067B65-9F14-4EB2-5920-C80F11F90104}"/>
              </a:ext>
            </a:extLst>
          </p:cNvPr>
          <p:cNvSpPr>
            <a:spLocks noGrp="1"/>
          </p:cNvSpPr>
          <p:nvPr>
            <p:ph type="sldNum" sz="quarter" idx="12"/>
          </p:nvPr>
        </p:nvSpPr>
        <p:spPr/>
        <p:txBody>
          <a:bodyPr/>
          <a:lstStyle/>
          <a:p>
            <a:fld id="{40742BEA-48CF-4F32-AFB8-C9C4AAF5269A}" type="slidenum">
              <a:rPr lang="en-US" smtClean="0"/>
              <a:t>14</a:t>
            </a:fld>
            <a:endParaRPr lang="en-US"/>
          </a:p>
        </p:txBody>
      </p:sp>
      <p:pic>
        <p:nvPicPr>
          <p:cNvPr id="9" name="Picture 8">
            <a:extLst>
              <a:ext uri="{FF2B5EF4-FFF2-40B4-BE49-F238E27FC236}">
                <a16:creationId xmlns:a16="http://schemas.microsoft.com/office/drawing/2014/main" id="{B4033241-DA60-1AF1-DE31-877118B0C4E4}"/>
              </a:ext>
            </a:extLst>
          </p:cNvPr>
          <p:cNvPicPr>
            <a:picLocks noChangeAspect="1"/>
          </p:cNvPicPr>
          <p:nvPr/>
        </p:nvPicPr>
        <p:blipFill>
          <a:blip r:embed="rId3"/>
          <a:stretch>
            <a:fillRect/>
          </a:stretch>
        </p:blipFill>
        <p:spPr>
          <a:xfrm>
            <a:off x="5841892" y="1983079"/>
            <a:ext cx="5495536" cy="2419017"/>
          </a:xfrm>
          <a:prstGeom prst="rect">
            <a:avLst/>
          </a:prstGeom>
        </p:spPr>
      </p:pic>
      <p:pic>
        <p:nvPicPr>
          <p:cNvPr id="11" name="Picture 10">
            <a:extLst>
              <a:ext uri="{FF2B5EF4-FFF2-40B4-BE49-F238E27FC236}">
                <a16:creationId xmlns:a16="http://schemas.microsoft.com/office/drawing/2014/main" id="{9661B1FF-CC4D-B368-E1E8-1CF3A064A06C}"/>
              </a:ext>
            </a:extLst>
          </p:cNvPr>
          <p:cNvPicPr>
            <a:picLocks noChangeAspect="1"/>
          </p:cNvPicPr>
          <p:nvPr/>
        </p:nvPicPr>
        <p:blipFill>
          <a:blip r:embed="rId4"/>
          <a:stretch>
            <a:fillRect/>
          </a:stretch>
        </p:blipFill>
        <p:spPr>
          <a:xfrm>
            <a:off x="158125" y="4567706"/>
            <a:ext cx="5329983" cy="2353004"/>
          </a:xfrm>
          <a:prstGeom prst="rect">
            <a:avLst/>
          </a:prstGeom>
        </p:spPr>
      </p:pic>
      <p:pic>
        <p:nvPicPr>
          <p:cNvPr id="13" name="Picture 12">
            <a:extLst>
              <a:ext uri="{FF2B5EF4-FFF2-40B4-BE49-F238E27FC236}">
                <a16:creationId xmlns:a16="http://schemas.microsoft.com/office/drawing/2014/main" id="{53D5923E-530E-4FD6-A7EC-A1C7CA514450}"/>
              </a:ext>
            </a:extLst>
          </p:cNvPr>
          <p:cNvPicPr>
            <a:picLocks noChangeAspect="1"/>
          </p:cNvPicPr>
          <p:nvPr/>
        </p:nvPicPr>
        <p:blipFill>
          <a:blip r:embed="rId5"/>
          <a:stretch>
            <a:fillRect/>
          </a:stretch>
        </p:blipFill>
        <p:spPr>
          <a:xfrm>
            <a:off x="5841892" y="4567706"/>
            <a:ext cx="5495536" cy="2385506"/>
          </a:xfrm>
          <a:prstGeom prst="rect">
            <a:avLst/>
          </a:prstGeom>
        </p:spPr>
      </p:pic>
    </p:spTree>
    <p:extLst>
      <p:ext uri="{BB962C8B-B14F-4D97-AF65-F5344CB8AC3E}">
        <p14:creationId xmlns:p14="http://schemas.microsoft.com/office/powerpoint/2010/main" val="3392709007"/>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C568C5A-F3A3-92D9-B2BA-8C8B91789CE8}"/>
              </a:ext>
            </a:extLst>
          </p:cNvPr>
          <p:cNvSpPr>
            <a:spLocks noGrp="1"/>
          </p:cNvSpPr>
          <p:nvPr>
            <p:ph type="title"/>
          </p:nvPr>
        </p:nvSpPr>
        <p:spPr/>
        <p:txBody>
          <a:bodyPr/>
          <a:lstStyle/>
          <a:p>
            <a:r>
              <a:rPr lang="en-US" dirty="0"/>
              <a:t>What’s new ?</a:t>
            </a:r>
          </a:p>
        </p:txBody>
      </p:sp>
      <p:sp>
        <p:nvSpPr>
          <p:cNvPr id="3" name="Content Placeholder 2">
            <a:extLst>
              <a:ext uri="{FF2B5EF4-FFF2-40B4-BE49-F238E27FC236}">
                <a16:creationId xmlns:a16="http://schemas.microsoft.com/office/drawing/2014/main" id="{E96F7FD7-637F-EFBB-30A4-9ABC5CF2E2CB}"/>
              </a:ext>
            </a:extLst>
          </p:cNvPr>
          <p:cNvSpPr>
            <a:spLocks noGrp="1"/>
          </p:cNvSpPr>
          <p:nvPr>
            <p:ph idx="1"/>
          </p:nvPr>
        </p:nvSpPr>
        <p:spPr/>
        <p:txBody>
          <a:bodyPr>
            <a:normAutofit/>
          </a:bodyPr>
          <a:lstStyle/>
          <a:p>
            <a:r>
              <a:rPr lang="en-US" sz="2400" dirty="0"/>
              <a:t>-New model (</a:t>
            </a:r>
            <a:r>
              <a:rPr lang="en-US" sz="2400" dirty="0" err="1"/>
              <a:t>Restnet</a:t>
            </a:r>
            <a:r>
              <a:rPr lang="en-US" sz="2400" dirty="0"/>
              <a:t> 101)</a:t>
            </a:r>
          </a:p>
          <a:p>
            <a:endParaRPr lang="en-US" sz="2400" dirty="0"/>
          </a:p>
          <a:p>
            <a:r>
              <a:rPr lang="en-US" sz="2400" dirty="0"/>
              <a:t>-Bigger and more diverse data</a:t>
            </a:r>
          </a:p>
          <a:p>
            <a:endParaRPr lang="en-US" sz="2400" dirty="0"/>
          </a:p>
          <a:p>
            <a:r>
              <a:rPr lang="en-US" sz="2400" dirty="0"/>
              <a:t>-Voting (Taking both Resnet101 and Vgg16)</a:t>
            </a:r>
          </a:p>
          <a:p>
            <a:endParaRPr lang="en-US" sz="2400" dirty="0"/>
          </a:p>
          <a:p>
            <a:r>
              <a:rPr lang="en-US" sz="2400" dirty="0"/>
              <a:t>Implementing on Android APP</a:t>
            </a:r>
          </a:p>
          <a:p>
            <a:endParaRPr lang="en-US" sz="2400" dirty="0"/>
          </a:p>
          <a:p>
            <a:endParaRPr lang="en-US" sz="2400" dirty="0"/>
          </a:p>
        </p:txBody>
      </p:sp>
      <p:sp>
        <p:nvSpPr>
          <p:cNvPr id="4" name="Date Placeholder 3">
            <a:extLst>
              <a:ext uri="{FF2B5EF4-FFF2-40B4-BE49-F238E27FC236}">
                <a16:creationId xmlns:a16="http://schemas.microsoft.com/office/drawing/2014/main" id="{21C11C5C-030A-5304-B98B-8375D3D0364C}"/>
              </a:ext>
            </a:extLst>
          </p:cNvPr>
          <p:cNvSpPr>
            <a:spLocks noGrp="1"/>
          </p:cNvSpPr>
          <p:nvPr>
            <p:ph type="dt" sz="half" idx="10"/>
          </p:nvPr>
        </p:nvSpPr>
        <p:spPr/>
        <p:txBody>
          <a:bodyPr/>
          <a:lstStyle/>
          <a:p>
            <a:fld id="{DF06F12F-02D3-425D-BF4C-BBE4220292D9}" type="datetime1">
              <a:rPr lang="en-US" smtClean="0"/>
              <a:t>12/22/2025</a:t>
            </a:fld>
            <a:endParaRPr lang="en-US"/>
          </a:p>
        </p:txBody>
      </p:sp>
      <p:sp>
        <p:nvSpPr>
          <p:cNvPr id="5" name="Slide Number Placeholder 4">
            <a:extLst>
              <a:ext uri="{FF2B5EF4-FFF2-40B4-BE49-F238E27FC236}">
                <a16:creationId xmlns:a16="http://schemas.microsoft.com/office/drawing/2014/main" id="{09EDE2FA-1044-7F21-65FD-064610165053}"/>
              </a:ext>
            </a:extLst>
          </p:cNvPr>
          <p:cNvSpPr>
            <a:spLocks noGrp="1"/>
          </p:cNvSpPr>
          <p:nvPr>
            <p:ph type="sldNum" sz="quarter" idx="12"/>
          </p:nvPr>
        </p:nvSpPr>
        <p:spPr/>
        <p:txBody>
          <a:bodyPr/>
          <a:lstStyle/>
          <a:p>
            <a:fld id="{40742BEA-48CF-4F32-AFB8-C9C4AAF5269A}" type="slidenum">
              <a:rPr lang="en-US" smtClean="0"/>
              <a:t>15</a:t>
            </a:fld>
            <a:endParaRPr lang="en-US"/>
          </a:p>
        </p:txBody>
      </p:sp>
    </p:spTree>
    <p:extLst>
      <p:ext uri="{BB962C8B-B14F-4D97-AF65-F5344CB8AC3E}">
        <p14:creationId xmlns:p14="http://schemas.microsoft.com/office/powerpoint/2010/main" val="679891857"/>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F4D203F-71EF-F1BD-8AD2-66691843DF57}"/>
              </a:ext>
            </a:extLst>
          </p:cNvPr>
          <p:cNvSpPr>
            <a:spLocks noGrp="1"/>
          </p:cNvSpPr>
          <p:nvPr>
            <p:ph type="title"/>
          </p:nvPr>
        </p:nvSpPr>
        <p:spPr>
          <a:xfrm>
            <a:off x="573833" y="354297"/>
            <a:ext cx="10042785" cy="821987"/>
          </a:xfrm>
        </p:spPr>
        <p:txBody>
          <a:bodyPr/>
          <a:lstStyle/>
          <a:p>
            <a:r>
              <a:rPr lang="en-US" dirty="0"/>
              <a:t>Why vgg16 and resnet101?</a:t>
            </a:r>
          </a:p>
        </p:txBody>
      </p:sp>
      <p:sp>
        <p:nvSpPr>
          <p:cNvPr id="3" name="Content Placeholder 2">
            <a:extLst>
              <a:ext uri="{FF2B5EF4-FFF2-40B4-BE49-F238E27FC236}">
                <a16:creationId xmlns:a16="http://schemas.microsoft.com/office/drawing/2014/main" id="{99F10089-EF08-2BF0-F2ED-87AE5CE21F30}"/>
              </a:ext>
            </a:extLst>
          </p:cNvPr>
          <p:cNvSpPr>
            <a:spLocks noGrp="1"/>
          </p:cNvSpPr>
          <p:nvPr>
            <p:ph idx="1"/>
          </p:nvPr>
        </p:nvSpPr>
        <p:spPr>
          <a:xfrm>
            <a:off x="279918" y="1530220"/>
            <a:ext cx="11420670" cy="5411756"/>
          </a:xfrm>
        </p:spPr>
        <p:txBody>
          <a:bodyPr anchor="t">
            <a:normAutofit/>
          </a:bodyPr>
          <a:lstStyle/>
          <a:p>
            <a:pPr marL="0" indent="0">
              <a:buNone/>
            </a:pPr>
            <a:r>
              <a:rPr lang="en-US" sz="2400" b="1" dirty="0"/>
              <a:t>(a) VGG16: Simplicity and Feature Extraction</a:t>
            </a:r>
          </a:p>
          <a:p>
            <a:pPr>
              <a:buFont typeface="Arial" panose="020B0604020202020204" pitchFamily="34" charset="0"/>
              <a:buChar char="•"/>
            </a:pPr>
            <a:r>
              <a:rPr lang="en-US" dirty="0"/>
              <a:t>Simple sequential architecture with 13 conv + 3 FC layers; easy to implement and fine-tune.</a:t>
            </a:r>
          </a:p>
          <a:p>
            <a:pPr>
              <a:buFont typeface="Arial" panose="020B0604020202020204" pitchFamily="34" charset="0"/>
              <a:buChar char="•"/>
            </a:pPr>
            <a:r>
              <a:rPr lang="en-US" dirty="0"/>
              <a:t>Small 3×3 filters capture subtle textures in MRI scans, useful for detecting tumor variations.</a:t>
            </a:r>
          </a:p>
          <a:p>
            <a:pPr>
              <a:buFont typeface="Arial" panose="020B0604020202020204" pitchFamily="34" charset="0"/>
              <a:buChar char="•"/>
            </a:pPr>
            <a:r>
              <a:rPr lang="en-US" dirty="0"/>
              <a:t>Works well on small-to-medium datasets (~2,000–5,000 images) with moderate overfitting risk.</a:t>
            </a:r>
          </a:p>
          <a:p>
            <a:pPr marL="0" indent="0">
              <a:buNone/>
            </a:pPr>
            <a:endParaRPr lang="en-US" dirty="0"/>
          </a:p>
          <a:p>
            <a:pPr marL="0" indent="0">
              <a:buNone/>
            </a:pPr>
            <a:endParaRPr lang="en-US" dirty="0"/>
          </a:p>
          <a:p>
            <a:pPr marL="0" indent="0">
              <a:buNone/>
            </a:pPr>
            <a:r>
              <a:rPr lang="en-US" b="1" dirty="0"/>
              <a:t>(</a:t>
            </a:r>
            <a:r>
              <a:rPr lang="en-US" sz="2400" b="1" dirty="0"/>
              <a:t>b) ResNet101: Depth and Residual Learning</a:t>
            </a:r>
          </a:p>
          <a:p>
            <a:pPr>
              <a:buFont typeface="Arial" panose="020B0604020202020204" pitchFamily="34" charset="0"/>
              <a:buChar char="•"/>
            </a:pPr>
            <a:r>
              <a:rPr lang="en-US" dirty="0"/>
              <a:t>101-layer deep network with residual (skip) connections to prevent vanishing gradients.</a:t>
            </a:r>
          </a:p>
          <a:p>
            <a:pPr>
              <a:buFont typeface="Arial" panose="020B0604020202020204" pitchFamily="34" charset="0"/>
              <a:buChar char="•"/>
            </a:pPr>
            <a:r>
              <a:rPr lang="en-US" dirty="0"/>
              <a:t>Captures complex, hierarchical features for subtle tumor characteristics.</a:t>
            </a:r>
          </a:p>
          <a:p>
            <a:pPr>
              <a:buFont typeface="Arial" panose="020B0604020202020204" pitchFamily="34" charset="0"/>
              <a:buChar char="•"/>
            </a:pPr>
            <a:r>
              <a:rPr lang="en-US" dirty="0"/>
              <a:t>Pretrained on ImageNet; fine-tuning last layers reduces overfitting despite depth.</a:t>
            </a:r>
          </a:p>
          <a:p>
            <a:pPr marL="0" indent="0" algn="l">
              <a:buNone/>
            </a:pPr>
            <a:endParaRPr lang="en-US" dirty="0"/>
          </a:p>
        </p:txBody>
      </p:sp>
      <p:sp>
        <p:nvSpPr>
          <p:cNvPr id="4" name="Date Placeholder 3">
            <a:extLst>
              <a:ext uri="{FF2B5EF4-FFF2-40B4-BE49-F238E27FC236}">
                <a16:creationId xmlns:a16="http://schemas.microsoft.com/office/drawing/2014/main" id="{36BFA534-DBA6-471F-770D-30CF3C0348B7}"/>
              </a:ext>
            </a:extLst>
          </p:cNvPr>
          <p:cNvSpPr>
            <a:spLocks noGrp="1"/>
          </p:cNvSpPr>
          <p:nvPr>
            <p:ph type="dt" sz="half" idx="10"/>
          </p:nvPr>
        </p:nvSpPr>
        <p:spPr/>
        <p:txBody>
          <a:bodyPr/>
          <a:lstStyle/>
          <a:p>
            <a:fld id="{DF06F12F-02D3-425D-BF4C-BBE4220292D9}" type="datetime1">
              <a:rPr lang="en-US" smtClean="0"/>
              <a:t>12/22/2025</a:t>
            </a:fld>
            <a:endParaRPr lang="en-US"/>
          </a:p>
        </p:txBody>
      </p:sp>
      <p:sp>
        <p:nvSpPr>
          <p:cNvPr id="5" name="Slide Number Placeholder 4">
            <a:extLst>
              <a:ext uri="{FF2B5EF4-FFF2-40B4-BE49-F238E27FC236}">
                <a16:creationId xmlns:a16="http://schemas.microsoft.com/office/drawing/2014/main" id="{7C723280-65CA-2D39-DBA7-412474E1B108}"/>
              </a:ext>
            </a:extLst>
          </p:cNvPr>
          <p:cNvSpPr>
            <a:spLocks noGrp="1"/>
          </p:cNvSpPr>
          <p:nvPr>
            <p:ph type="sldNum" sz="quarter" idx="12"/>
          </p:nvPr>
        </p:nvSpPr>
        <p:spPr/>
        <p:txBody>
          <a:bodyPr/>
          <a:lstStyle/>
          <a:p>
            <a:fld id="{40742BEA-48CF-4F32-AFB8-C9C4AAF5269A}" type="slidenum">
              <a:rPr lang="en-US" smtClean="0"/>
              <a:t>16</a:t>
            </a:fld>
            <a:endParaRPr lang="en-US"/>
          </a:p>
        </p:txBody>
      </p:sp>
    </p:spTree>
    <p:extLst>
      <p:ext uri="{BB962C8B-B14F-4D97-AF65-F5344CB8AC3E}">
        <p14:creationId xmlns:p14="http://schemas.microsoft.com/office/powerpoint/2010/main" val="2743769891"/>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13" name="Diagram 12">
            <a:extLst>
              <a:ext uri="{FF2B5EF4-FFF2-40B4-BE49-F238E27FC236}">
                <a16:creationId xmlns:a16="http://schemas.microsoft.com/office/drawing/2014/main" id="{2763BEFB-EAFF-EC11-9C77-7BF22E29A986}"/>
              </a:ext>
            </a:extLst>
          </p:cNvPr>
          <p:cNvGraphicFramePr/>
          <p:nvPr>
            <p:extLst>
              <p:ext uri="{D42A27DB-BD31-4B8C-83A1-F6EECF244321}">
                <p14:modId xmlns:p14="http://schemas.microsoft.com/office/powerpoint/2010/main" val="3496836158"/>
              </p:ext>
            </p:extLst>
          </p:nvPr>
        </p:nvGraphicFramePr>
        <p:xfrm>
          <a:off x="3483393" y="169292"/>
          <a:ext cx="3920042" cy="6958583"/>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14" name="Date Placeholder 13">
            <a:extLst>
              <a:ext uri="{FF2B5EF4-FFF2-40B4-BE49-F238E27FC236}">
                <a16:creationId xmlns:a16="http://schemas.microsoft.com/office/drawing/2014/main" id="{87D99B50-E6B0-CCBE-1BE5-D35C8CD235DE}"/>
              </a:ext>
            </a:extLst>
          </p:cNvPr>
          <p:cNvSpPr>
            <a:spLocks noGrp="1"/>
          </p:cNvSpPr>
          <p:nvPr>
            <p:ph type="dt" sz="half" idx="10"/>
          </p:nvPr>
        </p:nvSpPr>
        <p:spPr/>
        <p:txBody>
          <a:bodyPr/>
          <a:lstStyle/>
          <a:p>
            <a:fld id="{8B9F881C-2CE2-4B40-B932-16DAF7258FFD}" type="datetime1">
              <a:rPr lang="en-US" smtClean="0"/>
              <a:t>12/22/2025</a:t>
            </a:fld>
            <a:endParaRPr lang="en-US"/>
          </a:p>
        </p:txBody>
      </p:sp>
      <p:sp>
        <p:nvSpPr>
          <p:cNvPr id="15" name="Slide Number Placeholder 14">
            <a:extLst>
              <a:ext uri="{FF2B5EF4-FFF2-40B4-BE49-F238E27FC236}">
                <a16:creationId xmlns:a16="http://schemas.microsoft.com/office/drawing/2014/main" id="{E6EDEF09-4165-0BE3-9C3E-4AC090981130}"/>
              </a:ext>
            </a:extLst>
          </p:cNvPr>
          <p:cNvSpPr>
            <a:spLocks noGrp="1"/>
          </p:cNvSpPr>
          <p:nvPr>
            <p:ph type="sldNum" sz="quarter" idx="12"/>
          </p:nvPr>
        </p:nvSpPr>
        <p:spPr/>
        <p:txBody>
          <a:bodyPr/>
          <a:lstStyle/>
          <a:p>
            <a:fld id="{40742BEA-48CF-4F32-AFB8-C9C4AAF5269A}" type="slidenum">
              <a:rPr lang="en-US" smtClean="0"/>
              <a:t>17</a:t>
            </a:fld>
            <a:endParaRPr lang="en-US"/>
          </a:p>
        </p:txBody>
      </p:sp>
    </p:spTree>
    <p:extLst>
      <p:ext uri="{BB962C8B-B14F-4D97-AF65-F5344CB8AC3E}">
        <p14:creationId xmlns:p14="http://schemas.microsoft.com/office/powerpoint/2010/main" val="2410094174"/>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3A09CF9-45D9-B092-0340-F1684D2E7E2A}"/>
              </a:ext>
            </a:extLst>
          </p:cNvPr>
          <p:cNvSpPr>
            <a:spLocks noGrp="1"/>
          </p:cNvSpPr>
          <p:nvPr>
            <p:ph type="title"/>
          </p:nvPr>
        </p:nvSpPr>
        <p:spPr>
          <a:xfrm>
            <a:off x="410548" y="70395"/>
            <a:ext cx="10229398" cy="1038384"/>
          </a:xfrm>
        </p:spPr>
        <p:txBody>
          <a:bodyPr/>
          <a:lstStyle/>
          <a:p>
            <a:r>
              <a:rPr lang="en-US" dirty="0"/>
              <a:t>Preprocessing</a:t>
            </a:r>
          </a:p>
        </p:txBody>
      </p:sp>
      <p:sp>
        <p:nvSpPr>
          <p:cNvPr id="3" name="Content Placeholder 2">
            <a:extLst>
              <a:ext uri="{FF2B5EF4-FFF2-40B4-BE49-F238E27FC236}">
                <a16:creationId xmlns:a16="http://schemas.microsoft.com/office/drawing/2014/main" id="{6E71ABFD-4E82-9D81-83DC-D0BF6FDF7F74}"/>
              </a:ext>
            </a:extLst>
          </p:cNvPr>
          <p:cNvSpPr>
            <a:spLocks noGrp="1"/>
          </p:cNvSpPr>
          <p:nvPr>
            <p:ph idx="1"/>
          </p:nvPr>
        </p:nvSpPr>
        <p:spPr>
          <a:xfrm>
            <a:off x="410548" y="905069"/>
            <a:ext cx="11299370" cy="5196525"/>
          </a:xfrm>
        </p:spPr>
        <p:txBody>
          <a:bodyPr>
            <a:normAutofit fontScale="92500" lnSpcReduction="20000"/>
          </a:bodyPr>
          <a:lstStyle/>
          <a:p>
            <a:pPr marL="0" indent="0">
              <a:lnSpc>
                <a:spcPct val="107000"/>
              </a:lnSpc>
              <a:spcAft>
                <a:spcPts val="800"/>
              </a:spcAft>
              <a:buNone/>
            </a:pPr>
            <a:r>
              <a:rPr lang="en-US" sz="1800" dirty="0">
                <a:effectLst/>
                <a:latin typeface="Times New Roman" panose="02020603050405020304" pitchFamily="18" charset="0"/>
                <a:ea typeface="Arial Unicode MS"/>
              </a:rPr>
              <a:t>The following preprocessing steps were applied uniformly to all MRI scans:</a:t>
            </a:r>
          </a:p>
          <a:p>
            <a:pPr marL="0" indent="0">
              <a:lnSpc>
                <a:spcPct val="107000"/>
              </a:lnSpc>
              <a:spcAft>
                <a:spcPts val="800"/>
              </a:spcAft>
              <a:buNone/>
            </a:pPr>
            <a:r>
              <a:rPr lang="en-US" sz="1800" b="1" dirty="0">
                <a:solidFill>
                  <a:schemeClr val="accent1">
                    <a:lumMod val="60000"/>
                    <a:lumOff val="40000"/>
                  </a:schemeClr>
                </a:solidFill>
                <a:effectLst/>
                <a:latin typeface="Times New Roman" panose="02020603050405020304" pitchFamily="18" charset="0"/>
                <a:ea typeface="Arial Unicode MS"/>
              </a:rPr>
              <a:t>Skull Stripping:</a:t>
            </a:r>
            <a:endParaRPr lang="en-US" sz="1800" dirty="0">
              <a:solidFill>
                <a:schemeClr val="accent1">
                  <a:lumMod val="60000"/>
                  <a:lumOff val="40000"/>
                </a:schemeClr>
              </a:solidFill>
              <a:effectLst/>
              <a:latin typeface="Times New Roman" panose="02020603050405020304" pitchFamily="18" charset="0"/>
              <a:ea typeface="Arial Unicode MS"/>
            </a:endParaRPr>
          </a:p>
          <a:p>
            <a:pPr>
              <a:lnSpc>
                <a:spcPct val="107000"/>
              </a:lnSpc>
              <a:spcAft>
                <a:spcPts val="800"/>
              </a:spcAft>
            </a:pPr>
            <a:r>
              <a:rPr lang="en-US" sz="1800" dirty="0">
                <a:effectLst/>
                <a:latin typeface="Times New Roman" panose="02020603050405020304" pitchFamily="18" charset="0"/>
                <a:ea typeface="Arial Unicode MS"/>
              </a:rPr>
              <a:t>Non-brain tissues removed using HD-BET algorithm</a:t>
            </a:r>
          </a:p>
          <a:p>
            <a:pPr marL="0" indent="0">
              <a:lnSpc>
                <a:spcPct val="107000"/>
              </a:lnSpc>
              <a:spcAft>
                <a:spcPts val="800"/>
              </a:spcAft>
              <a:buNone/>
            </a:pPr>
            <a:r>
              <a:rPr lang="en-US" sz="1800" dirty="0">
                <a:effectLst/>
                <a:latin typeface="Times New Roman" panose="02020603050405020304" pitchFamily="18" charset="0"/>
                <a:ea typeface="Arial Unicode MS"/>
              </a:rPr>
              <a:t> </a:t>
            </a:r>
          </a:p>
          <a:p>
            <a:pPr marL="0" indent="0">
              <a:lnSpc>
                <a:spcPct val="107000"/>
              </a:lnSpc>
              <a:spcAft>
                <a:spcPts val="800"/>
              </a:spcAft>
              <a:buNone/>
            </a:pPr>
            <a:r>
              <a:rPr lang="en-US" sz="1800" b="1" dirty="0">
                <a:solidFill>
                  <a:schemeClr val="accent1">
                    <a:lumMod val="60000"/>
                    <a:lumOff val="40000"/>
                  </a:schemeClr>
                </a:solidFill>
                <a:effectLst/>
                <a:latin typeface="Times New Roman" panose="02020603050405020304" pitchFamily="18" charset="0"/>
                <a:ea typeface="Arial Unicode MS"/>
              </a:rPr>
              <a:t>Normalization:</a:t>
            </a:r>
            <a:endParaRPr lang="en-US" sz="1800" dirty="0">
              <a:solidFill>
                <a:schemeClr val="accent1">
                  <a:lumMod val="60000"/>
                  <a:lumOff val="40000"/>
                </a:schemeClr>
              </a:solidFill>
              <a:effectLst/>
              <a:latin typeface="Times New Roman" panose="02020603050405020304" pitchFamily="18" charset="0"/>
              <a:ea typeface="Arial Unicode MS"/>
            </a:endParaRPr>
          </a:p>
          <a:p>
            <a:pPr>
              <a:lnSpc>
                <a:spcPct val="107000"/>
              </a:lnSpc>
              <a:spcAft>
                <a:spcPts val="800"/>
              </a:spcAft>
            </a:pPr>
            <a:r>
              <a:rPr lang="en-US" sz="1800" dirty="0">
                <a:effectLst/>
                <a:latin typeface="Times New Roman" panose="02020603050405020304" pitchFamily="18" charset="0"/>
                <a:ea typeface="Arial Unicode MS"/>
              </a:rPr>
              <a:t>Pixel intensities rescaled to [0,1] range</a:t>
            </a:r>
          </a:p>
          <a:p>
            <a:pPr marL="0" indent="0">
              <a:lnSpc>
                <a:spcPct val="107000"/>
              </a:lnSpc>
              <a:spcAft>
                <a:spcPts val="800"/>
              </a:spcAft>
              <a:buNone/>
            </a:pPr>
            <a:r>
              <a:rPr lang="en-US" sz="1800" dirty="0">
                <a:effectLst/>
                <a:latin typeface="Times New Roman" panose="02020603050405020304" pitchFamily="18" charset="0"/>
                <a:ea typeface="Arial Unicode MS"/>
              </a:rPr>
              <a:t> </a:t>
            </a:r>
          </a:p>
          <a:p>
            <a:pPr marL="0" indent="0">
              <a:lnSpc>
                <a:spcPct val="107000"/>
              </a:lnSpc>
              <a:spcAft>
                <a:spcPts val="800"/>
              </a:spcAft>
              <a:buNone/>
            </a:pPr>
            <a:r>
              <a:rPr lang="en-US" sz="1800" b="1" dirty="0">
                <a:solidFill>
                  <a:schemeClr val="accent1">
                    <a:lumMod val="60000"/>
                    <a:lumOff val="40000"/>
                  </a:schemeClr>
                </a:solidFill>
                <a:effectLst/>
                <a:latin typeface="Times New Roman" panose="02020603050405020304" pitchFamily="18" charset="0"/>
                <a:ea typeface="Arial Unicode MS"/>
              </a:rPr>
              <a:t>Resizing:</a:t>
            </a:r>
            <a:endParaRPr lang="en-US" sz="1800" dirty="0">
              <a:solidFill>
                <a:schemeClr val="accent1">
                  <a:lumMod val="60000"/>
                  <a:lumOff val="40000"/>
                </a:schemeClr>
              </a:solidFill>
              <a:effectLst/>
              <a:latin typeface="Times New Roman" panose="02020603050405020304" pitchFamily="18" charset="0"/>
              <a:ea typeface="Arial Unicode MS"/>
            </a:endParaRPr>
          </a:p>
          <a:p>
            <a:pPr>
              <a:lnSpc>
                <a:spcPct val="107000"/>
              </a:lnSpc>
              <a:spcAft>
                <a:spcPts val="800"/>
              </a:spcAft>
            </a:pPr>
            <a:r>
              <a:rPr lang="en-US" sz="1800" dirty="0">
                <a:effectLst/>
                <a:latin typeface="Times New Roman" panose="02020603050405020304" pitchFamily="18" charset="0"/>
                <a:ea typeface="Arial Unicode MS"/>
              </a:rPr>
              <a:t>Images standardized to 224×224 resolution using</a:t>
            </a:r>
          </a:p>
          <a:p>
            <a:pPr marL="0" indent="0">
              <a:lnSpc>
                <a:spcPct val="107000"/>
              </a:lnSpc>
              <a:spcAft>
                <a:spcPts val="800"/>
              </a:spcAft>
              <a:buNone/>
            </a:pPr>
            <a:r>
              <a:rPr lang="en-US" sz="1800" dirty="0">
                <a:effectLst/>
                <a:latin typeface="Times New Roman" panose="02020603050405020304" pitchFamily="18" charset="0"/>
                <a:ea typeface="Arial Unicode MS"/>
              </a:rPr>
              <a:t> bicubic interpolation</a:t>
            </a:r>
          </a:p>
          <a:p>
            <a:pPr marL="0" indent="0">
              <a:lnSpc>
                <a:spcPct val="107000"/>
              </a:lnSpc>
              <a:spcAft>
                <a:spcPts val="800"/>
              </a:spcAft>
              <a:buNone/>
            </a:pPr>
            <a:r>
              <a:rPr lang="en-US" sz="1800" dirty="0">
                <a:effectLst/>
                <a:latin typeface="Times New Roman" panose="02020603050405020304" pitchFamily="18" charset="0"/>
                <a:ea typeface="Arial Unicode MS"/>
              </a:rPr>
              <a:t> </a:t>
            </a:r>
          </a:p>
          <a:p>
            <a:pPr marL="0" indent="0">
              <a:lnSpc>
                <a:spcPct val="107000"/>
              </a:lnSpc>
              <a:spcAft>
                <a:spcPts val="800"/>
              </a:spcAft>
              <a:buNone/>
            </a:pPr>
            <a:r>
              <a:rPr lang="en-US" sz="1800" b="1" dirty="0">
                <a:solidFill>
                  <a:schemeClr val="accent1">
                    <a:lumMod val="60000"/>
                    <a:lumOff val="40000"/>
                  </a:schemeClr>
                </a:solidFill>
                <a:effectLst/>
                <a:latin typeface="Times New Roman" panose="02020603050405020304" pitchFamily="18" charset="0"/>
                <a:ea typeface="Arial Unicode MS"/>
              </a:rPr>
              <a:t>Dataset Splits:</a:t>
            </a:r>
            <a:endParaRPr lang="en-US" sz="1800" dirty="0">
              <a:solidFill>
                <a:schemeClr val="accent1">
                  <a:lumMod val="60000"/>
                  <a:lumOff val="40000"/>
                </a:schemeClr>
              </a:solidFill>
              <a:effectLst/>
              <a:latin typeface="Times New Roman" panose="02020603050405020304" pitchFamily="18" charset="0"/>
              <a:ea typeface="Arial Unicode MS"/>
            </a:endParaRPr>
          </a:p>
          <a:p>
            <a:pPr marL="342900" lvl="0" indent="-342900">
              <a:lnSpc>
                <a:spcPct val="107000"/>
              </a:lnSpc>
              <a:spcAft>
                <a:spcPts val="800"/>
              </a:spcAft>
              <a:buFont typeface="Symbol" panose="05050102010706020507" pitchFamily="18" charset="2"/>
              <a:buChar char=""/>
            </a:pPr>
            <a:r>
              <a:rPr lang="en-US" sz="1800" dirty="0">
                <a:effectLst/>
                <a:latin typeface="Times New Roman" panose="02020603050405020304" pitchFamily="18" charset="0"/>
                <a:ea typeface="Arial Unicode MS"/>
              </a:rPr>
              <a:t>Training: 70% </a:t>
            </a:r>
          </a:p>
          <a:p>
            <a:pPr marL="342900" lvl="0" indent="-342900">
              <a:lnSpc>
                <a:spcPct val="107000"/>
              </a:lnSpc>
              <a:spcAft>
                <a:spcPts val="800"/>
              </a:spcAft>
              <a:buFont typeface="Symbol" panose="05050102010706020507" pitchFamily="18" charset="2"/>
              <a:buChar char=""/>
            </a:pPr>
            <a:r>
              <a:rPr lang="en-US" sz="1800" dirty="0">
                <a:effectLst/>
                <a:latin typeface="Times New Roman" panose="02020603050405020304" pitchFamily="18" charset="0"/>
                <a:ea typeface="Arial Unicode MS"/>
              </a:rPr>
              <a:t>Validation: 12% </a:t>
            </a:r>
            <a:endParaRPr lang="en-US" dirty="0">
              <a:latin typeface="Times New Roman" panose="02020603050405020304" pitchFamily="18" charset="0"/>
              <a:ea typeface="Arial Unicode MS"/>
            </a:endParaRPr>
          </a:p>
          <a:p>
            <a:pPr marL="342900" lvl="0" indent="-342900">
              <a:lnSpc>
                <a:spcPct val="107000"/>
              </a:lnSpc>
              <a:spcAft>
                <a:spcPts val="800"/>
              </a:spcAft>
              <a:buFont typeface="Symbol" panose="05050102010706020507" pitchFamily="18" charset="2"/>
              <a:buChar char=""/>
            </a:pPr>
            <a:r>
              <a:rPr lang="en-US" sz="1800" kern="0" dirty="0">
                <a:effectLst/>
                <a:latin typeface="Times New Roman" panose="02020603050405020304" pitchFamily="18" charset="0"/>
                <a:ea typeface="Arial Unicode MS"/>
              </a:rPr>
              <a:t>Test:  18%</a:t>
            </a:r>
            <a:endParaRPr lang="en-US" dirty="0"/>
          </a:p>
        </p:txBody>
      </p:sp>
      <p:sp>
        <p:nvSpPr>
          <p:cNvPr id="4" name="Date Placeholder 3">
            <a:extLst>
              <a:ext uri="{FF2B5EF4-FFF2-40B4-BE49-F238E27FC236}">
                <a16:creationId xmlns:a16="http://schemas.microsoft.com/office/drawing/2014/main" id="{E48BC6F2-90F7-5CA3-4D0A-B086CD42B9F2}"/>
              </a:ext>
            </a:extLst>
          </p:cNvPr>
          <p:cNvSpPr>
            <a:spLocks noGrp="1"/>
          </p:cNvSpPr>
          <p:nvPr>
            <p:ph type="dt" sz="half" idx="10"/>
          </p:nvPr>
        </p:nvSpPr>
        <p:spPr/>
        <p:txBody>
          <a:bodyPr/>
          <a:lstStyle/>
          <a:p>
            <a:fld id="{DF06F12F-02D3-425D-BF4C-BBE4220292D9}" type="datetime1">
              <a:rPr lang="en-US" smtClean="0"/>
              <a:t>12/22/2025</a:t>
            </a:fld>
            <a:endParaRPr lang="en-US"/>
          </a:p>
        </p:txBody>
      </p:sp>
      <p:sp>
        <p:nvSpPr>
          <p:cNvPr id="5" name="Slide Number Placeholder 4">
            <a:extLst>
              <a:ext uri="{FF2B5EF4-FFF2-40B4-BE49-F238E27FC236}">
                <a16:creationId xmlns:a16="http://schemas.microsoft.com/office/drawing/2014/main" id="{9661BD27-A7D3-24EC-CB0C-A25D31337B0B}"/>
              </a:ext>
            </a:extLst>
          </p:cNvPr>
          <p:cNvSpPr>
            <a:spLocks noGrp="1"/>
          </p:cNvSpPr>
          <p:nvPr>
            <p:ph type="sldNum" sz="quarter" idx="12"/>
          </p:nvPr>
        </p:nvSpPr>
        <p:spPr/>
        <p:txBody>
          <a:bodyPr/>
          <a:lstStyle/>
          <a:p>
            <a:fld id="{40742BEA-48CF-4F32-AFB8-C9C4AAF5269A}" type="slidenum">
              <a:rPr lang="en-US" smtClean="0"/>
              <a:t>18</a:t>
            </a:fld>
            <a:endParaRPr lang="en-US"/>
          </a:p>
        </p:txBody>
      </p:sp>
      <p:pic>
        <p:nvPicPr>
          <p:cNvPr id="8" name="Picture 7">
            <a:extLst>
              <a:ext uri="{FF2B5EF4-FFF2-40B4-BE49-F238E27FC236}">
                <a16:creationId xmlns:a16="http://schemas.microsoft.com/office/drawing/2014/main" id="{933871C3-502C-21D6-75A6-3BCE9A1311EC}"/>
              </a:ext>
            </a:extLst>
          </p:cNvPr>
          <p:cNvPicPr>
            <a:picLocks noChangeAspect="1"/>
          </p:cNvPicPr>
          <p:nvPr/>
        </p:nvPicPr>
        <p:blipFill>
          <a:blip r:embed="rId2"/>
          <a:stretch>
            <a:fillRect/>
          </a:stretch>
        </p:blipFill>
        <p:spPr>
          <a:xfrm>
            <a:off x="5632518" y="2234573"/>
            <a:ext cx="5452250" cy="2658727"/>
          </a:xfrm>
          <a:prstGeom prst="rect">
            <a:avLst/>
          </a:prstGeom>
        </p:spPr>
      </p:pic>
    </p:spTree>
    <p:extLst>
      <p:ext uri="{BB962C8B-B14F-4D97-AF65-F5344CB8AC3E}">
        <p14:creationId xmlns:p14="http://schemas.microsoft.com/office/powerpoint/2010/main" val="3710980874"/>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58BB0DB-361C-DCBF-3E45-24F15C7775A3}"/>
              </a:ext>
            </a:extLst>
          </p:cNvPr>
          <p:cNvSpPr>
            <a:spLocks noGrp="1"/>
          </p:cNvSpPr>
          <p:nvPr>
            <p:ph type="title"/>
          </p:nvPr>
        </p:nvSpPr>
        <p:spPr>
          <a:xfrm>
            <a:off x="685802" y="-85248"/>
            <a:ext cx="10131425" cy="1513574"/>
          </a:xfrm>
        </p:spPr>
        <p:txBody>
          <a:bodyPr/>
          <a:lstStyle/>
          <a:p>
            <a:r>
              <a:rPr lang="en-US" dirty="0"/>
              <a:t>VGG16 Model Architecture</a:t>
            </a:r>
          </a:p>
        </p:txBody>
      </p:sp>
      <p:sp>
        <p:nvSpPr>
          <p:cNvPr id="3" name="Content Placeholder 2">
            <a:extLst>
              <a:ext uri="{FF2B5EF4-FFF2-40B4-BE49-F238E27FC236}">
                <a16:creationId xmlns:a16="http://schemas.microsoft.com/office/drawing/2014/main" id="{0FC646FE-D87D-A492-0BB2-4485F690645C}"/>
              </a:ext>
            </a:extLst>
          </p:cNvPr>
          <p:cNvSpPr>
            <a:spLocks noGrp="1"/>
          </p:cNvSpPr>
          <p:nvPr>
            <p:ph idx="1"/>
          </p:nvPr>
        </p:nvSpPr>
        <p:spPr>
          <a:xfrm>
            <a:off x="447869" y="1091682"/>
            <a:ext cx="11150081" cy="5710334"/>
          </a:xfrm>
        </p:spPr>
        <p:txBody>
          <a:bodyPr>
            <a:normAutofit/>
          </a:bodyPr>
          <a:lstStyle/>
          <a:p>
            <a:pPr marL="171450" indent="0">
              <a:buNone/>
            </a:pPr>
            <a:r>
              <a:rPr lang="en-US" dirty="0">
                <a:solidFill>
                  <a:schemeClr val="accent1">
                    <a:lumMod val="60000"/>
                    <a:lumOff val="40000"/>
                  </a:schemeClr>
                </a:solidFill>
              </a:rPr>
              <a:t>Base Model Configuration</a:t>
            </a:r>
          </a:p>
          <a:p>
            <a:pPr marL="171450" indent="0">
              <a:buNone/>
            </a:pPr>
            <a:r>
              <a:rPr lang="en-US" dirty="0"/>
              <a:t>•	Pretrained Weights: ImageNet</a:t>
            </a:r>
          </a:p>
          <a:p>
            <a:pPr marL="171450" indent="0">
              <a:buNone/>
            </a:pPr>
            <a:r>
              <a:rPr lang="en-US" dirty="0"/>
              <a:t>•	Input Shape: 224×224×3 (RGB MRI slices)</a:t>
            </a:r>
          </a:p>
          <a:p>
            <a:pPr marL="171450" indent="0">
              <a:buNone/>
            </a:pPr>
            <a:r>
              <a:rPr lang="en-US" dirty="0"/>
              <a:t>•	Frozen Layers: All but the last 10 layers</a:t>
            </a:r>
          </a:p>
          <a:p>
            <a:pPr marL="171450" indent="0">
              <a:buNone/>
            </a:pPr>
            <a:r>
              <a:rPr lang="en-US" dirty="0"/>
              <a:t>•	Old Trainable Parameters: 2,097,412 / New Trainable Parameters : 13,833,988</a:t>
            </a:r>
          </a:p>
          <a:p>
            <a:pPr marL="171450" indent="0">
              <a:buNone/>
            </a:pPr>
            <a:r>
              <a:rPr lang="en-US" dirty="0"/>
              <a:t>• 	Regularization: 50% Dropout</a:t>
            </a:r>
          </a:p>
          <a:p>
            <a:pPr marL="171450" indent="0">
              <a:buNone/>
            </a:pPr>
            <a:endParaRPr lang="en-US" dirty="0"/>
          </a:p>
          <a:p>
            <a:pPr marL="171450" indent="0">
              <a:buNone/>
            </a:pPr>
            <a:r>
              <a:rPr lang="en-US" dirty="0">
                <a:solidFill>
                  <a:schemeClr val="accent1">
                    <a:lumMod val="60000"/>
                    <a:lumOff val="40000"/>
                  </a:schemeClr>
                </a:solidFill>
              </a:rPr>
              <a:t>Key Modifications from Original VGG16</a:t>
            </a:r>
          </a:p>
          <a:p>
            <a:pPr marL="171450" indent="0">
              <a:buNone/>
            </a:pPr>
            <a:r>
              <a:rPr lang="en-US" dirty="0"/>
              <a:t>•	Removed original 1000-class FC layers</a:t>
            </a:r>
          </a:p>
          <a:p>
            <a:pPr marL="171450" indent="0">
              <a:buNone/>
            </a:pPr>
            <a:r>
              <a:rPr lang="en-US" dirty="0"/>
              <a:t>•	Reduced final Dense layer to 4 outputs</a:t>
            </a:r>
          </a:p>
          <a:p>
            <a:pPr marL="171450" indent="0">
              <a:buNone/>
            </a:pPr>
            <a:r>
              <a:rPr lang="en-US" dirty="0"/>
              <a:t>•	Added Dropout for improved generalization</a:t>
            </a:r>
          </a:p>
          <a:p>
            <a:pPr marL="457200"/>
            <a:endParaRPr lang="en-US" dirty="0"/>
          </a:p>
        </p:txBody>
      </p:sp>
      <p:sp>
        <p:nvSpPr>
          <p:cNvPr id="4" name="Date Placeholder 3">
            <a:extLst>
              <a:ext uri="{FF2B5EF4-FFF2-40B4-BE49-F238E27FC236}">
                <a16:creationId xmlns:a16="http://schemas.microsoft.com/office/drawing/2014/main" id="{E3BC72DF-D4FB-52CB-FFDF-6EE380721613}"/>
              </a:ext>
            </a:extLst>
          </p:cNvPr>
          <p:cNvSpPr>
            <a:spLocks noGrp="1"/>
          </p:cNvSpPr>
          <p:nvPr>
            <p:ph type="dt" sz="half" idx="10"/>
          </p:nvPr>
        </p:nvSpPr>
        <p:spPr/>
        <p:txBody>
          <a:bodyPr/>
          <a:lstStyle/>
          <a:p>
            <a:fld id="{DF06F12F-02D3-425D-BF4C-BBE4220292D9}" type="datetime1">
              <a:rPr lang="en-US" smtClean="0"/>
              <a:t>12/22/2025</a:t>
            </a:fld>
            <a:endParaRPr lang="en-US"/>
          </a:p>
        </p:txBody>
      </p:sp>
      <p:sp>
        <p:nvSpPr>
          <p:cNvPr id="5" name="Slide Number Placeholder 4">
            <a:extLst>
              <a:ext uri="{FF2B5EF4-FFF2-40B4-BE49-F238E27FC236}">
                <a16:creationId xmlns:a16="http://schemas.microsoft.com/office/drawing/2014/main" id="{FF9D2EAB-4933-C1A7-FE72-0BD689DD9248}"/>
              </a:ext>
            </a:extLst>
          </p:cNvPr>
          <p:cNvSpPr>
            <a:spLocks noGrp="1"/>
          </p:cNvSpPr>
          <p:nvPr>
            <p:ph type="sldNum" sz="quarter" idx="12"/>
          </p:nvPr>
        </p:nvSpPr>
        <p:spPr/>
        <p:txBody>
          <a:bodyPr/>
          <a:lstStyle/>
          <a:p>
            <a:fld id="{40742BEA-48CF-4F32-AFB8-C9C4AAF5269A}" type="slidenum">
              <a:rPr lang="en-US" smtClean="0"/>
              <a:t>19</a:t>
            </a:fld>
            <a:endParaRPr lang="en-US"/>
          </a:p>
        </p:txBody>
      </p:sp>
    </p:spTree>
    <p:extLst>
      <p:ext uri="{BB962C8B-B14F-4D97-AF65-F5344CB8AC3E}">
        <p14:creationId xmlns:p14="http://schemas.microsoft.com/office/powerpoint/2010/main" val="173460497"/>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A88B5BC-A688-BC51-A772-2A45FBADC970}"/>
              </a:ext>
            </a:extLst>
          </p:cNvPr>
          <p:cNvSpPr>
            <a:spLocks noGrp="1"/>
          </p:cNvSpPr>
          <p:nvPr>
            <p:ph type="title"/>
          </p:nvPr>
        </p:nvSpPr>
        <p:spPr>
          <a:xfrm>
            <a:off x="611157" y="8437"/>
            <a:ext cx="10131425" cy="1513574"/>
          </a:xfrm>
        </p:spPr>
        <p:txBody>
          <a:bodyPr/>
          <a:lstStyle/>
          <a:p>
            <a:r>
              <a:rPr lang="en-US" dirty="0" err="1"/>
              <a:t>Restnet</a:t>
            </a:r>
            <a:r>
              <a:rPr lang="en-US" dirty="0"/>
              <a:t> 101 model architecture </a:t>
            </a:r>
          </a:p>
        </p:txBody>
      </p:sp>
      <p:sp>
        <p:nvSpPr>
          <p:cNvPr id="3" name="Content Placeholder 2">
            <a:extLst>
              <a:ext uri="{FF2B5EF4-FFF2-40B4-BE49-F238E27FC236}">
                <a16:creationId xmlns:a16="http://schemas.microsoft.com/office/drawing/2014/main" id="{75BA01F4-1D03-282C-7215-2C8C81FE7729}"/>
              </a:ext>
            </a:extLst>
          </p:cNvPr>
          <p:cNvSpPr>
            <a:spLocks noGrp="1"/>
          </p:cNvSpPr>
          <p:nvPr>
            <p:ph idx="1"/>
          </p:nvPr>
        </p:nvSpPr>
        <p:spPr>
          <a:xfrm>
            <a:off x="611157" y="1522011"/>
            <a:ext cx="10131425" cy="4579583"/>
          </a:xfrm>
        </p:spPr>
        <p:txBody>
          <a:bodyPr>
            <a:normAutofit lnSpcReduction="10000"/>
          </a:bodyPr>
          <a:lstStyle/>
          <a:p>
            <a:pPr marL="0" indent="0">
              <a:buNone/>
            </a:pPr>
            <a:r>
              <a:rPr lang="en-US" b="1" dirty="0"/>
              <a:t>Base Model Configuration:</a:t>
            </a:r>
            <a:endParaRPr lang="en-US" dirty="0"/>
          </a:p>
          <a:p>
            <a:pPr>
              <a:buFont typeface="Arial" panose="020B0604020202020204" pitchFamily="34" charset="0"/>
              <a:buChar char="•"/>
            </a:pPr>
            <a:r>
              <a:rPr lang="en-US" dirty="0"/>
              <a:t>Pretrained Weights: ImageNet</a:t>
            </a:r>
          </a:p>
          <a:p>
            <a:pPr>
              <a:buFont typeface="Arial" panose="020B0604020202020204" pitchFamily="34" charset="0"/>
              <a:buChar char="•"/>
            </a:pPr>
            <a:r>
              <a:rPr lang="en-US" dirty="0"/>
              <a:t>Input Shape: 224×224×3 (RGB MRI slices)</a:t>
            </a:r>
          </a:p>
          <a:p>
            <a:pPr>
              <a:buFont typeface="Arial" panose="020B0604020202020204" pitchFamily="34" charset="0"/>
              <a:buChar char="•"/>
            </a:pPr>
            <a:r>
              <a:rPr lang="en-US" dirty="0"/>
              <a:t>Frozen Layers: All layers except the last 20 layers of the ResNet50 base model</a:t>
            </a:r>
          </a:p>
          <a:p>
            <a:pPr>
              <a:buFont typeface="Arial" panose="020B0604020202020204" pitchFamily="34" charset="0"/>
              <a:buChar char="•"/>
            </a:pPr>
            <a:r>
              <a:rPr lang="en-US" dirty="0"/>
              <a:t>Trainable Layers: Last 20 layers of ResNet50 + added classification head</a:t>
            </a:r>
          </a:p>
          <a:p>
            <a:pPr>
              <a:buFont typeface="Arial" panose="020B0604020202020204" pitchFamily="34" charset="0"/>
              <a:buChar char="•"/>
            </a:pPr>
            <a:r>
              <a:rPr lang="en-US" dirty="0"/>
              <a:t>Trainable Parameters : 9,982,468</a:t>
            </a:r>
          </a:p>
          <a:p>
            <a:pPr>
              <a:buFont typeface="Arial" panose="020B0604020202020204" pitchFamily="34" charset="0"/>
              <a:buChar char="•"/>
            </a:pPr>
            <a:r>
              <a:rPr lang="en-US" dirty="0"/>
              <a:t>Regularization: 50% Dropout</a:t>
            </a:r>
          </a:p>
          <a:p>
            <a:pPr marL="0" indent="0">
              <a:buNone/>
            </a:pPr>
            <a:endParaRPr lang="en-US" dirty="0"/>
          </a:p>
          <a:p>
            <a:pPr marL="0" indent="0">
              <a:buNone/>
            </a:pPr>
            <a:r>
              <a:rPr lang="en-US" b="1" dirty="0"/>
              <a:t>Key Modifications from Original ResNet50:</a:t>
            </a:r>
            <a:endParaRPr lang="en-US" dirty="0"/>
          </a:p>
          <a:p>
            <a:pPr>
              <a:buFont typeface="Arial" panose="020B0604020202020204" pitchFamily="34" charset="0"/>
              <a:buChar char="•"/>
            </a:pPr>
            <a:r>
              <a:rPr lang="en-US" dirty="0"/>
              <a:t>Removed original 1000-class fully connected layer</a:t>
            </a:r>
          </a:p>
          <a:p>
            <a:pPr>
              <a:buFont typeface="Arial" panose="020B0604020202020204" pitchFamily="34" charset="0"/>
              <a:buChar char="•"/>
            </a:pPr>
            <a:r>
              <a:rPr lang="en-US" dirty="0"/>
              <a:t>Added new Dense layer with 4 outputs (for 4-class MRI classification)</a:t>
            </a:r>
          </a:p>
          <a:p>
            <a:pPr>
              <a:buFont typeface="Arial" panose="020B0604020202020204" pitchFamily="34" charset="0"/>
              <a:buChar char="•"/>
            </a:pPr>
            <a:r>
              <a:rPr lang="en-US" dirty="0"/>
              <a:t>Added 50% Dropout before final Dense layer for improved generalization</a:t>
            </a:r>
          </a:p>
          <a:p>
            <a:endParaRPr lang="en-US" dirty="0"/>
          </a:p>
        </p:txBody>
      </p:sp>
      <p:sp>
        <p:nvSpPr>
          <p:cNvPr id="4" name="Date Placeholder 3">
            <a:extLst>
              <a:ext uri="{FF2B5EF4-FFF2-40B4-BE49-F238E27FC236}">
                <a16:creationId xmlns:a16="http://schemas.microsoft.com/office/drawing/2014/main" id="{B0993075-0EFD-475A-7E75-051EB1C14F43}"/>
              </a:ext>
            </a:extLst>
          </p:cNvPr>
          <p:cNvSpPr>
            <a:spLocks noGrp="1"/>
          </p:cNvSpPr>
          <p:nvPr>
            <p:ph type="dt" sz="half" idx="10"/>
          </p:nvPr>
        </p:nvSpPr>
        <p:spPr/>
        <p:txBody>
          <a:bodyPr/>
          <a:lstStyle/>
          <a:p>
            <a:fld id="{DF06F12F-02D3-425D-BF4C-BBE4220292D9}" type="datetime1">
              <a:rPr lang="en-US" smtClean="0"/>
              <a:t>12/22/2025</a:t>
            </a:fld>
            <a:endParaRPr lang="en-US"/>
          </a:p>
        </p:txBody>
      </p:sp>
      <p:sp>
        <p:nvSpPr>
          <p:cNvPr id="5" name="Slide Number Placeholder 4">
            <a:extLst>
              <a:ext uri="{FF2B5EF4-FFF2-40B4-BE49-F238E27FC236}">
                <a16:creationId xmlns:a16="http://schemas.microsoft.com/office/drawing/2014/main" id="{A07D0BFF-FE97-E2DC-6A7F-A805E48B6610}"/>
              </a:ext>
            </a:extLst>
          </p:cNvPr>
          <p:cNvSpPr>
            <a:spLocks noGrp="1"/>
          </p:cNvSpPr>
          <p:nvPr>
            <p:ph type="sldNum" sz="quarter" idx="12"/>
          </p:nvPr>
        </p:nvSpPr>
        <p:spPr/>
        <p:txBody>
          <a:bodyPr/>
          <a:lstStyle/>
          <a:p>
            <a:fld id="{40742BEA-48CF-4F32-AFB8-C9C4AAF5269A}" type="slidenum">
              <a:rPr lang="en-US" smtClean="0"/>
              <a:t>20</a:t>
            </a:fld>
            <a:endParaRPr lang="en-US"/>
          </a:p>
        </p:txBody>
      </p:sp>
    </p:spTree>
    <p:extLst>
      <p:ext uri="{BB962C8B-B14F-4D97-AF65-F5344CB8AC3E}">
        <p14:creationId xmlns:p14="http://schemas.microsoft.com/office/powerpoint/2010/main" val="2584615114"/>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6CA1481-7AEB-90B9-0F0A-D154AD8C9D68}"/>
              </a:ext>
            </a:extLst>
          </p:cNvPr>
          <p:cNvSpPr>
            <a:spLocks noGrp="1"/>
          </p:cNvSpPr>
          <p:nvPr>
            <p:ph type="title"/>
          </p:nvPr>
        </p:nvSpPr>
        <p:spPr>
          <a:xfrm>
            <a:off x="415215" y="245806"/>
            <a:ext cx="10131425" cy="775563"/>
          </a:xfrm>
        </p:spPr>
        <p:txBody>
          <a:bodyPr/>
          <a:lstStyle/>
          <a:p>
            <a:r>
              <a:rPr lang="en-US" dirty="0"/>
              <a:t>Data </a:t>
            </a:r>
            <a:r>
              <a:rPr lang="en-US" dirty="0" err="1"/>
              <a:t>agumentation</a:t>
            </a:r>
            <a:r>
              <a:rPr lang="en-US" dirty="0"/>
              <a:t> </a:t>
            </a:r>
          </a:p>
        </p:txBody>
      </p:sp>
      <p:sp>
        <p:nvSpPr>
          <p:cNvPr id="3" name="Content Placeholder 2">
            <a:extLst>
              <a:ext uri="{FF2B5EF4-FFF2-40B4-BE49-F238E27FC236}">
                <a16:creationId xmlns:a16="http://schemas.microsoft.com/office/drawing/2014/main" id="{3201C5E0-53F7-4F08-EBA4-21A9F33AA32D}"/>
              </a:ext>
            </a:extLst>
          </p:cNvPr>
          <p:cNvSpPr>
            <a:spLocks noGrp="1"/>
          </p:cNvSpPr>
          <p:nvPr>
            <p:ph idx="1"/>
          </p:nvPr>
        </p:nvSpPr>
        <p:spPr>
          <a:xfrm>
            <a:off x="415215" y="1349285"/>
            <a:ext cx="11565291" cy="5532784"/>
          </a:xfrm>
        </p:spPr>
        <p:txBody>
          <a:bodyPr>
            <a:normAutofit/>
          </a:bodyPr>
          <a:lstStyle/>
          <a:p>
            <a:r>
              <a:rPr lang="en-US" dirty="0"/>
              <a:t>The following augmentation techniques were applied to the training dataset using </a:t>
            </a:r>
            <a:r>
              <a:rPr lang="en-US" dirty="0" err="1"/>
              <a:t>Keras</a:t>
            </a:r>
            <a:r>
              <a:rPr lang="en-US" dirty="0"/>
              <a:t>' </a:t>
            </a:r>
            <a:r>
              <a:rPr lang="en-US" dirty="0" err="1"/>
              <a:t>ImageDataGenerator</a:t>
            </a:r>
            <a:r>
              <a:rPr lang="en-US" dirty="0"/>
              <a:t>:</a:t>
            </a:r>
          </a:p>
          <a:p>
            <a:pPr marL="0" indent="0">
              <a:buNone/>
            </a:pPr>
            <a:r>
              <a:rPr lang="en-US" dirty="0"/>
              <a:t>•	Rotation: Images randomly rotated up to 15 degrees</a:t>
            </a:r>
          </a:p>
          <a:p>
            <a:pPr marL="0" indent="0">
              <a:buNone/>
            </a:pPr>
            <a:r>
              <a:rPr lang="en-US" dirty="0"/>
              <a:t>•	 Shifting:</a:t>
            </a:r>
          </a:p>
          <a:p>
            <a:pPr marL="0" indent="0">
              <a:buNone/>
            </a:pPr>
            <a:r>
              <a:rPr lang="en-US" dirty="0"/>
              <a:t>                  Horizontal shift range: 10% of image width</a:t>
            </a:r>
          </a:p>
          <a:p>
            <a:pPr marL="0" indent="0">
              <a:buNone/>
            </a:pPr>
            <a:r>
              <a:rPr lang="en-US" dirty="0"/>
              <a:t>                  Vertical shift range: 10% of image height</a:t>
            </a:r>
          </a:p>
          <a:p>
            <a:pPr marL="0" indent="0">
              <a:buNone/>
            </a:pPr>
            <a:r>
              <a:rPr lang="en-US" dirty="0"/>
              <a:t>•	Shearing: Intensity of 0.2 applied</a:t>
            </a:r>
          </a:p>
          <a:p>
            <a:pPr marL="0" indent="0">
              <a:buNone/>
            </a:pPr>
            <a:r>
              <a:rPr lang="en-US" dirty="0"/>
              <a:t>•	Zooming: Random zoom range of 20%</a:t>
            </a:r>
          </a:p>
          <a:p>
            <a:pPr marL="0" indent="0">
              <a:buNone/>
            </a:pPr>
            <a:r>
              <a:rPr lang="en-US" dirty="0"/>
              <a:t>•	Flipping: Horizontal flipping enabled</a:t>
            </a:r>
          </a:p>
          <a:p>
            <a:pPr marL="0" indent="0">
              <a:buNone/>
            </a:pPr>
            <a:r>
              <a:rPr lang="en-US" dirty="0"/>
              <a:t>•	Fill Mode: New pixels filled using nearest-neighbor interpolation</a:t>
            </a:r>
          </a:p>
          <a:p>
            <a:pPr marL="0" indent="0">
              <a:buNone/>
            </a:pPr>
            <a:endParaRPr lang="en-US" dirty="0"/>
          </a:p>
          <a:p>
            <a:r>
              <a:rPr lang="en-US" dirty="0"/>
              <a:t>All images were normalized (pixel values scaled to [0,1]) and resized to 224×224 pixels to match VGG16's input requirements. The validation set used only rescaling (1./255) without augmentation to ensure unbiased evaluation</a:t>
            </a:r>
          </a:p>
          <a:p>
            <a:endParaRPr lang="en-US" dirty="0"/>
          </a:p>
        </p:txBody>
      </p:sp>
      <p:sp>
        <p:nvSpPr>
          <p:cNvPr id="4" name="Date Placeholder 3">
            <a:extLst>
              <a:ext uri="{FF2B5EF4-FFF2-40B4-BE49-F238E27FC236}">
                <a16:creationId xmlns:a16="http://schemas.microsoft.com/office/drawing/2014/main" id="{CFCCFE45-2D6B-1A10-5CA5-0DCF1A1FA963}"/>
              </a:ext>
            </a:extLst>
          </p:cNvPr>
          <p:cNvSpPr>
            <a:spLocks noGrp="1"/>
          </p:cNvSpPr>
          <p:nvPr>
            <p:ph type="dt" sz="half" idx="10"/>
          </p:nvPr>
        </p:nvSpPr>
        <p:spPr/>
        <p:txBody>
          <a:bodyPr/>
          <a:lstStyle/>
          <a:p>
            <a:fld id="{DF06F12F-02D3-425D-BF4C-BBE4220292D9}" type="datetime1">
              <a:rPr lang="en-US" smtClean="0"/>
              <a:t>12/22/2025</a:t>
            </a:fld>
            <a:endParaRPr lang="en-US"/>
          </a:p>
        </p:txBody>
      </p:sp>
      <p:sp>
        <p:nvSpPr>
          <p:cNvPr id="5" name="Slide Number Placeholder 4">
            <a:extLst>
              <a:ext uri="{FF2B5EF4-FFF2-40B4-BE49-F238E27FC236}">
                <a16:creationId xmlns:a16="http://schemas.microsoft.com/office/drawing/2014/main" id="{E0464123-7755-36D2-B00A-6C791946C869}"/>
              </a:ext>
            </a:extLst>
          </p:cNvPr>
          <p:cNvSpPr>
            <a:spLocks noGrp="1"/>
          </p:cNvSpPr>
          <p:nvPr>
            <p:ph type="sldNum" sz="quarter" idx="12"/>
          </p:nvPr>
        </p:nvSpPr>
        <p:spPr/>
        <p:txBody>
          <a:bodyPr/>
          <a:lstStyle/>
          <a:p>
            <a:fld id="{40742BEA-48CF-4F32-AFB8-C9C4AAF5269A}" type="slidenum">
              <a:rPr lang="en-US" smtClean="0"/>
              <a:t>21</a:t>
            </a:fld>
            <a:endParaRPr lang="en-US"/>
          </a:p>
        </p:txBody>
      </p:sp>
    </p:spTree>
    <p:extLst>
      <p:ext uri="{BB962C8B-B14F-4D97-AF65-F5344CB8AC3E}">
        <p14:creationId xmlns:p14="http://schemas.microsoft.com/office/powerpoint/2010/main" val="4294793029"/>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43D844B-3DA8-615B-2544-B5821E6A40CE}"/>
              </a:ext>
            </a:extLst>
          </p:cNvPr>
          <p:cNvSpPr>
            <a:spLocks noGrp="1"/>
          </p:cNvSpPr>
          <p:nvPr>
            <p:ph type="title"/>
          </p:nvPr>
        </p:nvSpPr>
        <p:spPr>
          <a:xfrm>
            <a:off x="895411" y="545395"/>
            <a:ext cx="10131425" cy="831317"/>
          </a:xfrm>
        </p:spPr>
        <p:txBody>
          <a:bodyPr/>
          <a:lstStyle/>
          <a:p>
            <a:r>
              <a:rPr lang="en-US" dirty="0"/>
              <a:t>Data </a:t>
            </a:r>
            <a:r>
              <a:rPr lang="en-US" dirty="0" err="1"/>
              <a:t>agumentation</a:t>
            </a:r>
            <a:r>
              <a:rPr lang="en-US" dirty="0"/>
              <a:t> </a:t>
            </a:r>
          </a:p>
        </p:txBody>
      </p:sp>
      <p:sp>
        <p:nvSpPr>
          <p:cNvPr id="3" name="Content Placeholder 2">
            <a:extLst>
              <a:ext uri="{FF2B5EF4-FFF2-40B4-BE49-F238E27FC236}">
                <a16:creationId xmlns:a16="http://schemas.microsoft.com/office/drawing/2014/main" id="{A38DFAB4-4E0B-89F6-39F5-5F9832E47B1D}"/>
              </a:ext>
            </a:extLst>
          </p:cNvPr>
          <p:cNvSpPr>
            <a:spLocks noGrp="1"/>
          </p:cNvSpPr>
          <p:nvPr>
            <p:ph idx="1"/>
          </p:nvPr>
        </p:nvSpPr>
        <p:spPr>
          <a:xfrm>
            <a:off x="428880" y="1475978"/>
            <a:ext cx="11551625" cy="2827175"/>
          </a:xfrm>
        </p:spPr>
        <p:txBody>
          <a:bodyPr/>
          <a:lstStyle/>
          <a:p>
            <a:pPr marL="0" indent="0">
              <a:buNone/>
            </a:pPr>
            <a:r>
              <a:rPr lang="en-US" dirty="0"/>
              <a:t>   Augmentation Details:</a:t>
            </a:r>
          </a:p>
          <a:p>
            <a:r>
              <a:rPr lang="en-US" dirty="0"/>
              <a:t>•	8× multiplier per training image (7 new augmented samples per original)</a:t>
            </a:r>
          </a:p>
          <a:p>
            <a:endParaRPr lang="en-US" dirty="0"/>
          </a:p>
          <a:p>
            <a:r>
              <a:rPr lang="en-US" dirty="0"/>
              <a:t>•	Validation/test sets used original </a:t>
            </a:r>
            <a:r>
              <a:rPr lang="en-US" dirty="0" err="1"/>
              <a:t>unaugmented</a:t>
            </a:r>
            <a:r>
              <a:rPr lang="en-US" dirty="0"/>
              <a:t> images</a:t>
            </a:r>
          </a:p>
          <a:p>
            <a:endParaRPr lang="en-US" dirty="0"/>
          </a:p>
          <a:p>
            <a:r>
              <a:rPr lang="en-US" dirty="0"/>
              <a:t>•	Class distribution maintained (ratio-preserving augmentation)</a:t>
            </a:r>
          </a:p>
          <a:p>
            <a:endParaRPr lang="en-US" dirty="0"/>
          </a:p>
          <a:p>
            <a:endParaRPr lang="en-US" dirty="0"/>
          </a:p>
        </p:txBody>
      </p:sp>
      <p:sp>
        <p:nvSpPr>
          <p:cNvPr id="4" name="Date Placeholder 3">
            <a:extLst>
              <a:ext uri="{FF2B5EF4-FFF2-40B4-BE49-F238E27FC236}">
                <a16:creationId xmlns:a16="http://schemas.microsoft.com/office/drawing/2014/main" id="{494A972B-9F58-51FD-E7FB-823C1E6A175D}"/>
              </a:ext>
            </a:extLst>
          </p:cNvPr>
          <p:cNvSpPr>
            <a:spLocks noGrp="1"/>
          </p:cNvSpPr>
          <p:nvPr>
            <p:ph type="dt" sz="half" idx="10"/>
          </p:nvPr>
        </p:nvSpPr>
        <p:spPr/>
        <p:txBody>
          <a:bodyPr/>
          <a:lstStyle/>
          <a:p>
            <a:fld id="{DF06F12F-02D3-425D-BF4C-BBE4220292D9}" type="datetime1">
              <a:rPr lang="en-US" smtClean="0"/>
              <a:t>12/22/2025</a:t>
            </a:fld>
            <a:endParaRPr lang="en-US"/>
          </a:p>
        </p:txBody>
      </p:sp>
      <p:sp>
        <p:nvSpPr>
          <p:cNvPr id="5" name="Slide Number Placeholder 4">
            <a:extLst>
              <a:ext uri="{FF2B5EF4-FFF2-40B4-BE49-F238E27FC236}">
                <a16:creationId xmlns:a16="http://schemas.microsoft.com/office/drawing/2014/main" id="{ED8BC619-065E-8A5D-759B-FB6DE740C2EB}"/>
              </a:ext>
            </a:extLst>
          </p:cNvPr>
          <p:cNvSpPr>
            <a:spLocks noGrp="1"/>
          </p:cNvSpPr>
          <p:nvPr>
            <p:ph type="sldNum" sz="quarter" idx="12"/>
          </p:nvPr>
        </p:nvSpPr>
        <p:spPr/>
        <p:txBody>
          <a:bodyPr/>
          <a:lstStyle/>
          <a:p>
            <a:fld id="{40742BEA-48CF-4F32-AFB8-C9C4AAF5269A}" type="slidenum">
              <a:rPr lang="en-US" smtClean="0"/>
              <a:t>22</a:t>
            </a:fld>
            <a:endParaRPr lang="en-US"/>
          </a:p>
        </p:txBody>
      </p:sp>
      <p:graphicFrame>
        <p:nvGraphicFramePr>
          <p:cNvPr id="6" name="Table 5">
            <a:extLst>
              <a:ext uri="{FF2B5EF4-FFF2-40B4-BE49-F238E27FC236}">
                <a16:creationId xmlns:a16="http://schemas.microsoft.com/office/drawing/2014/main" id="{B2104761-51CA-EB7F-5CA1-8EB063D168F1}"/>
              </a:ext>
            </a:extLst>
          </p:cNvPr>
          <p:cNvGraphicFramePr>
            <a:graphicFrameLocks noGrp="1"/>
          </p:cNvGraphicFramePr>
          <p:nvPr>
            <p:extLst>
              <p:ext uri="{D42A27DB-BD31-4B8C-83A1-F6EECF244321}">
                <p14:modId xmlns:p14="http://schemas.microsoft.com/office/powerpoint/2010/main" val="444356025"/>
              </p:ext>
            </p:extLst>
          </p:nvPr>
        </p:nvGraphicFramePr>
        <p:xfrm>
          <a:off x="685802" y="3910460"/>
          <a:ext cx="10131426" cy="2191134"/>
        </p:xfrm>
        <a:graphic>
          <a:graphicData uri="http://schemas.openxmlformats.org/drawingml/2006/table">
            <a:tbl>
              <a:tblPr firstRow="1" firstCol="1" bandRow="1">
                <a:tableStyleId>{5C22544A-7EE6-4342-B048-85BDC9FD1C3A}</a:tableStyleId>
              </a:tblPr>
              <a:tblGrid>
                <a:gridCol w="1590885">
                  <a:extLst>
                    <a:ext uri="{9D8B030D-6E8A-4147-A177-3AD203B41FA5}">
                      <a16:colId xmlns:a16="http://schemas.microsoft.com/office/drawing/2014/main" val="1480079952"/>
                    </a:ext>
                  </a:extLst>
                </a:gridCol>
                <a:gridCol w="2846847">
                  <a:extLst>
                    <a:ext uri="{9D8B030D-6E8A-4147-A177-3AD203B41FA5}">
                      <a16:colId xmlns:a16="http://schemas.microsoft.com/office/drawing/2014/main" val="3001592670"/>
                    </a:ext>
                  </a:extLst>
                </a:gridCol>
                <a:gridCol w="2846847">
                  <a:extLst>
                    <a:ext uri="{9D8B030D-6E8A-4147-A177-3AD203B41FA5}">
                      <a16:colId xmlns:a16="http://schemas.microsoft.com/office/drawing/2014/main" val="3626964361"/>
                    </a:ext>
                  </a:extLst>
                </a:gridCol>
                <a:gridCol w="2846847">
                  <a:extLst>
                    <a:ext uri="{9D8B030D-6E8A-4147-A177-3AD203B41FA5}">
                      <a16:colId xmlns:a16="http://schemas.microsoft.com/office/drawing/2014/main" val="3387716690"/>
                    </a:ext>
                  </a:extLst>
                </a:gridCol>
              </a:tblGrid>
              <a:tr h="365189">
                <a:tc>
                  <a:txBody>
                    <a:bodyPr/>
                    <a:lstStyle/>
                    <a:p>
                      <a:pPr algn="ctr">
                        <a:lnSpc>
                          <a:spcPct val="107000"/>
                        </a:lnSpc>
                      </a:pPr>
                      <a:r>
                        <a:rPr lang="en-US" sz="1100" kern="100" dirty="0">
                          <a:effectLst/>
                        </a:rPr>
                        <a:t>Class</a:t>
                      </a:r>
                      <a:endParaRPr lang="en-US" sz="1200" kern="100" dirty="0">
                        <a:effectLst/>
                        <a:latin typeface="Times New Roman" panose="02020603050405020304" pitchFamily="18" charset="0"/>
                        <a:ea typeface="Arial Unicode MS"/>
                        <a:cs typeface="Arial" panose="020B0604020202020204" pitchFamily="34" charset="0"/>
                      </a:endParaRPr>
                    </a:p>
                  </a:txBody>
                  <a:tcPr marL="0" marR="95250" marT="95250" marB="95250" anchor="ctr"/>
                </a:tc>
                <a:tc>
                  <a:txBody>
                    <a:bodyPr/>
                    <a:lstStyle/>
                    <a:p>
                      <a:pPr algn="ctr">
                        <a:lnSpc>
                          <a:spcPct val="107000"/>
                        </a:lnSpc>
                      </a:pPr>
                      <a:r>
                        <a:rPr lang="en-US" sz="1100" kern="100">
                          <a:effectLst/>
                        </a:rPr>
                        <a:t>Original Images</a:t>
                      </a:r>
                      <a:endParaRPr lang="en-US" sz="1200" kern="100">
                        <a:effectLst/>
                        <a:latin typeface="Times New Roman" panose="02020603050405020304" pitchFamily="18" charset="0"/>
                        <a:ea typeface="Arial Unicode MS"/>
                        <a:cs typeface="Arial" panose="020B0604020202020204" pitchFamily="34" charset="0"/>
                      </a:endParaRPr>
                    </a:p>
                  </a:txBody>
                  <a:tcPr marL="95250" marR="95250" marT="95250" marB="95250" anchor="ctr"/>
                </a:tc>
                <a:tc>
                  <a:txBody>
                    <a:bodyPr/>
                    <a:lstStyle/>
                    <a:p>
                      <a:pPr algn="ctr">
                        <a:lnSpc>
                          <a:spcPct val="107000"/>
                        </a:lnSpc>
                      </a:pPr>
                      <a:r>
                        <a:rPr lang="en-US" sz="1100" kern="100">
                          <a:effectLst/>
                        </a:rPr>
                        <a:t>Augmented Training Set</a:t>
                      </a:r>
                      <a:endParaRPr lang="en-US" sz="1200" kern="100">
                        <a:effectLst/>
                        <a:latin typeface="Times New Roman" panose="02020603050405020304" pitchFamily="18" charset="0"/>
                        <a:ea typeface="Arial Unicode MS"/>
                        <a:cs typeface="Arial" panose="020B0604020202020204" pitchFamily="34" charset="0"/>
                      </a:endParaRPr>
                    </a:p>
                  </a:txBody>
                  <a:tcPr marL="95250" marR="95250" marT="95250" marB="95250" anchor="ctr"/>
                </a:tc>
                <a:tc>
                  <a:txBody>
                    <a:bodyPr/>
                    <a:lstStyle/>
                    <a:p>
                      <a:pPr algn="ctr">
                        <a:lnSpc>
                          <a:spcPct val="107000"/>
                        </a:lnSpc>
                      </a:pPr>
                      <a:r>
                        <a:rPr lang="en-US" sz="1100" kern="100">
                          <a:effectLst/>
                        </a:rPr>
                        <a:t>Total (Train+Val+Test)</a:t>
                      </a:r>
                      <a:endParaRPr lang="en-US" sz="1200" kern="100">
                        <a:effectLst/>
                        <a:latin typeface="Times New Roman" panose="02020603050405020304" pitchFamily="18" charset="0"/>
                        <a:ea typeface="Arial Unicode MS"/>
                        <a:cs typeface="Arial" panose="020B0604020202020204" pitchFamily="34" charset="0"/>
                      </a:endParaRPr>
                    </a:p>
                  </a:txBody>
                  <a:tcPr marL="95250" marR="95250" marT="95250" marB="95250" anchor="ctr"/>
                </a:tc>
                <a:extLst>
                  <a:ext uri="{0D108BD9-81ED-4DB2-BD59-A6C34878D82A}">
                    <a16:rowId xmlns:a16="http://schemas.microsoft.com/office/drawing/2014/main" val="25151830"/>
                  </a:ext>
                </a:extLst>
              </a:tr>
              <a:tr h="365189">
                <a:tc>
                  <a:txBody>
                    <a:bodyPr/>
                    <a:lstStyle/>
                    <a:p>
                      <a:pPr algn="ctr">
                        <a:lnSpc>
                          <a:spcPct val="107000"/>
                        </a:lnSpc>
                      </a:pPr>
                      <a:r>
                        <a:rPr lang="en-US" sz="1100" kern="100">
                          <a:effectLst/>
                        </a:rPr>
                        <a:t>Glioma</a:t>
                      </a:r>
                      <a:endParaRPr lang="en-US" sz="1200" kern="100">
                        <a:effectLst/>
                        <a:latin typeface="Times New Roman" panose="02020603050405020304" pitchFamily="18" charset="0"/>
                        <a:ea typeface="Arial Unicode MS"/>
                        <a:cs typeface="Arial" panose="020B0604020202020204" pitchFamily="34" charset="0"/>
                      </a:endParaRPr>
                    </a:p>
                  </a:txBody>
                  <a:tcPr marL="0" marR="95250" marT="95250" marB="95250" anchor="ctr"/>
                </a:tc>
                <a:tc>
                  <a:txBody>
                    <a:bodyPr/>
                    <a:lstStyle/>
                    <a:p>
                      <a:pPr algn="ctr">
                        <a:lnSpc>
                          <a:spcPct val="107000"/>
                        </a:lnSpc>
                      </a:pPr>
                      <a:r>
                        <a:rPr lang="en-US" sz="1100" kern="100">
                          <a:effectLst/>
                        </a:rPr>
                        <a:t>826</a:t>
                      </a:r>
                      <a:endParaRPr lang="en-US" sz="1200" kern="100">
                        <a:effectLst/>
                        <a:latin typeface="Times New Roman" panose="02020603050405020304" pitchFamily="18" charset="0"/>
                        <a:ea typeface="Arial Unicode MS"/>
                        <a:cs typeface="Arial" panose="020B0604020202020204" pitchFamily="34" charset="0"/>
                      </a:endParaRPr>
                    </a:p>
                  </a:txBody>
                  <a:tcPr marL="95250" marR="95250" marT="95250" marB="95250" anchor="ctr"/>
                </a:tc>
                <a:tc>
                  <a:txBody>
                    <a:bodyPr/>
                    <a:lstStyle/>
                    <a:p>
                      <a:pPr algn="ctr">
                        <a:lnSpc>
                          <a:spcPct val="107000"/>
                        </a:lnSpc>
                      </a:pPr>
                      <a:r>
                        <a:rPr lang="en-US" sz="1100" kern="100">
                          <a:effectLst/>
                        </a:rPr>
                        <a:t>6,608</a:t>
                      </a:r>
                      <a:endParaRPr lang="en-US" sz="1200" kern="100">
                        <a:effectLst/>
                        <a:latin typeface="Times New Roman" panose="02020603050405020304" pitchFamily="18" charset="0"/>
                        <a:ea typeface="Arial Unicode MS"/>
                        <a:cs typeface="Arial" panose="020B0604020202020204" pitchFamily="34" charset="0"/>
                      </a:endParaRPr>
                    </a:p>
                  </a:txBody>
                  <a:tcPr marL="95250" marR="95250" marT="95250" marB="95250" anchor="ctr"/>
                </a:tc>
                <a:tc>
                  <a:txBody>
                    <a:bodyPr/>
                    <a:lstStyle/>
                    <a:p>
                      <a:pPr algn="ctr">
                        <a:lnSpc>
                          <a:spcPct val="107000"/>
                        </a:lnSpc>
                      </a:pPr>
                      <a:r>
                        <a:rPr lang="en-US" sz="1100" kern="100">
                          <a:effectLst/>
                        </a:rPr>
                        <a:t>7,434</a:t>
                      </a:r>
                      <a:endParaRPr lang="en-US" sz="1200" kern="100">
                        <a:effectLst/>
                        <a:latin typeface="Times New Roman" panose="02020603050405020304" pitchFamily="18" charset="0"/>
                        <a:ea typeface="Arial Unicode MS"/>
                        <a:cs typeface="Arial" panose="020B0604020202020204" pitchFamily="34" charset="0"/>
                      </a:endParaRPr>
                    </a:p>
                  </a:txBody>
                  <a:tcPr marL="95250" marR="95250" marT="95250" marB="95250" anchor="ctr"/>
                </a:tc>
                <a:extLst>
                  <a:ext uri="{0D108BD9-81ED-4DB2-BD59-A6C34878D82A}">
                    <a16:rowId xmlns:a16="http://schemas.microsoft.com/office/drawing/2014/main" val="1311211461"/>
                  </a:ext>
                </a:extLst>
              </a:tr>
              <a:tr h="365189">
                <a:tc>
                  <a:txBody>
                    <a:bodyPr/>
                    <a:lstStyle/>
                    <a:p>
                      <a:pPr algn="ctr">
                        <a:lnSpc>
                          <a:spcPct val="107000"/>
                        </a:lnSpc>
                      </a:pPr>
                      <a:r>
                        <a:rPr lang="en-US" sz="1100" kern="100" dirty="0">
                          <a:effectLst/>
                        </a:rPr>
                        <a:t>Meningioma</a:t>
                      </a:r>
                      <a:endParaRPr lang="en-US" sz="1200" kern="100" dirty="0">
                        <a:effectLst/>
                        <a:latin typeface="Times New Roman" panose="02020603050405020304" pitchFamily="18" charset="0"/>
                        <a:ea typeface="Arial Unicode MS"/>
                        <a:cs typeface="Arial" panose="020B0604020202020204" pitchFamily="34" charset="0"/>
                      </a:endParaRPr>
                    </a:p>
                  </a:txBody>
                  <a:tcPr marL="0" marR="95250" marT="95250" marB="95250" anchor="ctr"/>
                </a:tc>
                <a:tc>
                  <a:txBody>
                    <a:bodyPr/>
                    <a:lstStyle/>
                    <a:p>
                      <a:pPr algn="ctr">
                        <a:lnSpc>
                          <a:spcPct val="107000"/>
                        </a:lnSpc>
                      </a:pPr>
                      <a:r>
                        <a:rPr lang="en-US" sz="1100" kern="100">
                          <a:effectLst/>
                        </a:rPr>
                        <a:t>822</a:t>
                      </a:r>
                      <a:endParaRPr lang="en-US" sz="1200" kern="100">
                        <a:effectLst/>
                        <a:latin typeface="Times New Roman" panose="02020603050405020304" pitchFamily="18" charset="0"/>
                        <a:ea typeface="Arial Unicode MS"/>
                        <a:cs typeface="Arial" panose="020B0604020202020204" pitchFamily="34" charset="0"/>
                      </a:endParaRPr>
                    </a:p>
                  </a:txBody>
                  <a:tcPr marL="95250" marR="95250" marT="95250" marB="95250" anchor="ctr"/>
                </a:tc>
                <a:tc>
                  <a:txBody>
                    <a:bodyPr/>
                    <a:lstStyle/>
                    <a:p>
                      <a:pPr algn="ctr">
                        <a:lnSpc>
                          <a:spcPct val="107000"/>
                        </a:lnSpc>
                      </a:pPr>
                      <a:r>
                        <a:rPr lang="en-US" sz="1100" kern="100">
                          <a:effectLst/>
                        </a:rPr>
                        <a:t>6,576</a:t>
                      </a:r>
                      <a:endParaRPr lang="en-US" sz="1200" kern="100">
                        <a:effectLst/>
                        <a:latin typeface="Times New Roman" panose="02020603050405020304" pitchFamily="18" charset="0"/>
                        <a:ea typeface="Arial Unicode MS"/>
                        <a:cs typeface="Arial" panose="020B0604020202020204" pitchFamily="34" charset="0"/>
                      </a:endParaRPr>
                    </a:p>
                  </a:txBody>
                  <a:tcPr marL="95250" marR="95250" marT="95250" marB="95250" anchor="ctr"/>
                </a:tc>
                <a:tc>
                  <a:txBody>
                    <a:bodyPr/>
                    <a:lstStyle/>
                    <a:p>
                      <a:pPr algn="ctr">
                        <a:lnSpc>
                          <a:spcPct val="107000"/>
                        </a:lnSpc>
                      </a:pPr>
                      <a:r>
                        <a:rPr lang="en-US" sz="1100" kern="100">
                          <a:effectLst/>
                        </a:rPr>
                        <a:t>7,398</a:t>
                      </a:r>
                      <a:endParaRPr lang="en-US" sz="1200" kern="100">
                        <a:effectLst/>
                        <a:latin typeface="Times New Roman" panose="02020603050405020304" pitchFamily="18" charset="0"/>
                        <a:ea typeface="Arial Unicode MS"/>
                        <a:cs typeface="Arial" panose="020B0604020202020204" pitchFamily="34" charset="0"/>
                      </a:endParaRPr>
                    </a:p>
                  </a:txBody>
                  <a:tcPr marL="95250" marR="95250" marT="95250" marB="95250" anchor="ctr"/>
                </a:tc>
                <a:extLst>
                  <a:ext uri="{0D108BD9-81ED-4DB2-BD59-A6C34878D82A}">
                    <a16:rowId xmlns:a16="http://schemas.microsoft.com/office/drawing/2014/main" val="855969208"/>
                  </a:ext>
                </a:extLst>
              </a:tr>
              <a:tr h="365189">
                <a:tc>
                  <a:txBody>
                    <a:bodyPr/>
                    <a:lstStyle/>
                    <a:p>
                      <a:pPr algn="ctr">
                        <a:lnSpc>
                          <a:spcPct val="107000"/>
                        </a:lnSpc>
                      </a:pPr>
                      <a:r>
                        <a:rPr lang="en-US" sz="1100" kern="100" dirty="0">
                          <a:effectLst/>
                        </a:rPr>
                        <a:t>Pituitary</a:t>
                      </a:r>
                      <a:endParaRPr lang="en-US" sz="1200" kern="100" dirty="0">
                        <a:effectLst/>
                        <a:latin typeface="Times New Roman" panose="02020603050405020304" pitchFamily="18" charset="0"/>
                        <a:ea typeface="Arial Unicode MS"/>
                        <a:cs typeface="Arial" panose="020B0604020202020204" pitchFamily="34" charset="0"/>
                      </a:endParaRPr>
                    </a:p>
                  </a:txBody>
                  <a:tcPr marL="0" marR="95250" marT="95250" marB="95250" anchor="ctr"/>
                </a:tc>
                <a:tc>
                  <a:txBody>
                    <a:bodyPr/>
                    <a:lstStyle/>
                    <a:p>
                      <a:pPr algn="ctr">
                        <a:lnSpc>
                          <a:spcPct val="107000"/>
                        </a:lnSpc>
                      </a:pPr>
                      <a:r>
                        <a:rPr lang="en-US" sz="1100" kern="100" dirty="0">
                          <a:effectLst/>
                        </a:rPr>
                        <a:t>827</a:t>
                      </a:r>
                      <a:endParaRPr lang="en-US" sz="1200" kern="100" dirty="0">
                        <a:effectLst/>
                        <a:latin typeface="Times New Roman" panose="02020603050405020304" pitchFamily="18" charset="0"/>
                        <a:ea typeface="Arial Unicode MS"/>
                        <a:cs typeface="Arial" panose="020B0604020202020204" pitchFamily="34" charset="0"/>
                      </a:endParaRPr>
                    </a:p>
                  </a:txBody>
                  <a:tcPr marL="95250" marR="95250" marT="95250" marB="95250" anchor="ctr"/>
                </a:tc>
                <a:tc>
                  <a:txBody>
                    <a:bodyPr/>
                    <a:lstStyle/>
                    <a:p>
                      <a:pPr algn="ctr">
                        <a:lnSpc>
                          <a:spcPct val="107000"/>
                        </a:lnSpc>
                      </a:pPr>
                      <a:r>
                        <a:rPr lang="en-US" sz="1100" kern="100">
                          <a:effectLst/>
                        </a:rPr>
                        <a:t>6,616</a:t>
                      </a:r>
                      <a:endParaRPr lang="en-US" sz="1200" kern="100">
                        <a:effectLst/>
                        <a:latin typeface="Times New Roman" panose="02020603050405020304" pitchFamily="18" charset="0"/>
                        <a:ea typeface="Arial Unicode MS"/>
                        <a:cs typeface="Arial" panose="020B0604020202020204" pitchFamily="34" charset="0"/>
                      </a:endParaRPr>
                    </a:p>
                  </a:txBody>
                  <a:tcPr marL="95250" marR="95250" marT="95250" marB="95250" anchor="ctr"/>
                </a:tc>
                <a:tc>
                  <a:txBody>
                    <a:bodyPr/>
                    <a:lstStyle/>
                    <a:p>
                      <a:pPr algn="ctr">
                        <a:lnSpc>
                          <a:spcPct val="107000"/>
                        </a:lnSpc>
                      </a:pPr>
                      <a:r>
                        <a:rPr lang="en-US" sz="1100" kern="100">
                          <a:effectLst/>
                        </a:rPr>
                        <a:t>7,443</a:t>
                      </a:r>
                      <a:endParaRPr lang="en-US" sz="1200" kern="100">
                        <a:effectLst/>
                        <a:latin typeface="Times New Roman" panose="02020603050405020304" pitchFamily="18" charset="0"/>
                        <a:ea typeface="Arial Unicode MS"/>
                        <a:cs typeface="Arial" panose="020B0604020202020204" pitchFamily="34" charset="0"/>
                      </a:endParaRPr>
                    </a:p>
                  </a:txBody>
                  <a:tcPr marL="95250" marR="95250" marT="95250" marB="95250" anchor="ctr"/>
                </a:tc>
                <a:extLst>
                  <a:ext uri="{0D108BD9-81ED-4DB2-BD59-A6C34878D82A}">
                    <a16:rowId xmlns:a16="http://schemas.microsoft.com/office/drawing/2014/main" val="4179334374"/>
                  </a:ext>
                </a:extLst>
              </a:tr>
              <a:tr h="365189">
                <a:tc>
                  <a:txBody>
                    <a:bodyPr/>
                    <a:lstStyle/>
                    <a:p>
                      <a:pPr algn="ctr">
                        <a:lnSpc>
                          <a:spcPct val="107000"/>
                        </a:lnSpc>
                      </a:pPr>
                      <a:r>
                        <a:rPr lang="en-US" sz="1100" kern="100" dirty="0">
                          <a:effectLst/>
                        </a:rPr>
                        <a:t>No Tumor</a:t>
                      </a:r>
                      <a:endParaRPr lang="en-US" sz="1200" kern="100" dirty="0">
                        <a:effectLst/>
                        <a:latin typeface="Times New Roman" panose="02020603050405020304" pitchFamily="18" charset="0"/>
                        <a:ea typeface="Arial Unicode MS"/>
                        <a:cs typeface="Arial" panose="020B0604020202020204" pitchFamily="34" charset="0"/>
                      </a:endParaRPr>
                    </a:p>
                  </a:txBody>
                  <a:tcPr marL="0" marR="95250" marT="95250" marB="95250" anchor="ctr"/>
                </a:tc>
                <a:tc>
                  <a:txBody>
                    <a:bodyPr/>
                    <a:lstStyle/>
                    <a:p>
                      <a:pPr algn="ctr">
                        <a:lnSpc>
                          <a:spcPct val="107000"/>
                        </a:lnSpc>
                      </a:pPr>
                      <a:r>
                        <a:rPr lang="en-US" sz="1100" kern="100">
                          <a:effectLst/>
                        </a:rPr>
                        <a:t>395</a:t>
                      </a:r>
                      <a:endParaRPr lang="en-US" sz="1200" kern="100">
                        <a:effectLst/>
                        <a:latin typeface="Times New Roman" panose="02020603050405020304" pitchFamily="18" charset="0"/>
                        <a:ea typeface="Arial Unicode MS"/>
                        <a:cs typeface="Arial" panose="020B0604020202020204" pitchFamily="34" charset="0"/>
                      </a:endParaRPr>
                    </a:p>
                  </a:txBody>
                  <a:tcPr marL="95250" marR="95250" marT="95250" marB="95250" anchor="ctr"/>
                </a:tc>
                <a:tc>
                  <a:txBody>
                    <a:bodyPr/>
                    <a:lstStyle/>
                    <a:p>
                      <a:pPr algn="ctr">
                        <a:lnSpc>
                          <a:spcPct val="107000"/>
                        </a:lnSpc>
                      </a:pPr>
                      <a:r>
                        <a:rPr lang="en-US" sz="1100" kern="100">
                          <a:effectLst/>
                        </a:rPr>
                        <a:t>3,160</a:t>
                      </a:r>
                      <a:endParaRPr lang="en-US" sz="1200" kern="100">
                        <a:effectLst/>
                        <a:latin typeface="Times New Roman" panose="02020603050405020304" pitchFamily="18" charset="0"/>
                        <a:ea typeface="Arial Unicode MS"/>
                        <a:cs typeface="Arial" panose="020B0604020202020204" pitchFamily="34" charset="0"/>
                      </a:endParaRPr>
                    </a:p>
                  </a:txBody>
                  <a:tcPr marL="95250" marR="95250" marT="95250" marB="95250" anchor="ctr"/>
                </a:tc>
                <a:tc>
                  <a:txBody>
                    <a:bodyPr/>
                    <a:lstStyle/>
                    <a:p>
                      <a:pPr algn="ctr">
                        <a:lnSpc>
                          <a:spcPct val="107000"/>
                        </a:lnSpc>
                      </a:pPr>
                      <a:r>
                        <a:rPr lang="en-US" sz="1100" kern="100">
                          <a:effectLst/>
                        </a:rPr>
                        <a:t>3,555</a:t>
                      </a:r>
                      <a:endParaRPr lang="en-US" sz="1200" kern="100">
                        <a:effectLst/>
                        <a:latin typeface="Times New Roman" panose="02020603050405020304" pitchFamily="18" charset="0"/>
                        <a:ea typeface="Arial Unicode MS"/>
                        <a:cs typeface="Arial" panose="020B0604020202020204" pitchFamily="34" charset="0"/>
                      </a:endParaRPr>
                    </a:p>
                  </a:txBody>
                  <a:tcPr marL="95250" marR="95250" marT="95250" marB="95250" anchor="ctr"/>
                </a:tc>
                <a:extLst>
                  <a:ext uri="{0D108BD9-81ED-4DB2-BD59-A6C34878D82A}">
                    <a16:rowId xmlns:a16="http://schemas.microsoft.com/office/drawing/2014/main" val="3187673171"/>
                  </a:ext>
                </a:extLst>
              </a:tr>
              <a:tr h="365189">
                <a:tc>
                  <a:txBody>
                    <a:bodyPr/>
                    <a:lstStyle/>
                    <a:p>
                      <a:pPr algn="ctr">
                        <a:lnSpc>
                          <a:spcPct val="107000"/>
                        </a:lnSpc>
                      </a:pPr>
                      <a:r>
                        <a:rPr lang="en-US" sz="1100" kern="100" dirty="0">
                          <a:effectLst/>
                        </a:rPr>
                        <a:t>Total</a:t>
                      </a:r>
                      <a:endParaRPr lang="en-US" sz="1200" kern="100" dirty="0">
                        <a:effectLst/>
                        <a:latin typeface="Times New Roman" panose="02020603050405020304" pitchFamily="18" charset="0"/>
                        <a:ea typeface="Arial Unicode MS"/>
                        <a:cs typeface="Arial" panose="020B0604020202020204" pitchFamily="34" charset="0"/>
                      </a:endParaRPr>
                    </a:p>
                  </a:txBody>
                  <a:tcPr marL="0" marR="95250" marT="95250" marB="95250" anchor="ctr"/>
                </a:tc>
                <a:tc>
                  <a:txBody>
                    <a:bodyPr/>
                    <a:lstStyle/>
                    <a:p>
                      <a:pPr algn="ctr">
                        <a:lnSpc>
                          <a:spcPct val="107000"/>
                        </a:lnSpc>
                      </a:pPr>
                      <a:r>
                        <a:rPr lang="en-US" sz="1100" kern="100">
                          <a:effectLst/>
                        </a:rPr>
                        <a:t>3,070</a:t>
                      </a:r>
                      <a:endParaRPr lang="en-US" sz="1200" kern="100">
                        <a:effectLst/>
                        <a:latin typeface="Times New Roman" panose="02020603050405020304" pitchFamily="18" charset="0"/>
                        <a:ea typeface="Arial Unicode MS"/>
                        <a:cs typeface="Arial" panose="020B0604020202020204" pitchFamily="34" charset="0"/>
                      </a:endParaRPr>
                    </a:p>
                  </a:txBody>
                  <a:tcPr marL="95250" marR="95250" marT="95250" marB="95250" anchor="ctr"/>
                </a:tc>
                <a:tc>
                  <a:txBody>
                    <a:bodyPr/>
                    <a:lstStyle/>
                    <a:p>
                      <a:pPr algn="ctr">
                        <a:lnSpc>
                          <a:spcPct val="107000"/>
                        </a:lnSpc>
                      </a:pPr>
                      <a:r>
                        <a:rPr lang="en-US" sz="1100" kern="100">
                          <a:effectLst/>
                        </a:rPr>
                        <a:t>22,960</a:t>
                      </a:r>
                      <a:endParaRPr lang="en-US" sz="1200" kern="100">
                        <a:effectLst/>
                        <a:latin typeface="Times New Roman" panose="02020603050405020304" pitchFamily="18" charset="0"/>
                        <a:ea typeface="Arial Unicode MS"/>
                        <a:cs typeface="Arial" panose="020B0604020202020204" pitchFamily="34" charset="0"/>
                      </a:endParaRPr>
                    </a:p>
                  </a:txBody>
                  <a:tcPr marL="95250" marR="95250" marT="95250" marB="95250" anchor="ctr"/>
                </a:tc>
                <a:tc>
                  <a:txBody>
                    <a:bodyPr/>
                    <a:lstStyle/>
                    <a:p>
                      <a:pPr algn="ctr">
                        <a:lnSpc>
                          <a:spcPct val="107000"/>
                        </a:lnSpc>
                      </a:pPr>
                      <a:r>
                        <a:rPr lang="en-US" sz="1100" kern="100" dirty="0">
                          <a:effectLst/>
                        </a:rPr>
                        <a:t>25,830</a:t>
                      </a:r>
                      <a:endParaRPr lang="en-US" sz="1200" kern="100" dirty="0">
                        <a:effectLst/>
                        <a:latin typeface="Times New Roman" panose="02020603050405020304" pitchFamily="18" charset="0"/>
                        <a:ea typeface="Arial Unicode MS"/>
                        <a:cs typeface="Arial" panose="020B0604020202020204" pitchFamily="34" charset="0"/>
                      </a:endParaRPr>
                    </a:p>
                  </a:txBody>
                  <a:tcPr marL="95250" marR="95250" marT="95250" marB="95250" anchor="ctr"/>
                </a:tc>
                <a:extLst>
                  <a:ext uri="{0D108BD9-81ED-4DB2-BD59-A6C34878D82A}">
                    <a16:rowId xmlns:a16="http://schemas.microsoft.com/office/drawing/2014/main" val="320295123"/>
                  </a:ext>
                </a:extLst>
              </a:tr>
            </a:tbl>
          </a:graphicData>
        </a:graphic>
      </p:graphicFrame>
    </p:spTree>
    <p:extLst>
      <p:ext uri="{BB962C8B-B14F-4D97-AF65-F5344CB8AC3E}">
        <p14:creationId xmlns:p14="http://schemas.microsoft.com/office/powerpoint/2010/main" val="689608515"/>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49DD0BD-7577-E3A3-4F52-F13CC447C43E}"/>
              </a:ext>
            </a:extLst>
          </p:cNvPr>
          <p:cNvSpPr>
            <a:spLocks noGrp="1"/>
          </p:cNvSpPr>
          <p:nvPr>
            <p:ph type="title"/>
          </p:nvPr>
        </p:nvSpPr>
        <p:spPr>
          <a:xfrm>
            <a:off x="816430" y="211919"/>
            <a:ext cx="10131425" cy="896861"/>
          </a:xfrm>
        </p:spPr>
        <p:txBody>
          <a:bodyPr/>
          <a:lstStyle/>
          <a:p>
            <a:r>
              <a:rPr lang="en-US" dirty="0"/>
              <a:t>Training (VGG16+Resnet101)</a:t>
            </a:r>
          </a:p>
        </p:txBody>
      </p:sp>
      <p:sp>
        <p:nvSpPr>
          <p:cNvPr id="3" name="Content Placeholder 2">
            <a:extLst>
              <a:ext uri="{FF2B5EF4-FFF2-40B4-BE49-F238E27FC236}">
                <a16:creationId xmlns:a16="http://schemas.microsoft.com/office/drawing/2014/main" id="{BC3FEC8C-16EC-ACF1-B0EC-DD922595365A}"/>
              </a:ext>
            </a:extLst>
          </p:cNvPr>
          <p:cNvSpPr>
            <a:spLocks noGrp="1"/>
          </p:cNvSpPr>
          <p:nvPr>
            <p:ph idx="1"/>
          </p:nvPr>
        </p:nvSpPr>
        <p:spPr>
          <a:xfrm>
            <a:off x="457200" y="1222310"/>
            <a:ext cx="11000792" cy="5579706"/>
          </a:xfrm>
        </p:spPr>
        <p:txBody>
          <a:bodyPr>
            <a:normAutofit/>
          </a:bodyPr>
          <a:lstStyle/>
          <a:p>
            <a:pPr marL="0" indent="0">
              <a:buNone/>
            </a:pPr>
            <a:r>
              <a:rPr lang="en-US" sz="2000" dirty="0"/>
              <a:t>•	Optimizer: Adam (</a:t>
            </a:r>
            <a:r>
              <a:rPr lang="en-US" sz="2000" dirty="0" err="1"/>
              <a:t>learning_rate</a:t>
            </a:r>
            <a:r>
              <a:rPr lang="en-US" sz="2000" dirty="0"/>
              <a:t>=0.0001)</a:t>
            </a:r>
          </a:p>
          <a:p>
            <a:pPr marL="0" indent="0">
              <a:buNone/>
            </a:pPr>
            <a:r>
              <a:rPr lang="en-US" sz="2000" dirty="0"/>
              <a:t>•	Loss Function: Categorical cross-entropy (changed from binary)</a:t>
            </a:r>
          </a:p>
          <a:p>
            <a:pPr marL="0" indent="0">
              <a:buNone/>
            </a:pPr>
            <a:r>
              <a:rPr lang="en-US" sz="2000" dirty="0"/>
              <a:t>•	Metrics: Accuracy, Precision, Recall</a:t>
            </a:r>
          </a:p>
          <a:p>
            <a:pPr marL="0" indent="0">
              <a:buNone/>
            </a:pPr>
            <a:endParaRPr lang="en-US" sz="2000" dirty="0">
              <a:solidFill>
                <a:schemeClr val="accent1">
                  <a:lumMod val="60000"/>
                  <a:lumOff val="40000"/>
                </a:schemeClr>
              </a:solidFill>
            </a:endParaRPr>
          </a:p>
          <a:p>
            <a:pPr marL="0" indent="0">
              <a:buNone/>
            </a:pPr>
            <a:r>
              <a:rPr lang="en-US" sz="2000" b="1" dirty="0">
                <a:solidFill>
                  <a:schemeClr val="accent1">
                    <a:lumMod val="60000"/>
                    <a:lumOff val="40000"/>
                  </a:schemeClr>
                </a:solidFill>
              </a:rPr>
              <a:t>         Training Protocol:</a:t>
            </a:r>
            <a:endParaRPr lang="en-US" sz="2000" dirty="0"/>
          </a:p>
          <a:p>
            <a:pPr marL="0" indent="0">
              <a:buNone/>
            </a:pPr>
            <a:r>
              <a:rPr lang="en-US" sz="2000" dirty="0"/>
              <a:t>•	Epochs: 20 (early stopping if </a:t>
            </a:r>
            <a:r>
              <a:rPr lang="en-US" sz="2000" dirty="0" err="1"/>
              <a:t>val_loss</a:t>
            </a:r>
            <a:r>
              <a:rPr lang="en-US" sz="2000" dirty="0"/>
              <a:t> plateaus for 5 epochs)</a:t>
            </a:r>
          </a:p>
          <a:p>
            <a:pPr marL="0" indent="0">
              <a:buNone/>
            </a:pPr>
            <a:r>
              <a:rPr lang="en-US" sz="2000" dirty="0"/>
              <a:t>•	Batch Size: 32</a:t>
            </a:r>
          </a:p>
          <a:p>
            <a:pPr marL="0" indent="0">
              <a:buNone/>
            </a:pPr>
            <a:r>
              <a:rPr lang="en-US" sz="2000" dirty="0"/>
              <a:t>•	Validation Split: 10% of training data</a:t>
            </a:r>
          </a:p>
          <a:p>
            <a:endParaRPr lang="en-US" dirty="0"/>
          </a:p>
        </p:txBody>
      </p:sp>
      <p:sp>
        <p:nvSpPr>
          <p:cNvPr id="4" name="Date Placeholder 3">
            <a:extLst>
              <a:ext uri="{FF2B5EF4-FFF2-40B4-BE49-F238E27FC236}">
                <a16:creationId xmlns:a16="http://schemas.microsoft.com/office/drawing/2014/main" id="{E8A0CC1F-B7FE-9774-92FF-F21BCBD5A1AA}"/>
              </a:ext>
            </a:extLst>
          </p:cNvPr>
          <p:cNvSpPr>
            <a:spLocks noGrp="1"/>
          </p:cNvSpPr>
          <p:nvPr>
            <p:ph type="dt" sz="half" idx="10"/>
          </p:nvPr>
        </p:nvSpPr>
        <p:spPr/>
        <p:txBody>
          <a:bodyPr/>
          <a:lstStyle/>
          <a:p>
            <a:fld id="{DF06F12F-02D3-425D-BF4C-BBE4220292D9}" type="datetime1">
              <a:rPr lang="en-US" smtClean="0"/>
              <a:t>12/22/2025</a:t>
            </a:fld>
            <a:endParaRPr lang="en-US"/>
          </a:p>
        </p:txBody>
      </p:sp>
      <p:sp>
        <p:nvSpPr>
          <p:cNvPr id="5" name="Slide Number Placeholder 4">
            <a:extLst>
              <a:ext uri="{FF2B5EF4-FFF2-40B4-BE49-F238E27FC236}">
                <a16:creationId xmlns:a16="http://schemas.microsoft.com/office/drawing/2014/main" id="{382B7524-ADAE-FBAA-4B27-3F416575A7DC}"/>
              </a:ext>
            </a:extLst>
          </p:cNvPr>
          <p:cNvSpPr>
            <a:spLocks noGrp="1"/>
          </p:cNvSpPr>
          <p:nvPr>
            <p:ph type="sldNum" sz="quarter" idx="12"/>
          </p:nvPr>
        </p:nvSpPr>
        <p:spPr/>
        <p:txBody>
          <a:bodyPr/>
          <a:lstStyle/>
          <a:p>
            <a:fld id="{40742BEA-48CF-4F32-AFB8-C9C4AAF5269A}" type="slidenum">
              <a:rPr lang="en-US" smtClean="0"/>
              <a:t>23</a:t>
            </a:fld>
            <a:endParaRPr lang="en-US"/>
          </a:p>
        </p:txBody>
      </p:sp>
    </p:spTree>
    <p:extLst>
      <p:ext uri="{BB962C8B-B14F-4D97-AF65-F5344CB8AC3E}">
        <p14:creationId xmlns:p14="http://schemas.microsoft.com/office/powerpoint/2010/main" val="2001184928"/>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84D9F8D-741A-4AD3-1630-1E16E9BD1984}"/>
              </a:ext>
            </a:extLst>
          </p:cNvPr>
          <p:cNvSpPr>
            <a:spLocks noGrp="1"/>
          </p:cNvSpPr>
          <p:nvPr>
            <p:ph type="title"/>
          </p:nvPr>
        </p:nvSpPr>
        <p:spPr>
          <a:xfrm>
            <a:off x="676472" y="204381"/>
            <a:ext cx="7161243" cy="672697"/>
          </a:xfrm>
        </p:spPr>
        <p:txBody>
          <a:bodyPr/>
          <a:lstStyle/>
          <a:p>
            <a:r>
              <a:rPr lang="en-US" dirty="0"/>
              <a:t>Accuracy and loss (resnet101)</a:t>
            </a:r>
          </a:p>
        </p:txBody>
      </p:sp>
      <p:pic>
        <p:nvPicPr>
          <p:cNvPr id="7" name="Content Placeholder 6">
            <a:extLst>
              <a:ext uri="{FF2B5EF4-FFF2-40B4-BE49-F238E27FC236}">
                <a16:creationId xmlns:a16="http://schemas.microsoft.com/office/drawing/2014/main" id="{C32C2ED9-D6B2-66E8-C518-CBE24378EB60}"/>
              </a:ext>
            </a:extLst>
          </p:cNvPr>
          <p:cNvPicPr>
            <a:picLocks noGrp="1" noChangeAspect="1"/>
          </p:cNvPicPr>
          <p:nvPr>
            <p:ph idx="1"/>
          </p:nvPr>
        </p:nvPicPr>
        <p:blipFill>
          <a:blip r:embed="rId2"/>
          <a:stretch>
            <a:fillRect/>
          </a:stretch>
        </p:blipFill>
        <p:spPr>
          <a:xfrm>
            <a:off x="810142" y="2307469"/>
            <a:ext cx="9544889" cy="3794125"/>
          </a:xfrm>
        </p:spPr>
      </p:pic>
      <p:sp>
        <p:nvSpPr>
          <p:cNvPr id="4" name="Date Placeholder 3">
            <a:extLst>
              <a:ext uri="{FF2B5EF4-FFF2-40B4-BE49-F238E27FC236}">
                <a16:creationId xmlns:a16="http://schemas.microsoft.com/office/drawing/2014/main" id="{55C6F410-10DE-E4E1-F8BA-B521A7C93FF6}"/>
              </a:ext>
            </a:extLst>
          </p:cNvPr>
          <p:cNvSpPr>
            <a:spLocks noGrp="1"/>
          </p:cNvSpPr>
          <p:nvPr>
            <p:ph type="dt" sz="half" idx="10"/>
          </p:nvPr>
        </p:nvSpPr>
        <p:spPr/>
        <p:txBody>
          <a:bodyPr/>
          <a:lstStyle/>
          <a:p>
            <a:fld id="{DF06F12F-02D3-425D-BF4C-BBE4220292D9}" type="datetime1">
              <a:rPr lang="en-US" smtClean="0"/>
              <a:t>12/22/2025</a:t>
            </a:fld>
            <a:endParaRPr lang="en-US"/>
          </a:p>
        </p:txBody>
      </p:sp>
      <p:sp>
        <p:nvSpPr>
          <p:cNvPr id="5" name="Slide Number Placeholder 4">
            <a:extLst>
              <a:ext uri="{FF2B5EF4-FFF2-40B4-BE49-F238E27FC236}">
                <a16:creationId xmlns:a16="http://schemas.microsoft.com/office/drawing/2014/main" id="{D57C3B05-91EC-5CD7-C860-5BE19C02A50F}"/>
              </a:ext>
            </a:extLst>
          </p:cNvPr>
          <p:cNvSpPr>
            <a:spLocks noGrp="1"/>
          </p:cNvSpPr>
          <p:nvPr>
            <p:ph type="sldNum" sz="quarter" idx="12"/>
          </p:nvPr>
        </p:nvSpPr>
        <p:spPr/>
        <p:txBody>
          <a:bodyPr/>
          <a:lstStyle/>
          <a:p>
            <a:fld id="{40742BEA-48CF-4F32-AFB8-C9C4AAF5269A}" type="slidenum">
              <a:rPr lang="en-US" smtClean="0"/>
              <a:t>24</a:t>
            </a:fld>
            <a:endParaRPr lang="en-US"/>
          </a:p>
        </p:txBody>
      </p:sp>
      <p:pic>
        <p:nvPicPr>
          <p:cNvPr id="9" name="Picture 8">
            <a:extLst>
              <a:ext uri="{FF2B5EF4-FFF2-40B4-BE49-F238E27FC236}">
                <a16:creationId xmlns:a16="http://schemas.microsoft.com/office/drawing/2014/main" id="{210AFE1F-3CBE-0E72-C772-C7603F36D7D6}"/>
              </a:ext>
            </a:extLst>
          </p:cNvPr>
          <p:cNvPicPr>
            <a:picLocks noChangeAspect="1"/>
          </p:cNvPicPr>
          <p:nvPr/>
        </p:nvPicPr>
        <p:blipFill>
          <a:blip r:embed="rId3"/>
          <a:stretch>
            <a:fillRect/>
          </a:stretch>
        </p:blipFill>
        <p:spPr>
          <a:xfrm>
            <a:off x="1832378" y="1179413"/>
            <a:ext cx="7220958" cy="962159"/>
          </a:xfrm>
          <a:prstGeom prst="rect">
            <a:avLst/>
          </a:prstGeom>
        </p:spPr>
      </p:pic>
    </p:spTree>
    <p:extLst>
      <p:ext uri="{BB962C8B-B14F-4D97-AF65-F5344CB8AC3E}">
        <p14:creationId xmlns:p14="http://schemas.microsoft.com/office/powerpoint/2010/main" val="1304991816"/>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F962283-342C-85D3-596D-1D4168A151A2}"/>
              </a:ext>
            </a:extLst>
          </p:cNvPr>
          <p:cNvSpPr>
            <a:spLocks noGrp="1"/>
          </p:cNvSpPr>
          <p:nvPr>
            <p:ph type="title"/>
          </p:nvPr>
        </p:nvSpPr>
        <p:spPr/>
        <p:txBody>
          <a:bodyPr/>
          <a:lstStyle/>
          <a:p>
            <a:r>
              <a:rPr lang="en-US" dirty="0"/>
              <a:t>Accuracy &amp; loss (Old vgg16)</a:t>
            </a:r>
          </a:p>
        </p:txBody>
      </p:sp>
      <p:sp>
        <p:nvSpPr>
          <p:cNvPr id="4" name="Date Placeholder 3">
            <a:extLst>
              <a:ext uri="{FF2B5EF4-FFF2-40B4-BE49-F238E27FC236}">
                <a16:creationId xmlns:a16="http://schemas.microsoft.com/office/drawing/2014/main" id="{3F52E81B-2C8C-64C7-384F-42F5F0E1F7A6}"/>
              </a:ext>
            </a:extLst>
          </p:cNvPr>
          <p:cNvSpPr>
            <a:spLocks noGrp="1"/>
          </p:cNvSpPr>
          <p:nvPr>
            <p:ph type="dt" sz="half" idx="10"/>
          </p:nvPr>
        </p:nvSpPr>
        <p:spPr/>
        <p:txBody>
          <a:bodyPr/>
          <a:lstStyle/>
          <a:p>
            <a:fld id="{DF06F12F-02D3-425D-BF4C-BBE4220292D9}" type="datetime1">
              <a:rPr lang="en-US" smtClean="0"/>
              <a:t>12/22/2025</a:t>
            </a:fld>
            <a:endParaRPr lang="en-US"/>
          </a:p>
        </p:txBody>
      </p:sp>
      <p:sp>
        <p:nvSpPr>
          <p:cNvPr id="5" name="Slide Number Placeholder 4">
            <a:extLst>
              <a:ext uri="{FF2B5EF4-FFF2-40B4-BE49-F238E27FC236}">
                <a16:creationId xmlns:a16="http://schemas.microsoft.com/office/drawing/2014/main" id="{8C0E48EB-2AA5-26DD-89CB-59C5B7656D9F}"/>
              </a:ext>
            </a:extLst>
          </p:cNvPr>
          <p:cNvSpPr>
            <a:spLocks noGrp="1"/>
          </p:cNvSpPr>
          <p:nvPr>
            <p:ph type="sldNum" sz="quarter" idx="12"/>
          </p:nvPr>
        </p:nvSpPr>
        <p:spPr/>
        <p:txBody>
          <a:bodyPr/>
          <a:lstStyle/>
          <a:p>
            <a:fld id="{40742BEA-48CF-4F32-AFB8-C9C4AAF5269A}" type="slidenum">
              <a:rPr lang="en-US" smtClean="0"/>
              <a:t>25</a:t>
            </a:fld>
            <a:endParaRPr lang="en-US"/>
          </a:p>
        </p:txBody>
      </p:sp>
      <p:pic>
        <p:nvPicPr>
          <p:cNvPr id="6" name="Content Placeholder 5">
            <a:extLst>
              <a:ext uri="{FF2B5EF4-FFF2-40B4-BE49-F238E27FC236}">
                <a16:creationId xmlns:a16="http://schemas.microsoft.com/office/drawing/2014/main" id="{4101F4C9-10B0-BAB9-B915-808E817D989F}"/>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1056257" y="1934012"/>
            <a:ext cx="8039815" cy="979396"/>
          </a:xfrm>
          <a:prstGeom prst="rect">
            <a:avLst/>
          </a:prstGeom>
        </p:spPr>
      </p:pic>
      <p:pic>
        <p:nvPicPr>
          <p:cNvPr id="7" name="Picture 6">
            <a:extLst>
              <a:ext uri="{FF2B5EF4-FFF2-40B4-BE49-F238E27FC236}">
                <a16:creationId xmlns:a16="http://schemas.microsoft.com/office/drawing/2014/main" id="{F244EE4C-F702-0E15-BA4E-03ED9C921299}"/>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685802" y="3275045"/>
            <a:ext cx="4155616" cy="3315309"/>
          </a:xfrm>
          <a:prstGeom prst="rect">
            <a:avLst/>
          </a:prstGeom>
        </p:spPr>
      </p:pic>
      <p:pic>
        <p:nvPicPr>
          <p:cNvPr id="8" name="Picture 7">
            <a:extLst>
              <a:ext uri="{FF2B5EF4-FFF2-40B4-BE49-F238E27FC236}">
                <a16:creationId xmlns:a16="http://schemas.microsoft.com/office/drawing/2014/main" id="{3DC203B1-1A80-365B-116F-A4BFF65A8DEE}"/>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5076165" y="3275045"/>
            <a:ext cx="4273713" cy="3315309"/>
          </a:xfrm>
          <a:prstGeom prst="rect">
            <a:avLst/>
          </a:prstGeom>
        </p:spPr>
      </p:pic>
    </p:spTree>
    <p:extLst>
      <p:ext uri="{BB962C8B-B14F-4D97-AF65-F5344CB8AC3E}">
        <p14:creationId xmlns:p14="http://schemas.microsoft.com/office/powerpoint/2010/main" val="2367780022"/>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330B246-D6C7-9C04-948A-2736D86F4674}"/>
              </a:ext>
            </a:extLst>
          </p:cNvPr>
          <p:cNvSpPr>
            <a:spLocks noGrp="1"/>
          </p:cNvSpPr>
          <p:nvPr>
            <p:ph type="title"/>
          </p:nvPr>
        </p:nvSpPr>
        <p:spPr>
          <a:xfrm>
            <a:off x="83976" y="633589"/>
            <a:ext cx="4245429" cy="1513574"/>
          </a:xfrm>
        </p:spPr>
        <p:txBody>
          <a:bodyPr>
            <a:normAutofit/>
          </a:bodyPr>
          <a:lstStyle/>
          <a:p>
            <a:r>
              <a:rPr lang="en-US" sz="2000" dirty="0"/>
              <a:t>Confusion matrix (resnet101)</a:t>
            </a:r>
          </a:p>
        </p:txBody>
      </p:sp>
      <p:pic>
        <p:nvPicPr>
          <p:cNvPr id="7" name="Content Placeholder 6">
            <a:extLst>
              <a:ext uri="{FF2B5EF4-FFF2-40B4-BE49-F238E27FC236}">
                <a16:creationId xmlns:a16="http://schemas.microsoft.com/office/drawing/2014/main" id="{A17B5049-B302-12D6-2FFE-68267A566127}"/>
              </a:ext>
            </a:extLst>
          </p:cNvPr>
          <p:cNvPicPr>
            <a:picLocks noGrp="1" noChangeAspect="1"/>
          </p:cNvPicPr>
          <p:nvPr>
            <p:ph idx="1"/>
          </p:nvPr>
        </p:nvPicPr>
        <p:blipFill>
          <a:blip r:embed="rId2"/>
          <a:stretch>
            <a:fillRect/>
          </a:stretch>
        </p:blipFill>
        <p:spPr>
          <a:xfrm>
            <a:off x="4579759" y="75167"/>
            <a:ext cx="6237469" cy="6026427"/>
          </a:xfrm>
        </p:spPr>
      </p:pic>
      <p:sp>
        <p:nvSpPr>
          <p:cNvPr id="4" name="Date Placeholder 3">
            <a:extLst>
              <a:ext uri="{FF2B5EF4-FFF2-40B4-BE49-F238E27FC236}">
                <a16:creationId xmlns:a16="http://schemas.microsoft.com/office/drawing/2014/main" id="{96CA8D00-F06B-3AAA-DD26-E8189D4D2BEF}"/>
              </a:ext>
            </a:extLst>
          </p:cNvPr>
          <p:cNvSpPr>
            <a:spLocks noGrp="1"/>
          </p:cNvSpPr>
          <p:nvPr>
            <p:ph type="dt" sz="half" idx="10"/>
          </p:nvPr>
        </p:nvSpPr>
        <p:spPr/>
        <p:txBody>
          <a:bodyPr/>
          <a:lstStyle/>
          <a:p>
            <a:fld id="{DF06F12F-02D3-425D-BF4C-BBE4220292D9}" type="datetime1">
              <a:rPr lang="en-US" smtClean="0"/>
              <a:t>12/22/2025</a:t>
            </a:fld>
            <a:endParaRPr lang="en-US"/>
          </a:p>
        </p:txBody>
      </p:sp>
      <p:sp>
        <p:nvSpPr>
          <p:cNvPr id="5" name="Slide Number Placeholder 4">
            <a:extLst>
              <a:ext uri="{FF2B5EF4-FFF2-40B4-BE49-F238E27FC236}">
                <a16:creationId xmlns:a16="http://schemas.microsoft.com/office/drawing/2014/main" id="{313BE03A-F6CC-7D82-F56F-4C0DF577390C}"/>
              </a:ext>
            </a:extLst>
          </p:cNvPr>
          <p:cNvSpPr>
            <a:spLocks noGrp="1"/>
          </p:cNvSpPr>
          <p:nvPr>
            <p:ph type="sldNum" sz="quarter" idx="12"/>
          </p:nvPr>
        </p:nvSpPr>
        <p:spPr/>
        <p:txBody>
          <a:bodyPr/>
          <a:lstStyle/>
          <a:p>
            <a:fld id="{40742BEA-48CF-4F32-AFB8-C9C4AAF5269A}" type="slidenum">
              <a:rPr lang="en-US" smtClean="0"/>
              <a:t>26</a:t>
            </a:fld>
            <a:endParaRPr lang="en-US"/>
          </a:p>
        </p:txBody>
      </p:sp>
      <p:pic>
        <p:nvPicPr>
          <p:cNvPr id="9" name="Picture 8">
            <a:extLst>
              <a:ext uri="{FF2B5EF4-FFF2-40B4-BE49-F238E27FC236}">
                <a16:creationId xmlns:a16="http://schemas.microsoft.com/office/drawing/2014/main" id="{A75F78E9-6608-EE7C-7051-5E40970456E4}"/>
              </a:ext>
            </a:extLst>
          </p:cNvPr>
          <p:cNvPicPr>
            <a:picLocks noChangeAspect="1"/>
          </p:cNvPicPr>
          <p:nvPr/>
        </p:nvPicPr>
        <p:blipFill>
          <a:blip r:embed="rId3"/>
          <a:stretch>
            <a:fillRect/>
          </a:stretch>
        </p:blipFill>
        <p:spPr>
          <a:xfrm>
            <a:off x="249908" y="2147163"/>
            <a:ext cx="3913564" cy="2787253"/>
          </a:xfrm>
          <a:prstGeom prst="rect">
            <a:avLst/>
          </a:prstGeom>
          <a:solidFill>
            <a:srgbClr val="FFFFFF">
              <a:shade val="85000"/>
            </a:srgbClr>
          </a:solidFill>
          <a:ln w="88900" cap="sq">
            <a:solidFill>
              <a:srgbClr val="FFFFFF"/>
            </a:solidFill>
            <a:miter lim="800000"/>
          </a:ln>
          <a:effectLst>
            <a:outerShdw blurRad="55000" dist="18000" dir="5400000" algn="tl" rotWithShape="0">
              <a:srgbClr val="000000">
                <a:alpha val="40000"/>
              </a:srgbClr>
            </a:outerShdw>
          </a:effectLst>
          <a:scene3d>
            <a:camera prst="orthographicFront"/>
            <a:lightRig rig="twoPt" dir="t">
              <a:rot lat="0" lon="0" rev="7200000"/>
            </a:lightRig>
          </a:scene3d>
          <a:sp3d>
            <a:bevelT w="25400" h="19050"/>
            <a:contourClr>
              <a:srgbClr val="FFFFFF"/>
            </a:contourClr>
          </a:sp3d>
        </p:spPr>
      </p:pic>
    </p:spTree>
    <p:extLst>
      <p:ext uri="{BB962C8B-B14F-4D97-AF65-F5344CB8AC3E}">
        <p14:creationId xmlns:p14="http://schemas.microsoft.com/office/powerpoint/2010/main" val="2153983790"/>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62C6C42-29B6-7D0F-0882-1F4E3B57BF55}"/>
              </a:ext>
            </a:extLst>
          </p:cNvPr>
          <p:cNvSpPr>
            <a:spLocks noGrp="1"/>
          </p:cNvSpPr>
          <p:nvPr>
            <p:ph type="title"/>
          </p:nvPr>
        </p:nvSpPr>
        <p:spPr>
          <a:xfrm>
            <a:off x="685803" y="0"/>
            <a:ext cx="10131425" cy="1513574"/>
          </a:xfrm>
        </p:spPr>
        <p:txBody>
          <a:bodyPr/>
          <a:lstStyle/>
          <a:p>
            <a:r>
              <a:rPr lang="en-US" dirty="0"/>
              <a:t>Confusion matrix old(vgg16)</a:t>
            </a:r>
          </a:p>
        </p:txBody>
      </p:sp>
      <p:sp>
        <p:nvSpPr>
          <p:cNvPr id="4" name="Date Placeholder 3">
            <a:extLst>
              <a:ext uri="{FF2B5EF4-FFF2-40B4-BE49-F238E27FC236}">
                <a16:creationId xmlns:a16="http://schemas.microsoft.com/office/drawing/2014/main" id="{B719F876-5FD0-48CE-17EC-09091698BC78}"/>
              </a:ext>
            </a:extLst>
          </p:cNvPr>
          <p:cNvSpPr>
            <a:spLocks noGrp="1"/>
          </p:cNvSpPr>
          <p:nvPr>
            <p:ph type="dt" sz="half" idx="10"/>
          </p:nvPr>
        </p:nvSpPr>
        <p:spPr/>
        <p:txBody>
          <a:bodyPr/>
          <a:lstStyle/>
          <a:p>
            <a:fld id="{DF06F12F-02D3-425D-BF4C-BBE4220292D9}" type="datetime1">
              <a:rPr lang="en-US" smtClean="0"/>
              <a:t>12/22/2025</a:t>
            </a:fld>
            <a:endParaRPr lang="en-US"/>
          </a:p>
        </p:txBody>
      </p:sp>
      <p:sp>
        <p:nvSpPr>
          <p:cNvPr id="5" name="Slide Number Placeholder 4">
            <a:extLst>
              <a:ext uri="{FF2B5EF4-FFF2-40B4-BE49-F238E27FC236}">
                <a16:creationId xmlns:a16="http://schemas.microsoft.com/office/drawing/2014/main" id="{20679B71-C2DC-4EE3-61D3-F942E2D2022B}"/>
              </a:ext>
            </a:extLst>
          </p:cNvPr>
          <p:cNvSpPr>
            <a:spLocks noGrp="1"/>
          </p:cNvSpPr>
          <p:nvPr>
            <p:ph type="sldNum" sz="quarter" idx="12"/>
          </p:nvPr>
        </p:nvSpPr>
        <p:spPr/>
        <p:txBody>
          <a:bodyPr/>
          <a:lstStyle/>
          <a:p>
            <a:fld id="{40742BEA-48CF-4F32-AFB8-C9C4AAF5269A}" type="slidenum">
              <a:rPr lang="en-US" smtClean="0"/>
              <a:t>27</a:t>
            </a:fld>
            <a:endParaRPr lang="en-US"/>
          </a:p>
        </p:txBody>
      </p:sp>
      <p:pic>
        <p:nvPicPr>
          <p:cNvPr id="6" name="Content Placeholder 5">
            <a:extLst>
              <a:ext uri="{FF2B5EF4-FFF2-40B4-BE49-F238E27FC236}">
                <a16:creationId xmlns:a16="http://schemas.microsoft.com/office/drawing/2014/main" id="{FDE1DEF7-7D60-140D-C6BB-B3287D316D38}"/>
              </a:ext>
            </a:extLst>
          </p:cNvPr>
          <p:cNvPicPr>
            <a:picLocks noGrp="1" noChangeAspect="1"/>
          </p:cNvPicPr>
          <p:nvPr>
            <p:ph idx="1"/>
          </p:nvPr>
        </p:nvPicPr>
        <p:blipFill>
          <a:blip r:embed="rId2"/>
          <a:stretch>
            <a:fillRect/>
          </a:stretch>
        </p:blipFill>
        <p:spPr>
          <a:xfrm>
            <a:off x="2013715" y="1110343"/>
            <a:ext cx="6575945" cy="5555495"/>
          </a:xfrm>
          <a:prstGeom prst="rect">
            <a:avLst/>
          </a:prstGeom>
        </p:spPr>
      </p:pic>
    </p:spTree>
    <p:extLst>
      <p:ext uri="{BB962C8B-B14F-4D97-AF65-F5344CB8AC3E}">
        <p14:creationId xmlns:p14="http://schemas.microsoft.com/office/powerpoint/2010/main" val="3331851497"/>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35FC9AD-9E82-EE48-2520-EDEAB325E092}"/>
              </a:ext>
            </a:extLst>
          </p:cNvPr>
          <p:cNvSpPr>
            <a:spLocks noGrp="1"/>
          </p:cNvSpPr>
          <p:nvPr>
            <p:ph type="title"/>
          </p:nvPr>
        </p:nvSpPr>
        <p:spPr/>
        <p:txBody>
          <a:bodyPr/>
          <a:lstStyle/>
          <a:p>
            <a:endParaRPr lang="en-US"/>
          </a:p>
        </p:txBody>
      </p:sp>
      <p:sp>
        <p:nvSpPr>
          <p:cNvPr id="3" name="Content Placeholder 2">
            <a:extLst>
              <a:ext uri="{FF2B5EF4-FFF2-40B4-BE49-F238E27FC236}">
                <a16:creationId xmlns:a16="http://schemas.microsoft.com/office/drawing/2014/main" id="{56F0FA7E-5B26-D7E7-DA01-E555C124AE95}"/>
              </a:ext>
            </a:extLst>
          </p:cNvPr>
          <p:cNvSpPr>
            <a:spLocks noGrp="1"/>
          </p:cNvSpPr>
          <p:nvPr>
            <p:ph idx="1"/>
          </p:nvPr>
        </p:nvSpPr>
        <p:spPr/>
        <p:txBody>
          <a:bodyPr/>
          <a:lstStyle/>
          <a:p>
            <a:endParaRPr lang="en-US"/>
          </a:p>
        </p:txBody>
      </p:sp>
      <p:sp>
        <p:nvSpPr>
          <p:cNvPr id="4" name="Date Placeholder 3">
            <a:extLst>
              <a:ext uri="{FF2B5EF4-FFF2-40B4-BE49-F238E27FC236}">
                <a16:creationId xmlns:a16="http://schemas.microsoft.com/office/drawing/2014/main" id="{5D5CCC93-1908-F55E-09C5-FE1E17D27962}"/>
              </a:ext>
            </a:extLst>
          </p:cNvPr>
          <p:cNvSpPr>
            <a:spLocks noGrp="1"/>
          </p:cNvSpPr>
          <p:nvPr>
            <p:ph type="dt" sz="half" idx="10"/>
          </p:nvPr>
        </p:nvSpPr>
        <p:spPr/>
        <p:txBody>
          <a:bodyPr/>
          <a:lstStyle/>
          <a:p>
            <a:fld id="{DF06F12F-02D3-425D-BF4C-BBE4220292D9}" type="datetime1">
              <a:rPr lang="en-US" smtClean="0"/>
              <a:t>12/22/2025</a:t>
            </a:fld>
            <a:endParaRPr lang="en-US"/>
          </a:p>
        </p:txBody>
      </p:sp>
      <p:sp>
        <p:nvSpPr>
          <p:cNvPr id="5" name="Slide Number Placeholder 4">
            <a:extLst>
              <a:ext uri="{FF2B5EF4-FFF2-40B4-BE49-F238E27FC236}">
                <a16:creationId xmlns:a16="http://schemas.microsoft.com/office/drawing/2014/main" id="{C7B63445-50B0-BE95-50B3-3CA2C69C1085}"/>
              </a:ext>
            </a:extLst>
          </p:cNvPr>
          <p:cNvSpPr>
            <a:spLocks noGrp="1"/>
          </p:cNvSpPr>
          <p:nvPr>
            <p:ph type="sldNum" sz="quarter" idx="12"/>
          </p:nvPr>
        </p:nvSpPr>
        <p:spPr/>
        <p:txBody>
          <a:bodyPr/>
          <a:lstStyle/>
          <a:p>
            <a:fld id="{40742BEA-48CF-4F32-AFB8-C9C4AAF5269A}" type="slidenum">
              <a:rPr lang="en-US" smtClean="0"/>
              <a:t>28</a:t>
            </a:fld>
            <a:endParaRPr lang="en-US"/>
          </a:p>
        </p:txBody>
      </p:sp>
    </p:spTree>
    <p:extLst>
      <p:ext uri="{BB962C8B-B14F-4D97-AF65-F5344CB8AC3E}">
        <p14:creationId xmlns:p14="http://schemas.microsoft.com/office/powerpoint/2010/main" val="2173421828"/>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4CC51C4-BFDF-E9FC-0426-7F5578E9B315}"/>
              </a:ext>
            </a:extLst>
          </p:cNvPr>
          <p:cNvSpPr>
            <a:spLocks noGrp="1"/>
          </p:cNvSpPr>
          <p:nvPr>
            <p:ph type="title"/>
          </p:nvPr>
        </p:nvSpPr>
        <p:spPr>
          <a:xfrm>
            <a:off x="330261" y="246368"/>
            <a:ext cx="8636458" cy="774440"/>
          </a:xfrm>
        </p:spPr>
        <p:txBody>
          <a:bodyPr/>
          <a:lstStyle/>
          <a:p>
            <a:r>
              <a:rPr lang="en-US" dirty="0"/>
              <a:t>System Requirements Specification</a:t>
            </a:r>
          </a:p>
        </p:txBody>
      </p:sp>
      <p:sp>
        <p:nvSpPr>
          <p:cNvPr id="3" name="Content Placeholder 2">
            <a:extLst>
              <a:ext uri="{FF2B5EF4-FFF2-40B4-BE49-F238E27FC236}">
                <a16:creationId xmlns:a16="http://schemas.microsoft.com/office/drawing/2014/main" id="{D94150A3-A2C4-DEEB-284F-E777EB257078}"/>
              </a:ext>
            </a:extLst>
          </p:cNvPr>
          <p:cNvSpPr>
            <a:spLocks noGrp="1"/>
          </p:cNvSpPr>
          <p:nvPr>
            <p:ph idx="1"/>
          </p:nvPr>
        </p:nvSpPr>
        <p:spPr>
          <a:xfrm>
            <a:off x="685802" y="1306286"/>
            <a:ext cx="8999374" cy="494521"/>
          </a:xfrm>
        </p:spPr>
        <p:txBody>
          <a:bodyPr>
            <a:normAutofit/>
          </a:bodyPr>
          <a:lstStyle/>
          <a:p>
            <a:r>
              <a:rPr lang="en-US" dirty="0"/>
              <a:t>Functional Requirements</a:t>
            </a:r>
          </a:p>
          <a:p>
            <a:endParaRPr lang="en-US" dirty="0"/>
          </a:p>
        </p:txBody>
      </p:sp>
      <p:sp>
        <p:nvSpPr>
          <p:cNvPr id="4" name="Date Placeholder 3">
            <a:extLst>
              <a:ext uri="{FF2B5EF4-FFF2-40B4-BE49-F238E27FC236}">
                <a16:creationId xmlns:a16="http://schemas.microsoft.com/office/drawing/2014/main" id="{329E9440-42D5-3299-70D3-0E5AD109AFB1}"/>
              </a:ext>
            </a:extLst>
          </p:cNvPr>
          <p:cNvSpPr>
            <a:spLocks noGrp="1"/>
          </p:cNvSpPr>
          <p:nvPr>
            <p:ph type="dt" sz="half" idx="10"/>
          </p:nvPr>
        </p:nvSpPr>
        <p:spPr/>
        <p:txBody>
          <a:bodyPr/>
          <a:lstStyle/>
          <a:p>
            <a:fld id="{DF06F12F-02D3-425D-BF4C-BBE4220292D9}" type="datetime1">
              <a:rPr lang="en-US" smtClean="0"/>
              <a:t>12/22/2025</a:t>
            </a:fld>
            <a:endParaRPr lang="en-US"/>
          </a:p>
        </p:txBody>
      </p:sp>
      <p:sp>
        <p:nvSpPr>
          <p:cNvPr id="5" name="Slide Number Placeholder 4">
            <a:extLst>
              <a:ext uri="{FF2B5EF4-FFF2-40B4-BE49-F238E27FC236}">
                <a16:creationId xmlns:a16="http://schemas.microsoft.com/office/drawing/2014/main" id="{64462E0B-0E65-2A6C-EF43-799C0D0C7C75}"/>
              </a:ext>
            </a:extLst>
          </p:cNvPr>
          <p:cNvSpPr>
            <a:spLocks noGrp="1"/>
          </p:cNvSpPr>
          <p:nvPr>
            <p:ph type="sldNum" sz="quarter" idx="12"/>
          </p:nvPr>
        </p:nvSpPr>
        <p:spPr/>
        <p:txBody>
          <a:bodyPr/>
          <a:lstStyle/>
          <a:p>
            <a:fld id="{40742BEA-48CF-4F32-AFB8-C9C4AAF5269A}" type="slidenum">
              <a:rPr lang="en-US" smtClean="0"/>
              <a:t>29</a:t>
            </a:fld>
            <a:endParaRPr lang="en-US"/>
          </a:p>
        </p:txBody>
      </p:sp>
      <p:graphicFrame>
        <p:nvGraphicFramePr>
          <p:cNvPr id="6" name="Table 6">
            <a:extLst>
              <a:ext uri="{FF2B5EF4-FFF2-40B4-BE49-F238E27FC236}">
                <a16:creationId xmlns:a16="http://schemas.microsoft.com/office/drawing/2014/main" id="{B9121F51-162C-14E9-F240-D89E56D7F456}"/>
              </a:ext>
            </a:extLst>
          </p:cNvPr>
          <p:cNvGraphicFramePr>
            <a:graphicFrameLocks noGrp="1"/>
          </p:cNvGraphicFramePr>
          <p:nvPr>
            <p:extLst>
              <p:ext uri="{D42A27DB-BD31-4B8C-83A1-F6EECF244321}">
                <p14:modId xmlns:p14="http://schemas.microsoft.com/office/powerpoint/2010/main" val="2447849369"/>
              </p:ext>
            </p:extLst>
          </p:nvPr>
        </p:nvGraphicFramePr>
        <p:xfrm>
          <a:off x="330261" y="1716831"/>
          <a:ext cx="9560187" cy="3604764"/>
        </p:xfrm>
        <a:graphic>
          <a:graphicData uri="http://schemas.openxmlformats.org/drawingml/2006/table">
            <a:tbl>
              <a:tblPr firstRow="1" bandRow="1">
                <a:tableStyleId>{5C22544A-7EE6-4342-B048-85BDC9FD1C3A}</a:tableStyleId>
              </a:tblPr>
              <a:tblGrid>
                <a:gridCol w="3186729">
                  <a:extLst>
                    <a:ext uri="{9D8B030D-6E8A-4147-A177-3AD203B41FA5}">
                      <a16:colId xmlns:a16="http://schemas.microsoft.com/office/drawing/2014/main" val="3838715913"/>
                    </a:ext>
                  </a:extLst>
                </a:gridCol>
                <a:gridCol w="3186729">
                  <a:extLst>
                    <a:ext uri="{9D8B030D-6E8A-4147-A177-3AD203B41FA5}">
                      <a16:colId xmlns:a16="http://schemas.microsoft.com/office/drawing/2014/main" val="3153356023"/>
                    </a:ext>
                  </a:extLst>
                </a:gridCol>
                <a:gridCol w="3186729">
                  <a:extLst>
                    <a:ext uri="{9D8B030D-6E8A-4147-A177-3AD203B41FA5}">
                      <a16:colId xmlns:a16="http://schemas.microsoft.com/office/drawing/2014/main" val="1115931944"/>
                    </a:ext>
                  </a:extLst>
                </a:gridCol>
              </a:tblGrid>
              <a:tr h="644483">
                <a:tc>
                  <a:txBody>
                    <a:bodyPr/>
                    <a:lstStyle/>
                    <a:p>
                      <a:pPr lvl="0" algn="l" rtl="0"/>
                      <a:r>
                        <a:rPr lang="en-US" sz="1200" b="1" dirty="0"/>
                        <a:t>ID</a:t>
                      </a:r>
                      <a:endParaRPr lang="en-US" sz="1200" dirty="0"/>
                    </a:p>
                  </a:txBody>
                  <a:tcPr marL="144000" marR="144000" marT="144000" marB="108000">
                    <a:lnL w="12700" cmpd="sng">
                      <a:noFill/>
                    </a:lnL>
                    <a:lnR w="12700" cmpd="sng">
                      <a:noFill/>
                    </a:lnR>
                    <a:lnT w="12700" cmpd="sng">
                      <a:noFill/>
                    </a:lnT>
                    <a:lnB w="38100" cmpd="sng">
                      <a:noFill/>
                    </a:lnB>
                    <a:lnTlToBr w="12700" cmpd="sng">
                      <a:noFill/>
                      <a:prstDash val="solid"/>
                    </a:lnTlToBr>
                    <a:lnBlToTr w="12700" cmpd="sng">
                      <a:noFill/>
                      <a:prstDash val="solid"/>
                    </a:lnBlToTr>
                  </a:tcPr>
                </a:tc>
                <a:tc>
                  <a:txBody>
                    <a:bodyPr/>
                    <a:lstStyle/>
                    <a:p>
                      <a:pPr lvl="0" algn="l" rtl="0"/>
                      <a:r>
                        <a:rPr lang="en-US" sz="1200" b="1" dirty="0"/>
                        <a:t>Requirement Name</a:t>
                      </a:r>
                      <a:endParaRPr lang="en-US" sz="1200" dirty="0"/>
                    </a:p>
                  </a:txBody>
                  <a:tcPr marL="144000" marR="144000" marT="144000" marB="108000">
                    <a:lnL w="12700" cmpd="sng">
                      <a:noFill/>
                    </a:lnL>
                    <a:lnR w="12700" cmpd="sng">
                      <a:noFill/>
                    </a:lnR>
                    <a:lnT w="12700" cmpd="sng">
                      <a:noFill/>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lvl="0" algn="l" rtl="0"/>
                      <a:r>
                        <a:rPr lang="en-US" sz="1200" b="1"/>
                        <a:t>Description</a:t>
                      </a:r>
                      <a:endParaRPr lang="en-US" sz="1200"/>
                    </a:p>
                  </a:txBody>
                  <a:tcPr marL="144000" marR="144000" marT="144000" marB="108000">
                    <a:lnL w="12700" cmpd="sng">
                      <a:noFill/>
                    </a:lnL>
                    <a:lnR w="12700" cmpd="sng">
                      <a:noFill/>
                    </a:lnR>
                    <a:lnT w="12700" cmpd="sng">
                      <a:noFill/>
                    </a:lnT>
                    <a:lnB w="38100" cmpd="sng">
                      <a:noFill/>
                    </a:lnB>
                    <a:lnTlToBr w="12700" cmpd="sng">
                      <a:noFill/>
                      <a:prstDash val="solid"/>
                    </a:lnTlToBr>
                    <a:lnBlToTr w="12700" cmpd="sng">
                      <a:noFill/>
                      <a:prstDash val="solid"/>
                    </a:lnBlToTr>
                  </a:tcPr>
                </a:tc>
                <a:extLst>
                  <a:ext uri="{0D108BD9-81ED-4DB2-BD59-A6C34878D82A}">
                    <a16:rowId xmlns:a16="http://schemas.microsoft.com/office/drawing/2014/main" val="2766705699"/>
                  </a:ext>
                </a:extLst>
              </a:tr>
              <a:tr h="1638238">
                <a:tc>
                  <a:txBody>
                    <a:bodyPr/>
                    <a:lstStyle/>
                    <a:p>
                      <a:pPr lvl="0" algn="l" rtl="0"/>
                      <a:r>
                        <a:rPr lang="en-US" sz="1400" dirty="0"/>
                        <a:t>FR1</a:t>
                      </a:r>
                    </a:p>
                  </a:txBody>
                  <a:tcPr marL="144000" marR="144000" marT="144000" marB="108000">
                    <a:lnL w="12700" cmpd="sng">
                      <a:noFill/>
                    </a:lnL>
                    <a:lnR w="3175" cap="flat" cmpd="sng" algn="ctr">
                      <a:solidFill>
                        <a:schemeClr val="tx1"/>
                      </a:solidFill>
                      <a:prstDash val="solid"/>
                      <a:round/>
                      <a:headEnd type="none" w="med" len="med"/>
                      <a:tailEnd type="none" w="med" len="med"/>
                    </a:lnR>
                    <a:lnT w="38100" cmpd="sng">
                      <a:noFill/>
                    </a:lnT>
                    <a:lnB w="12700" cmpd="sng">
                      <a:noFill/>
                    </a:lnB>
                    <a:lnTlToBr w="12700" cmpd="sng">
                      <a:noFill/>
                      <a:prstDash val="solid"/>
                    </a:lnTlToBr>
                    <a:lnBlToTr w="12700" cmpd="sng">
                      <a:noFill/>
                      <a:prstDash val="solid"/>
                    </a:lnBlToTr>
                  </a:tcPr>
                </a:tc>
                <a:tc>
                  <a:txBody>
                    <a:bodyPr/>
                    <a:lstStyle/>
                    <a:p>
                      <a:pPr lvl="0" algn="l" rtl="0"/>
                      <a:r>
                        <a:rPr lang="en-US" sz="1400" dirty="0"/>
                        <a:t>Image Upload</a:t>
                      </a:r>
                    </a:p>
                  </a:txBody>
                  <a:tcPr marL="144000" marR="144000" marT="144000" marB="108000">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lvl="0" algn="l" rtl="0"/>
                      <a:r>
                        <a:rPr lang="en-US" sz="1400"/>
                        <a:t>The user should be able to upload an MRI brain image from the phone gallery or capture a new one using the camera.</a:t>
                      </a:r>
                    </a:p>
                  </a:txBody>
                  <a:tcPr marL="144000" marR="144000" marT="144000" marB="108000">
                    <a:lnL w="3175" cap="flat" cmpd="sng" algn="ctr">
                      <a:solidFill>
                        <a:schemeClr val="tx1"/>
                      </a:solidFill>
                      <a:prstDash val="solid"/>
                      <a:round/>
                      <a:headEnd type="none" w="med" len="med"/>
                      <a:tailEnd type="none" w="med" len="med"/>
                    </a:lnL>
                    <a:lnR w="12700" cmpd="sng">
                      <a:noFill/>
                    </a:lnR>
                    <a:lnT w="38100" cmpd="sng">
                      <a:noFill/>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655206674"/>
                  </a:ext>
                </a:extLst>
              </a:tr>
              <a:tr h="1322043">
                <a:tc>
                  <a:txBody>
                    <a:bodyPr/>
                    <a:lstStyle/>
                    <a:p>
                      <a:pPr lvl="0" algn="l" rtl="0"/>
                      <a:r>
                        <a:rPr lang="en-US" sz="1400" dirty="0"/>
                        <a:t>FR2</a:t>
                      </a:r>
                    </a:p>
                  </a:txBody>
                  <a:tcPr marL="144000" marR="144000" marT="144000" marB="108000">
                    <a:lnL w="12700" cmpd="sng">
                      <a:noFill/>
                    </a:lnL>
                    <a:lnR w="12700" cmpd="sng">
                      <a:noFill/>
                    </a:lnR>
                    <a:lnT w="12700" cmpd="sng">
                      <a:noFill/>
                    </a:lnT>
                    <a:lnB w="12700" cmpd="sng">
                      <a:noFill/>
                    </a:lnB>
                    <a:lnTlToBr w="12700" cmpd="sng">
                      <a:noFill/>
                      <a:prstDash val="solid"/>
                    </a:lnTlToBr>
                    <a:lnBlToTr w="12700" cmpd="sng">
                      <a:noFill/>
                      <a:prstDash val="solid"/>
                    </a:lnBlToTr>
                  </a:tcPr>
                </a:tc>
                <a:tc>
                  <a:txBody>
                    <a:bodyPr/>
                    <a:lstStyle/>
                    <a:p>
                      <a:pPr lvl="0" algn="l" rtl="0"/>
                      <a:r>
                        <a:rPr lang="en-US" sz="1400" dirty="0"/>
                        <a:t>Result Display</a:t>
                      </a:r>
                    </a:p>
                  </a:txBody>
                  <a:tcPr marL="144000" marR="144000" marT="144000" marB="108000">
                    <a:lnL w="12700" cmpd="sng">
                      <a:noFill/>
                    </a:lnL>
                    <a:lnR w="12700" cmpd="sng">
                      <a:noFill/>
                    </a:lnR>
                    <a:lnT w="3175" cap="flat" cmpd="sng" algn="ctr">
                      <a:solidFill>
                        <a:schemeClr val="tx1"/>
                      </a:solidFill>
                      <a:prstDash val="solid"/>
                      <a:round/>
                      <a:headEnd type="none" w="med" len="med"/>
                      <a:tailEnd type="none" w="med" len="med"/>
                    </a:lnT>
                    <a:lnB w="12700" cmpd="sng">
                      <a:noFill/>
                    </a:lnB>
                    <a:lnTlToBr w="12700" cmpd="sng">
                      <a:noFill/>
                      <a:prstDash val="solid"/>
                    </a:lnTlToBr>
                    <a:lnBlToTr w="12700" cmpd="sng">
                      <a:noFill/>
                      <a:prstDash val="solid"/>
                    </a:lnBlToTr>
                  </a:tcPr>
                </a:tc>
                <a:tc>
                  <a:txBody>
                    <a:bodyPr/>
                    <a:lstStyle/>
                    <a:p>
                      <a:pPr lvl="0" algn="l" rtl="0"/>
                      <a:r>
                        <a:rPr lang="en-US" sz="1400" dirty="0"/>
                        <a:t>The system should display the classification result and the model’s confidence percentage.</a:t>
                      </a:r>
                    </a:p>
                  </a:txBody>
                  <a:tcPr marL="144000" marR="144000" marT="144000" marB="108000">
                    <a:lnL w="12700" cmpd="sng">
                      <a:noFill/>
                    </a:lnL>
                    <a:lnR w="12700" cmpd="sng">
                      <a:noFill/>
                    </a:lnR>
                    <a:lnT w="3175" cap="flat" cmpd="sng" algn="ctr">
                      <a:solidFill>
                        <a:schemeClr val="tx1"/>
                      </a:solidFill>
                      <a:prstDash val="solid"/>
                      <a:round/>
                      <a:headEnd type="none" w="med" len="med"/>
                      <a:tailEnd type="none" w="med" len="med"/>
                    </a:lnT>
                    <a:lnB w="12700" cmpd="sng">
                      <a:noFill/>
                    </a:lnB>
                    <a:lnTlToBr w="12700" cmpd="sng">
                      <a:noFill/>
                      <a:prstDash val="solid"/>
                    </a:lnTlToBr>
                    <a:lnBlToTr w="12700" cmpd="sng">
                      <a:noFill/>
                      <a:prstDash val="solid"/>
                    </a:lnBlToTr>
                  </a:tcPr>
                </a:tc>
                <a:extLst>
                  <a:ext uri="{0D108BD9-81ED-4DB2-BD59-A6C34878D82A}">
                    <a16:rowId xmlns:a16="http://schemas.microsoft.com/office/drawing/2014/main" val="1757953735"/>
                  </a:ext>
                </a:extLst>
              </a:tr>
            </a:tbl>
          </a:graphicData>
        </a:graphic>
      </p:graphicFrame>
    </p:spTree>
    <p:extLst>
      <p:ext uri="{BB962C8B-B14F-4D97-AF65-F5344CB8AC3E}">
        <p14:creationId xmlns:p14="http://schemas.microsoft.com/office/powerpoint/2010/main" val="1043407567"/>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B61D260-FA69-AD7B-CACE-EB19A8F08A18}"/>
              </a:ext>
            </a:extLst>
          </p:cNvPr>
          <p:cNvSpPr>
            <a:spLocks noGrp="1"/>
          </p:cNvSpPr>
          <p:nvPr>
            <p:ph type="title"/>
          </p:nvPr>
        </p:nvSpPr>
        <p:spPr>
          <a:xfrm>
            <a:off x="685802" y="633589"/>
            <a:ext cx="9148663" cy="475191"/>
          </a:xfrm>
        </p:spPr>
        <p:txBody>
          <a:bodyPr>
            <a:normAutofit fontScale="90000"/>
          </a:bodyPr>
          <a:lstStyle/>
          <a:p>
            <a:r>
              <a:rPr lang="en-US" dirty="0"/>
              <a:t>Non-functional requirements </a:t>
            </a:r>
          </a:p>
        </p:txBody>
      </p:sp>
      <p:graphicFrame>
        <p:nvGraphicFramePr>
          <p:cNvPr id="6" name="Table 6">
            <a:extLst>
              <a:ext uri="{FF2B5EF4-FFF2-40B4-BE49-F238E27FC236}">
                <a16:creationId xmlns:a16="http://schemas.microsoft.com/office/drawing/2014/main" id="{07D2A033-9DE8-BD16-4A8B-77DE050B919C}"/>
              </a:ext>
            </a:extLst>
          </p:cNvPr>
          <p:cNvGraphicFramePr>
            <a:graphicFrameLocks noGrp="1"/>
          </p:cNvGraphicFramePr>
          <p:nvPr>
            <p:ph idx="1"/>
            <p:extLst>
              <p:ext uri="{D42A27DB-BD31-4B8C-83A1-F6EECF244321}">
                <p14:modId xmlns:p14="http://schemas.microsoft.com/office/powerpoint/2010/main" val="1454591658"/>
              </p:ext>
            </p:extLst>
          </p:nvPr>
        </p:nvGraphicFramePr>
        <p:xfrm>
          <a:off x="410221" y="1199197"/>
          <a:ext cx="10131423" cy="4729480"/>
        </p:xfrm>
        <a:graphic>
          <a:graphicData uri="http://schemas.openxmlformats.org/drawingml/2006/table">
            <a:tbl>
              <a:tblPr firstRow="1" bandRow="1">
                <a:tableStyleId>{5C22544A-7EE6-4342-B048-85BDC9FD1C3A}</a:tableStyleId>
              </a:tblPr>
              <a:tblGrid>
                <a:gridCol w="3377141">
                  <a:extLst>
                    <a:ext uri="{9D8B030D-6E8A-4147-A177-3AD203B41FA5}">
                      <a16:colId xmlns:a16="http://schemas.microsoft.com/office/drawing/2014/main" val="2815225619"/>
                    </a:ext>
                  </a:extLst>
                </a:gridCol>
                <a:gridCol w="3377141">
                  <a:extLst>
                    <a:ext uri="{9D8B030D-6E8A-4147-A177-3AD203B41FA5}">
                      <a16:colId xmlns:a16="http://schemas.microsoft.com/office/drawing/2014/main" val="3373863657"/>
                    </a:ext>
                  </a:extLst>
                </a:gridCol>
                <a:gridCol w="3377141">
                  <a:extLst>
                    <a:ext uri="{9D8B030D-6E8A-4147-A177-3AD203B41FA5}">
                      <a16:colId xmlns:a16="http://schemas.microsoft.com/office/drawing/2014/main" val="832591664"/>
                    </a:ext>
                  </a:extLst>
                </a:gridCol>
              </a:tblGrid>
              <a:tr h="370840">
                <a:tc>
                  <a:txBody>
                    <a:bodyPr/>
                    <a:lstStyle/>
                    <a:p>
                      <a:r>
                        <a:rPr lang="en-US" sz="1400" b="1" dirty="0"/>
                        <a:t>ID</a:t>
                      </a:r>
                      <a:endParaRPr lang="en-US" sz="1400" dirty="0"/>
                    </a:p>
                  </a:txBody>
                  <a:tcPr anchor="ctr"/>
                </a:tc>
                <a:tc>
                  <a:txBody>
                    <a:bodyPr/>
                    <a:lstStyle/>
                    <a:p>
                      <a:r>
                        <a:rPr lang="en-US" sz="1400" b="1"/>
                        <a:t>Requirement Name</a:t>
                      </a:r>
                      <a:endParaRPr lang="en-US" sz="1400"/>
                    </a:p>
                  </a:txBody>
                  <a:tcPr anchor="ctr"/>
                </a:tc>
                <a:tc>
                  <a:txBody>
                    <a:bodyPr/>
                    <a:lstStyle/>
                    <a:p>
                      <a:r>
                        <a:rPr lang="en-US" sz="1400" b="1"/>
                        <a:t>Description</a:t>
                      </a:r>
                      <a:endParaRPr lang="en-US" sz="1400"/>
                    </a:p>
                  </a:txBody>
                  <a:tcPr anchor="ctr"/>
                </a:tc>
                <a:extLst>
                  <a:ext uri="{0D108BD9-81ED-4DB2-BD59-A6C34878D82A}">
                    <a16:rowId xmlns:a16="http://schemas.microsoft.com/office/drawing/2014/main" val="1027026883"/>
                  </a:ext>
                </a:extLst>
              </a:tr>
              <a:tr h="370840">
                <a:tc>
                  <a:txBody>
                    <a:bodyPr/>
                    <a:lstStyle/>
                    <a:p>
                      <a:r>
                        <a:rPr lang="en-US" sz="1400"/>
                        <a:t>NFR1</a:t>
                      </a:r>
                    </a:p>
                  </a:txBody>
                  <a:tcPr anchor="ctr"/>
                </a:tc>
                <a:tc>
                  <a:txBody>
                    <a:bodyPr/>
                    <a:lstStyle/>
                    <a:p>
                      <a:r>
                        <a:rPr lang="en-US" sz="1400"/>
                        <a:t>Performance</a:t>
                      </a:r>
                    </a:p>
                  </a:txBody>
                  <a:tcPr anchor="ctr"/>
                </a:tc>
                <a:tc>
                  <a:txBody>
                    <a:bodyPr/>
                    <a:lstStyle/>
                    <a:p>
                      <a:r>
                        <a:rPr lang="en-US" sz="1400"/>
                        <a:t>The system should classify an image within 3–5 seconds.</a:t>
                      </a:r>
                    </a:p>
                  </a:txBody>
                  <a:tcPr anchor="ctr"/>
                </a:tc>
                <a:extLst>
                  <a:ext uri="{0D108BD9-81ED-4DB2-BD59-A6C34878D82A}">
                    <a16:rowId xmlns:a16="http://schemas.microsoft.com/office/drawing/2014/main" val="2557753409"/>
                  </a:ext>
                </a:extLst>
              </a:tr>
              <a:tr h="370840">
                <a:tc>
                  <a:txBody>
                    <a:bodyPr/>
                    <a:lstStyle/>
                    <a:p>
                      <a:r>
                        <a:rPr lang="en-US" sz="1400"/>
                        <a:t>NFR2</a:t>
                      </a:r>
                    </a:p>
                  </a:txBody>
                  <a:tcPr anchor="ctr"/>
                </a:tc>
                <a:tc>
                  <a:txBody>
                    <a:bodyPr/>
                    <a:lstStyle/>
                    <a:p>
                      <a:r>
                        <a:rPr lang="en-US" sz="1400"/>
                        <a:t>Accuracy</a:t>
                      </a:r>
                    </a:p>
                  </a:txBody>
                  <a:tcPr anchor="ctr"/>
                </a:tc>
                <a:tc>
                  <a:txBody>
                    <a:bodyPr/>
                    <a:lstStyle/>
                    <a:p>
                      <a:r>
                        <a:rPr lang="en-US" sz="1400"/>
                        <a:t>The AI model should maintain a minimum accuracy of 90%.</a:t>
                      </a:r>
                    </a:p>
                  </a:txBody>
                  <a:tcPr anchor="ctr"/>
                </a:tc>
                <a:extLst>
                  <a:ext uri="{0D108BD9-81ED-4DB2-BD59-A6C34878D82A}">
                    <a16:rowId xmlns:a16="http://schemas.microsoft.com/office/drawing/2014/main" val="1293335639"/>
                  </a:ext>
                </a:extLst>
              </a:tr>
              <a:tr h="370840">
                <a:tc>
                  <a:txBody>
                    <a:bodyPr/>
                    <a:lstStyle/>
                    <a:p>
                      <a:r>
                        <a:rPr lang="en-US" sz="1400"/>
                        <a:t>NFR3</a:t>
                      </a:r>
                    </a:p>
                  </a:txBody>
                  <a:tcPr anchor="ctr"/>
                </a:tc>
                <a:tc>
                  <a:txBody>
                    <a:bodyPr/>
                    <a:lstStyle/>
                    <a:p>
                      <a:r>
                        <a:rPr lang="en-US" sz="1400"/>
                        <a:t>Security</a:t>
                      </a:r>
                    </a:p>
                  </a:txBody>
                  <a:tcPr anchor="ctr"/>
                </a:tc>
                <a:tc>
                  <a:txBody>
                    <a:bodyPr/>
                    <a:lstStyle/>
                    <a:p>
                      <a:r>
                        <a:rPr lang="en-US" sz="1400"/>
                        <a:t>User images and results must be handled securely and not shared without permission.</a:t>
                      </a:r>
                    </a:p>
                  </a:txBody>
                  <a:tcPr anchor="ctr"/>
                </a:tc>
                <a:extLst>
                  <a:ext uri="{0D108BD9-81ED-4DB2-BD59-A6C34878D82A}">
                    <a16:rowId xmlns:a16="http://schemas.microsoft.com/office/drawing/2014/main" val="1312333363"/>
                  </a:ext>
                </a:extLst>
              </a:tr>
              <a:tr h="370840">
                <a:tc>
                  <a:txBody>
                    <a:bodyPr/>
                    <a:lstStyle/>
                    <a:p>
                      <a:r>
                        <a:rPr lang="en-US" sz="1400"/>
                        <a:t>NFR4</a:t>
                      </a:r>
                    </a:p>
                  </a:txBody>
                  <a:tcPr anchor="ctr"/>
                </a:tc>
                <a:tc>
                  <a:txBody>
                    <a:bodyPr/>
                    <a:lstStyle/>
                    <a:p>
                      <a:r>
                        <a:rPr lang="en-US" sz="1400"/>
                        <a:t>Usability</a:t>
                      </a:r>
                    </a:p>
                  </a:txBody>
                  <a:tcPr anchor="ctr"/>
                </a:tc>
                <a:tc>
                  <a:txBody>
                    <a:bodyPr/>
                    <a:lstStyle/>
                    <a:p>
                      <a:r>
                        <a:rPr lang="en-US" sz="1400"/>
                        <a:t>The app interface should be clear and easy to use by non-technical users.</a:t>
                      </a:r>
                    </a:p>
                  </a:txBody>
                  <a:tcPr anchor="ctr"/>
                </a:tc>
                <a:extLst>
                  <a:ext uri="{0D108BD9-81ED-4DB2-BD59-A6C34878D82A}">
                    <a16:rowId xmlns:a16="http://schemas.microsoft.com/office/drawing/2014/main" val="556943866"/>
                  </a:ext>
                </a:extLst>
              </a:tr>
              <a:tr h="370840">
                <a:tc>
                  <a:txBody>
                    <a:bodyPr/>
                    <a:lstStyle/>
                    <a:p>
                      <a:r>
                        <a:rPr lang="en-US" sz="1400"/>
                        <a:t>NFR5</a:t>
                      </a:r>
                    </a:p>
                  </a:txBody>
                  <a:tcPr anchor="ctr"/>
                </a:tc>
                <a:tc>
                  <a:txBody>
                    <a:bodyPr/>
                    <a:lstStyle/>
                    <a:p>
                      <a:r>
                        <a:rPr lang="en-US" sz="1400"/>
                        <a:t>Reliability</a:t>
                      </a:r>
                    </a:p>
                  </a:txBody>
                  <a:tcPr anchor="ctr"/>
                </a:tc>
                <a:tc>
                  <a:txBody>
                    <a:bodyPr/>
                    <a:lstStyle/>
                    <a:p>
                      <a:r>
                        <a:rPr lang="en-US" sz="1400"/>
                        <a:t>The system should operate correctly under normal conditions without crashes.</a:t>
                      </a:r>
                    </a:p>
                  </a:txBody>
                  <a:tcPr anchor="ctr"/>
                </a:tc>
                <a:extLst>
                  <a:ext uri="{0D108BD9-81ED-4DB2-BD59-A6C34878D82A}">
                    <a16:rowId xmlns:a16="http://schemas.microsoft.com/office/drawing/2014/main" val="1825436447"/>
                  </a:ext>
                </a:extLst>
              </a:tr>
              <a:tr h="370840">
                <a:tc>
                  <a:txBody>
                    <a:bodyPr/>
                    <a:lstStyle/>
                    <a:p>
                      <a:r>
                        <a:rPr lang="en-US" sz="1400" dirty="0"/>
                        <a:t>NFR6</a:t>
                      </a:r>
                    </a:p>
                  </a:txBody>
                  <a:tcPr anchor="ctr"/>
                </a:tc>
                <a:tc>
                  <a:txBody>
                    <a:bodyPr/>
                    <a:lstStyle/>
                    <a:p>
                      <a:r>
                        <a:rPr lang="en-US" sz="1400"/>
                        <a:t>Compatibility</a:t>
                      </a:r>
                    </a:p>
                  </a:txBody>
                  <a:tcPr anchor="ctr"/>
                </a:tc>
                <a:tc>
                  <a:txBody>
                    <a:bodyPr/>
                    <a:lstStyle/>
                    <a:p>
                      <a:r>
                        <a:rPr lang="en-US" sz="1400" dirty="0"/>
                        <a:t>The app must support Android 10 and above.</a:t>
                      </a:r>
                    </a:p>
                  </a:txBody>
                  <a:tcPr anchor="ctr"/>
                </a:tc>
                <a:extLst>
                  <a:ext uri="{0D108BD9-81ED-4DB2-BD59-A6C34878D82A}">
                    <a16:rowId xmlns:a16="http://schemas.microsoft.com/office/drawing/2014/main" val="1106181868"/>
                  </a:ext>
                </a:extLst>
              </a:tr>
              <a:tr h="370840">
                <a:tc>
                  <a:txBody>
                    <a:bodyPr/>
                    <a:lstStyle/>
                    <a:p>
                      <a:r>
                        <a:rPr lang="en-US" sz="1400" dirty="0"/>
                        <a:t>NFR7</a:t>
                      </a:r>
                    </a:p>
                  </a:txBody>
                  <a:tcPr anchor="ctr"/>
                </a:tc>
                <a:tc>
                  <a:txBody>
                    <a:bodyPr/>
                    <a:lstStyle/>
                    <a:p>
                      <a:r>
                        <a:rPr lang="en-US" sz="1400"/>
                        <a:t>Maintainability</a:t>
                      </a:r>
                    </a:p>
                  </a:txBody>
                  <a:tcPr anchor="ctr"/>
                </a:tc>
                <a:tc>
                  <a:txBody>
                    <a:bodyPr/>
                    <a:lstStyle/>
                    <a:p>
                      <a:r>
                        <a:rPr lang="en-US" sz="1400"/>
                        <a:t>The code should be modular and well-documented for easy maintenance.</a:t>
                      </a:r>
                    </a:p>
                  </a:txBody>
                  <a:tcPr anchor="ctr"/>
                </a:tc>
                <a:extLst>
                  <a:ext uri="{0D108BD9-81ED-4DB2-BD59-A6C34878D82A}">
                    <a16:rowId xmlns:a16="http://schemas.microsoft.com/office/drawing/2014/main" val="4167925395"/>
                  </a:ext>
                </a:extLst>
              </a:tr>
              <a:tr h="370840">
                <a:tc>
                  <a:txBody>
                    <a:bodyPr/>
                    <a:lstStyle/>
                    <a:p>
                      <a:r>
                        <a:rPr lang="en-US" sz="1400" dirty="0"/>
                        <a:t>NFR8</a:t>
                      </a:r>
                    </a:p>
                  </a:txBody>
                  <a:tcPr anchor="ctr"/>
                </a:tc>
                <a:tc>
                  <a:txBody>
                    <a:bodyPr/>
                    <a:lstStyle/>
                    <a:p>
                      <a:r>
                        <a:rPr lang="en-US" sz="1400"/>
                        <a:t>Availability</a:t>
                      </a:r>
                    </a:p>
                  </a:txBody>
                  <a:tcPr anchor="ctr"/>
                </a:tc>
                <a:tc>
                  <a:txBody>
                    <a:bodyPr/>
                    <a:lstStyle/>
                    <a:p>
                      <a:r>
                        <a:rPr lang="en-US" sz="1400" dirty="0"/>
                        <a:t>The app should be available and responsive 24/7 when used offline or online.</a:t>
                      </a:r>
                    </a:p>
                  </a:txBody>
                  <a:tcPr anchor="ctr"/>
                </a:tc>
                <a:extLst>
                  <a:ext uri="{0D108BD9-81ED-4DB2-BD59-A6C34878D82A}">
                    <a16:rowId xmlns:a16="http://schemas.microsoft.com/office/drawing/2014/main" val="1976316404"/>
                  </a:ext>
                </a:extLst>
              </a:tr>
            </a:tbl>
          </a:graphicData>
        </a:graphic>
      </p:graphicFrame>
      <p:sp>
        <p:nvSpPr>
          <p:cNvPr id="4" name="Date Placeholder 3">
            <a:extLst>
              <a:ext uri="{FF2B5EF4-FFF2-40B4-BE49-F238E27FC236}">
                <a16:creationId xmlns:a16="http://schemas.microsoft.com/office/drawing/2014/main" id="{2D5858F9-DCE8-9E2C-17AC-5A849876FFF9}"/>
              </a:ext>
            </a:extLst>
          </p:cNvPr>
          <p:cNvSpPr>
            <a:spLocks noGrp="1"/>
          </p:cNvSpPr>
          <p:nvPr>
            <p:ph type="dt" sz="half" idx="10"/>
          </p:nvPr>
        </p:nvSpPr>
        <p:spPr/>
        <p:txBody>
          <a:bodyPr/>
          <a:lstStyle/>
          <a:p>
            <a:fld id="{DF06F12F-02D3-425D-BF4C-BBE4220292D9}" type="datetime1">
              <a:rPr lang="en-US" smtClean="0"/>
              <a:t>12/22/2025</a:t>
            </a:fld>
            <a:endParaRPr lang="en-US"/>
          </a:p>
        </p:txBody>
      </p:sp>
      <p:sp>
        <p:nvSpPr>
          <p:cNvPr id="5" name="Slide Number Placeholder 4">
            <a:extLst>
              <a:ext uri="{FF2B5EF4-FFF2-40B4-BE49-F238E27FC236}">
                <a16:creationId xmlns:a16="http://schemas.microsoft.com/office/drawing/2014/main" id="{900A8E2B-3D11-ED83-C8DA-E0F17BB81AD2}"/>
              </a:ext>
            </a:extLst>
          </p:cNvPr>
          <p:cNvSpPr>
            <a:spLocks noGrp="1"/>
          </p:cNvSpPr>
          <p:nvPr>
            <p:ph type="sldNum" sz="quarter" idx="12"/>
          </p:nvPr>
        </p:nvSpPr>
        <p:spPr/>
        <p:txBody>
          <a:bodyPr/>
          <a:lstStyle/>
          <a:p>
            <a:fld id="{40742BEA-48CF-4F32-AFB8-C9C4AAF5269A}" type="slidenum">
              <a:rPr lang="en-US" smtClean="0"/>
              <a:t>30</a:t>
            </a:fld>
            <a:endParaRPr lang="en-US"/>
          </a:p>
        </p:txBody>
      </p:sp>
    </p:spTree>
    <p:extLst>
      <p:ext uri="{BB962C8B-B14F-4D97-AF65-F5344CB8AC3E}">
        <p14:creationId xmlns:p14="http://schemas.microsoft.com/office/powerpoint/2010/main" val="631879841"/>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F00B463-0179-8112-3712-20915286B82D}"/>
              </a:ext>
            </a:extLst>
          </p:cNvPr>
          <p:cNvSpPr>
            <a:spLocks noGrp="1"/>
          </p:cNvSpPr>
          <p:nvPr>
            <p:ph type="title"/>
          </p:nvPr>
        </p:nvSpPr>
        <p:spPr>
          <a:xfrm>
            <a:off x="340571" y="232373"/>
            <a:ext cx="9074018" cy="542068"/>
          </a:xfrm>
        </p:spPr>
        <p:txBody>
          <a:bodyPr>
            <a:normAutofit fontScale="90000"/>
          </a:bodyPr>
          <a:lstStyle/>
          <a:p>
            <a:r>
              <a:rPr lang="en-US" dirty="0"/>
              <a:t> </a:t>
            </a:r>
            <a:r>
              <a:rPr lang="en-US" b="1" dirty="0"/>
              <a:t>Requirements Traceability Matrix (RTM)</a:t>
            </a:r>
            <a:endParaRPr lang="en-US" dirty="0"/>
          </a:p>
        </p:txBody>
      </p:sp>
      <p:graphicFrame>
        <p:nvGraphicFramePr>
          <p:cNvPr id="6" name="Table 6">
            <a:extLst>
              <a:ext uri="{FF2B5EF4-FFF2-40B4-BE49-F238E27FC236}">
                <a16:creationId xmlns:a16="http://schemas.microsoft.com/office/drawing/2014/main" id="{93DD2F09-607E-93DC-2691-BC0C5A1541AB}"/>
              </a:ext>
            </a:extLst>
          </p:cNvPr>
          <p:cNvGraphicFramePr>
            <a:graphicFrameLocks noGrp="1"/>
          </p:cNvGraphicFramePr>
          <p:nvPr>
            <p:ph idx="1"/>
            <p:extLst>
              <p:ext uri="{D42A27DB-BD31-4B8C-83A1-F6EECF244321}">
                <p14:modId xmlns:p14="http://schemas.microsoft.com/office/powerpoint/2010/main" val="2493196859"/>
              </p:ext>
            </p:extLst>
          </p:nvPr>
        </p:nvGraphicFramePr>
        <p:xfrm>
          <a:off x="508518" y="1094247"/>
          <a:ext cx="9681340" cy="4616085"/>
        </p:xfrm>
        <a:graphic>
          <a:graphicData uri="http://schemas.openxmlformats.org/drawingml/2006/table">
            <a:tbl>
              <a:tblPr firstRow="1" bandRow="1">
                <a:tableStyleId>{5C22544A-7EE6-4342-B048-85BDC9FD1C3A}</a:tableStyleId>
              </a:tblPr>
              <a:tblGrid>
                <a:gridCol w="1936268">
                  <a:extLst>
                    <a:ext uri="{9D8B030D-6E8A-4147-A177-3AD203B41FA5}">
                      <a16:colId xmlns:a16="http://schemas.microsoft.com/office/drawing/2014/main" val="2393941720"/>
                    </a:ext>
                  </a:extLst>
                </a:gridCol>
                <a:gridCol w="1936268">
                  <a:extLst>
                    <a:ext uri="{9D8B030D-6E8A-4147-A177-3AD203B41FA5}">
                      <a16:colId xmlns:a16="http://schemas.microsoft.com/office/drawing/2014/main" val="1752497314"/>
                    </a:ext>
                  </a:extLst>
                </a:gridCol>
                <a:gridCol w="1936268">
                  <a:extLst>
                    <a:ext uri="{9D8B030D-6E8A-4147-A177-3AD203B41FA5}">
                      <a16:colId xmlns:a16="http://schemas.microsoft.com/office/drawing/2014/main" val="2628681477"/>
                    </a:ext>
                  </a:extLst>
                </a:gridCol>
                <a:gridCol w="1936268">
                  <a:extLst>
                    <a:ext uri="{9D8B030D-6E8A-4147-A177-3AD203B41FA5}">
                      <a16:colId xmlns:a16="http://schemas.microsoft.com/office/drawing/2014/main" val="1289049900"/>
                    </a:ext>
                  </a:extLst>
                </a:gridCol>
                <a:gridCol w="1936268">
                  <a:extLst>
                    <a:ext uri="{9D8B030D-6E8A-4147-A177-3AD203B41FA5}">
                      <a16:colId xmlns:a16="http://schemas.microsoft.com/office/drawing/2014/main" val="3406458877"/>
                    </a:ext>
                  </a:extLst>
                </a:gridCol>
              </a:tblGrid>
              <a:tr h="749519">
                <a:tc>
                  <a:txBody>
                    <a:bodyPr/>
                    <a:lstStyle/>
                    <a:p>
                      <a:r>
                        <a:rPr lang="en-US" b="1" dirty="0"/>
                        <a:t>ID</a:t>
                      </a:r>
                      <a:endParaRPr lang="en-US" dirty="0"/>
                    </a:p>
                  </a:txBody>
                  <a:tcPr anchor="ctr"/>
                </a:tc>
                <a:tc>
                  <a:txBody>
                    <a:bodyPr/>
                    <a:lstStyle/>
                    <a:p>
                      <a:r>
                        <a:rPr lang="en-US" b="1"/>
                        <a:t>Requirement Name</a:t>
                      </a:r>
                      <a:endParaRPr lang="en-US"/>
                    </a:p>
                  </a:txBody>
                  <a:tcPr anchor="ctr"/>
                </a:tc>
                <a:tc>
                  <a:txBody>
                    <a:bodyPr/>
                    <a:lstStyle/>
                    <a:p>
                      <a:r>
                        <a:rPr lang="en-US" b="1"/>
                        <a:t>Type</a:t>
                      </a:r>
                      <a:endParaRPr lang="en-US"/>
                    </a:p>
                  </a:txBody>
                  <a:tcPr anchor="ctr"/>
                </a:tc>
                <a:tc>
                  <a:txBody>
                    <a:bodyPr/>
                    <a:lstStyle/>
                    <a:p>
                      <a:r>
                        <a:rPr lang="en-US" b="1" dirty="0"/>
                        <a:t>Priority</a:t>
                      </a:r>
                      <a:endParaRPr lang="en-US" dirty="0"/>
                    </a:p>
                  </a:txBody>
                  <a:tcPr anchor="ctr"/>
                </a:tc>
                <a:tc>
                  <a:txBody>
                    <a:bodyPr/>
                    <a:lstStyle/>
                    <a:p>
                      <a:r>
                        <a:rPr lang="en-US" b="1" dirty="0"/>
                        <a:t>Dependency</a:t>
                      </a:r>
                      <a:endParaRPr lang="en-US" dirty="0"/>
                    </a:p>
                  </a:txBody>
                  <a:tcPr anchor="ctr"/>
                </a:tc>
                <a:extLst>
                  <a:ext uri="{0D108BD9-81ED-4DB2-BD59-A6C34878D82A}">
                    <a16:rowId xmlns:a16="http://schemas.microsoft.com/office/drawing/2014/main" val="4241054173"/>
                  </a:ext>
                </a:extLst>
              </a:tr>
              <a:tr h="749519">
                <a:tc>
                  <a:txBody>
                    <a:bodyPr/>
                    <a:lstStyle/>
                    <a:p>
                      <a:r>
                        <a:rPr lang="en-US"/>
                        <a:t>FR1</a:t>
                      </a:r>
                    </a:p>
                  </a:txBody>
                  <a:tcPr anchor="ctr"/>
                </a:tc>
                <a:tc>
                  <a:txBody>
                    <a:bodyPr/>
                    <a:lstStyle/>
                    <a:p>
                      <a:r>
                        <a:rPr lang="en-US"/>
                        <a:t>Upload MRI Image</a:t>
                      </a:r>
                    </a:p>
                  </a:txBody>
                  <a:tcPr anchor="ctr"/>
                </a:tc>
                <a:tc>
                  <a:txBody>
                    <a:bodyPr/>
                    <a:lstStyle/>
                    <a:p>
                      <a:r>
                        <a:rPr lang="en-US"/>
                        <a:t>Functional</a:t>
                      </a:r>
                    </a:p>
                  </a:txBody>
                  <a:tcPr anchor="ctr"/>
                </a:tc>
                <a:tc>
                  <a:txBody>
                    <a:bodyPr/>
                    <a:lstStyle/>
                    <a:p>
                      <a:r>
                        <a:rPr lang="en-US"/>
                        <a:t>High</a:t>
                      </a:r>
                    </a:p>
                  </a:txBody>
                  <a:tcPr anchor="ctr"/>
                </a:tc>
                <a:tc>
                  <a:txBody>
                    <a:bodyPr/>
                    <a:lstStyle/>
                    <a:p>
                      <a:r>
                        <a:rPr lang="en-US"/>
                        <a:t>Start App</a:t>
                      </a:r>
                    </a:p>
                  </a:txBody>
                  <a:tcPr anchor="ctr"/>
                </a:tc>
                <a:extLst>
                  <a:ext uri="{0D108BD9-81ED-4DB2-BD59-A6C34878D82A}">
                    <a16:rowId xmlns:a16="http://schemas.microsoft.com/office/drawing/2014/main" val="2867397709"/>
                  </a:ext>
                </a:extLst>
              </a:tr>
              <a:tr h="749519">
                <a:tc>
                  <a:txBody>
                    <a:bodyPr/>
                    <a:lstStyle/>
                    <a:p>
                      <a:r>
                        <a:rPr lang="en-US" dirty="0"/>
                        <a:t>FR2</a:t>
                      </a:r>
                    </a:p>
                  </a:txBody>
                  <a:tcPr anchor="ctr"/>
                </a:tc>
                <a:tc>
                  <a:txBody>
                    <a:bodyPr/>
                    <a:lstStyle/>
                    <a:p>
                      <a:r>
                        <a:rPr lang="en-US"/>
                        <a:t>Preprocess Image</a:t>
                      </a:r>
                    </a:p>
                  </a:txBody>
                  <a:tcPr anchor="ctr"/>
                </a:tc>
                <a:tc>
                  <a:txBody>
                    <a:bodyPr/>
                    <a:lstStyle/>
                    <a:p>
                      <a:r>
                        <a:rPr lang="en-US"/>
                        <a:t>Functional</a:t>
                      </a:r>
                    </a:p>
                  </a:txBody>
                  <a:tcPr anchor="ctr"/>
                </a:tc>
                <a:tc>
                  <a:txBody>
                    <a:bodyPr/>
                    <a:lstStyle/>
                    <a:p>
                      <a:r>
                        <a:rPr lang="en-US"/>
                        <a:t>High</a:t>
                      </a:r>
                    </a:p>
                  </a:txBody>
                  <a:tcPr anchor="ctr"/>
                </a:tc>
                <a:tc>
                  <a:txBody>
                    <a:bodyPr/>
                    <a:lstStyle/>
                    <a:p>
                      <a:r>
                        <a:rPr lang="en-US"/>
                        <a:t>Upload Image</a:t>
                      </a:r>
                    </a:p>
                  </a:txBody>
                  <a:tcPr anchor="ctr"/>
                </a:tc>
                <a:extLst>
                  <a:ext uri="{0D108BD9-81ED-4DB2-BD59-A6C34878D82A}">
                    <a16:rowId xmlns:a16="http://schemas.microsoft.com/office/drawing/2014/main" val="409589229"/>
                  </a:ext>
                </a:extLst>
              </a:tr>
              <a:tr h="749519">
                <a:tc>
                  <a:txBody>
                    <a:bodyPr/>
                    <a:lstStyle/>
                    <a:p>
                      <a:r>
                        <a:rPr lang="en-US"/>
                        <a:t>FR3</a:t>
                      </a:r>
                    </a:p>
                  </a:txBody>
                  <a:tcPr anchor="ctr"/>
                </a:tc>
                <a:tc>
                  <a:txBody>
                    <a:bodyPr/>
                    <a:lstStyle/>
                    <a:p>
                      <a:r>
                        <a:rPr lang="en-US"/>
                        <a:t>Classify Image using VGG16</a:t>
                      </a:r>
                    </a:p>
                  </a:txBody>
                  <a:tcPr anchor="ctr"/>
                </a:tc>
                <a:tc>
                  <a:txBody>
                    <a:bodyPr/>
                    <a:lstStyle/>
                    <a:p>
                      <a:r>
                        <a:rPr lang="en-US"/>
                        <a:t>Functional</a:t>
                      </a:r>
                    </a:p>
                  </a:txBody>
                  <a:tcPr anchor="ctr"/>
                </a:tc>
                <a:tc>
                  <a:txBody>
                    <a:bodyPr/>
                    <a:lstStyle/>
                    <a:p>
                      <a:r>
                        <a:rPr lang="en-US"/>
                        <a:t>High</a:t>
                      </a:r>
                    </a:p>
                  </a:txBody>
                  <a:tcPr anchor="ctr"/>
                </a:tc>
                <a:tc>
                  <a:txBody>
                    <a:bodyPr/>
                    <a:lstStyle/>
                    <a:p>
                      <a:r>
                        <a:rPr lang="en-US"/>
                        <a:t>Preprocess Image</a:t>
                      </a:r>
                    </a:p>
                  </a:txBody>
                  <a:tcPr anchor="ctr"/>
                </a:tc>
                <a:extLst>
                  <a:ext uri="{0D108BD9-81ED-4DB2-BD59-A6C34878D82A}">
                    <a16:rowId xmlns:a16="http://schemas.microsoft.com/office/drawing/2014/main" val="2752334611"/>
                  </a:ext>
                </a:extLst>
              </a:tr>
              <a:tr h="749519">
                <a:tc>
                  <a:txBody>
                    <a:bodyPr/>
                    <a:lstStyle/>
                    <a:p>
                      <a:r>
                        <a:rPr lang="en-US"/>
                        <a:t>FR4</a:t>
                      </a:r>
                    </a:p>
                  </a:txBody>
                  <a:tcPr anchor="ctr"/>
                </a:tc>
                <a:tc>
                  <a:txBody>
                    <a:bodyPr/>
                    <a:lstStyle/>
                    <a:p>
                      <a:r>
                        <a:rPr lang="en-US"/>
                        <a:t>Display Result with Accuracy</a:t>
                      </a:r>
                    </a:p>
                  </a:txBody>
                  <a:tcPr anchor="ctr"/>
                </a:tc>
                <a:tc>
                  <a:txBody>
                    <a:bodyPr/>
                    <a:lstStyle/>
                    <a:p>
                      <a:r>
                        <a:rPr lang="en-US"/>
                        <a:t>Functional</a:t>
                      </a:r>
                    </a:p>
                  </a:txBody>
                  <a:tcPr anchor="ctr"/>
                </a:tc>
                <a:tc>
                  <a:txBody>
                    <a:bodyPr/>
                    <a:lstStyle/>
                    <a:p>
                      <a:r>
                        <a:rPr lang="en-US"/>
                        <a:t>High</a:t>
                      </a:r>
                    </a:p>
                  </a:txBody>
                  <a:tcPr anchor="ctr"/>
                </a:tc>
                <a:tc>
                  <a:txBody>
                    <a:bodyPr/>
                    <a:lstStyle/>
                    <a:p>
                      <a:r>
                        <a:rPr lang="en-US"/>
                        <a:t>Classify Image</a:t>
                      </a:r>
                    </a:p>
                  </a:txBody>
                  <a:tcPr anchor="ctr"/>
                </a:tc>
                <a:extLst>
                  <a:ext uri="{0D108BD9-81ED-4DB2-BD59-A6C34878D82A}">
                    <a16:rowId xmlns:a16="http://schemas.microsoft.com/office/drawing/2014/main" val="3219864139"/>
                  </a:ext>
                </a:extLst>
              </a:tr>
              <a:tr h="434245">
                <a:tc>
                  <a:txBody>
                    <a:bodyPr/>
                    <a:lstStyle/>
                    <a:p>
                      <a:r>
                        <a:rPr lang="en-US"/>
                        <a:t>FR5</a:t>
                      </a:r>
                    </a:p>
                  </a:txBody>
                  <a:tcPr anchor="ctr"/>
                </a:tc>
                <a:tc>
                  <a:txBody>
                    <a:bodyPr/>
                    <a:lstStyle/>
                    <a:p>
                      <a:r>
                        <a:rPr lang="en-US"/>
                        <a:t>Save Result</a:t>
                      </a:r>
                    </a:p>
                  </a:txBody>
                  <a:tcPr anchor="ctr"/>
                </a:tc>
                <a:tc>
                  <a:txBody>
                    <a:bodyPr/>
                    <a:lstStyle/>
                    <a:p>
                      <a:r>
                        <a:rPr lang="en-US"/>
                        <a:t>Functional</a:t>
                      </a:r>
                    </a:p>
                  </a:txBody>
                  <a:tcPr anchor="ctr"/>
                </a:tc>
                <a:tc>
                  <a:txBody>
                    <a:bodyPr/>
                    <a:lstStyle/>
                    <a:p>
                      <a:r>
                        <a:rPr lang="en-US"/>
                        <a:t>Medium</a:t>
                      </a:r>
                    </a:p>
                  </a:txBody>
                  <a:tcPr anchor="ctr"/>
                </a:tc>
                <a:tc>
                  <a:txBody>
                    <a:bodyPr/>
                    <a:lstStyle/>
                    <a:p>
                      <a:r>
                        <a:rPr lang="en-US" dirty="0"/>
                        <a:t>Display Result</a:t>
                      </a:r>
                    </a:p>
                  </a:txBody>
                  <a:tcPr anchor="ctr"/>
                </a:tc>
                <a:extLst>
                  <a:ext uri="{0D108BD9-81ED-4DB2-BD59-A6C34878D82A}">
                    <a16:rowId xmlns:a16="http://schemas.microsoft.com/office/drawing/2014/main" val="252877495"/>
                  </a:ext>
                </a:extLst>
              </a:tr>
              <a:tr h="434245">
                <a:tc>
                  <a:txBody>
                    <a:bodyPr/>
                    <a:lstStyle/>
                    <a:p>
                      <a:r>
                        <a:rPr lang="en-US"/>
                        <a:t>FR6</a:t>
                      </a:r>
                    </a:p>
                  </a:txBody>
                  <a:tcPr anchor="ctr"/>
                </a:tc>
                <a:tc>
                  <a:txBody>
                    <a:bodyPr/>
                    <a:lstStyle/>
                    <a:p>
                      <a:r>
                        <a:rPr lang="en-US"/>
                        <a:t>View History</a:t>
                      </a:r>
                    </a:p>
                  </a:txBody>
                  <a:tcPr anchor="ctr"/>
                </a:tc>
                <a:tc>
                  <a:txBody>
                    <a:bodyPr/>
                    <a:lstStyle/>
                    <a:p>
                      <a:r>
                        <a:rPr lang="en-US"/>
                        <a:t>Functional</a:t>
                      </a:r>
                    </a:p>
                  </a:txBody>
                  <a:tcPr anchor="ctr"/>
                </a:tc>
                <a:tc>
                  <a:txBody>
                    <a:bodyPr/>
                    <a:lstStyle/>
                    <a:p>
                      <a:r>
                        <a:rPr lang="en-US"/>
                        <a:t>Medium</a:t>
                      </a:r>
                    </a:p>
                  </a:txBody>
                  <a:tcPr anchor="ctr"/>
                </a:tc>
                <a:tc>
                  <a:txBody>
                    <a:bodyPr/>
                    <a:lstStyle/>
                    <a:p>
                      <a:r>
                        <a:rPr lang="en-US" dirty="0"/>
                        <a:t>Save Result</a:t>
                      </a:r>
                    </a:p>
                  </a:txBody>
                  <a:tcPr anchor="ctr"/>
                </a:tc>
                <a:extLst>
                  <a:ext uri="{0D108BD9-81ED-4DB2-BD59-A6C34878D82A}">
                    <a16:rowId xmlns:a16="http://schemas.microsoft.com/office/drawing/2014/main" val="3118376462"/>
                  </a:ext>
                </a:extLst>
              </a:tr>
            </a:tbl>
          </a:graphicData>
        </a:graphic>
      </p:graphicFrame>
      <p:sp>
        <p:nvSpPr>
          <p:cNvPr id="4" name="Date Placeholder 3">
            <a:extLst>
              <a:ext uri="{FF2B5EF4-FFF2-40B4-BE49-F238E27FC236}">
                <a16:creationId xmlns:a16="http://schemas.microsoft.com/office/drawing/2014/main" id="{862C9E24-B1EE-3A56-38C1-CFCE8F2E937F}"/>
              </a:ext>
            </a:extLst>
          </p:cNvPr>
          <p:cNvSpPr>
            <a:spLocks noGrp="1"/>
          </p:cNvSpPr>
          <p:nvPr>
            <p:ph type="dt" sz="half" idx="10"/>
          </p:nvPr>
        </p:nvSpPr>
        <p:spPr/>
        <p:txBody>
          <a:bodyPr/>
          <a:lstStyle/>
          <a:p>
            <a:fld id="{DF06F12F-02D3-425D-BF4C-BBE4220292D9}" type="datetime1">
              <a:rPr lang="en-US" smtClean="0"/>
              <a:t>12/22/2025</a:t>
            </a:fld>
            <a:endParaRPr lang="en-US"/>
          </a:p>
        </p:txBody>
      </p:sp>
      <p:sp>
        <p:nvSpPr>
          <p:cNvPr id="5" name="Slide Number Placeholder 4">
            <a:extLst>
              <a:ext uri="{FF2B5EF4-FFF2-40B4-BE49-F238E27FC236}">
                <a16:creationId xmlns:a16="http://schemas.microsoft.com/office/drawing/2014/main" id="{B14348C0-767C-3827-7D42-3FA44569F70C}"/>
              </a:ext>
            </a:extLst>
          </p:cNvPr>
          <p:cNvSpPr>
            <a:spLocks noGrp="1"/>
          </p:cNvSpPr>
          <p:nvPr>
            <p:ph type="sldNum" sz="quarter" idx="12"/>
          </p:nvPr>
        </p:nvSpPr>
        <p:spPr/>
        <p:txBody>
          <a:bodyPr/>
          <a:lstStyle/>
          <a:p>
            <a:fld id="{40742BEA-48CF-4F32-AFB8-C9C4AAF5269A}" type="slidenum">
              <a:rPr lang="en-US" smtClean="0"/>
              <a:t>31</a:t>
            </a:fld>
            <a:endParaRPr lang="en-US"/>
          </a:p>
        </p:txBody>
      </p:sp>
    </p:spTree>
    <p:extLst>
      <p:ext uri="{BB962C8B-B14F-4D97-AF65-F5344CB8AC3E}">
        <p14:creationId xmlns:p14="http://schemas.microsoft.com/office/powerpoint/2010/main" val="1690218252"/>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A48CB35-A964-7550-BC90-F95E6404B896}"/>
              </a:ext>
            </a:extLst>
          </p:cNvPr>
          <p:cNvSpPr>
            <a:spLocks noGrp="1"/>
          </p:cNvSpPr>
          <p:nvPr>
            <p:ph type="title"/>
          </p:nvPr>
        </p:nvSpPr>
        <p:spPr>
          <a:xfrm>
            <a:off x="685795" y="0"/>
            <a:ext cx="10131425" cy="1513574"/>
          </a:xfrm>
        </p:spPr>
        <p:txBody>
          <a:bodyPr/>
          <a:lstStyle/>
          <a:p>
            <a:r>
              <a:rPr lang="en-US" dirty="0"/>
              <a:t>RTM</a:t>
            </a:r>
          </a:p>
        </p:txBody>
      </p:sp>
      <p:graphicFrame>
        <p:nvGraphicFramePr>
          <p:cNvPr id="6" name="Table 6">
            <a:extLst>
              <a:ext uri="{FF2B5EF4-FFF2-40B4-BE49-F238E27FC236}">
                <a16:creationId xmlns:a16="http://schemas.microsoft.com/office/drawing/2014/main" id="{33BDBBC5-22FA-DCD9-70E0-8169FDDA40DB}"/>
              </a:ext>
            </a:extLst>
          </p:cNvPr>
          <p:cNvGraphicFramePr>
            <a:graphicFrameLocks noGrp="1"/>
          </p:cNvGraphicFramePr>
          <p:nvPr>
            <p:ph idx="1"/>
            <p:extLst>
              <p:ext uri="{D42A27DB-BD31-4B8C-83A1-F6EECF244321}">
                <p14:modId xmlns:p14="http://schemas.microsoft.com/office/powerpoint/2010/main" val="338063730"/>
              </p:ext>
            </p:extLst>
          </p:nvPr>
        </p:nvGraphicFramePr>
        <p:xfrm>
          <a:off x="527180" y="1701923"/>
          <a:ext cx="9157995" cy="3521790"/>
        </p:xfrm>
        <a:graphic>
          <a:graphicData uri="http://schemas.openxmlformats.org/drawingml/2006/table">
            <a:tbl>
              <a:tblPr firstRow="1" bandRow="1">
                <a:tableStyleId>{5C22544A-7EE6-4342-B048-85BDC9FD1C3A}</a:tableStyleId>
              </a:tblPr>
              <a:tblGrid>
                <a:gridCol w="1831599">
                  <a:extLst>
                    <a:ext uri="{9D8B030D-6E8A-4147-A177-3AD203B41FA5}">
                      <a16:colId xmlns:a16="http://schemas.microsoft.com/office/drawing/2014/main" val="276499990"/>
                    </a:ext>
                  </a:extLst>
                </a:gridCol>
                <a:gridCol w="1831599">
                  <a:extLst>
                    <a:ext uri="{9D8B030D-6E8A-4147-A177-3AD203B41FA5}">
                      <a16:colId xmlns:a16="http://schemas.microsoft.com/office/drawing/2014/main" val="1950627908"/>
                    </a:ext>
                  </a:extLst>
                </a:gridCol>
                <a:gridCol w="1831599">
                  <a:extLst>
                    <a:ext uri="{9D8B030D-6E8A-4147-A177-3AD203B41FA5}">
                      <a16:colId xmlns:a16="http://schemas.microsoft.com/office/drawing/2014/main" val="2994400998"/>
                    </a:ext>
                  </a:extLst>
                </a:gridCol>
                <a:gridCol w="1831599">
                  <a:extLst>
                    <a:ext uri="{9D8B030D-6E8A-4147-A177-3AD203B41FA5}">
                      <a16:colId xmlns:a16="http://schemas.microsoft.com/office/drawing/2014/main" val="2711863240"/>
                    </a:ext>
                  </a:extLst>
                </a:gridCol>
                <a:gridCol w="1831599">
                  <a:extLst>
                    <a:ext uri="{9D8B030D-6E8A-4147-A177-3AD203B41FA5}">
                      <a16:colId xmlns:a16="http://schemas.microsoft.com/office/drawing/2014/main" val="2056978514"/>
                    </a:ext>
                  </a:extLst>
                </a:gridCol>
              </a:tblGrid>
              <a:tr h="743292">
                <a:tc>
                  <a:txBody>
                    <a:bodyPr/>
                    <a:lstStyle/>
                    <a:p>
                      <a:r>
                        <a:rPr lang="en-US" b="1" dirty="0"/>
                        <a:t>ID</a:t>
                      </a:r>
                      <a:endParaRPr lang="en-US" dirty="0"/>
                    </a:p>
                  </a:txBody>
                  <a:tcPr anchor="ctr"/>
                </a:tc>
                <a:tc>
                  <a:txBody>
                    <a:bodyPr/>
                    <a:lstStyle/>
                    <a:p>
                      <a:r>
                        <a:rPr lang="en-US" b="1"/>
                        <a:t>Requirement Name</a:t>
                      </a:r>
                      <a:endParaRPr lang="en-US"/>
                    </a:p>
                  </a:txBody>
                  <a:tcPr anchor="ctr"/>
                </a:tc>
                <a:tc>
                  <a:txBody>
                    <a:bodyPr/>
                    <a:lstStyle/>
                    <a:p>
                      <a:r>
                        <a:rPr lang="en-US" b="1"/>
                        <a:t>Type</a:t>
                      </a:r>
                      <a:endParaRPr lang="en-US"/>
                    </a:p>
                  </a:txBody>
                  <a:tcPr anchor="ctr"/>
                </a:tc>
                <a:tc>
                  <a:txBody>
                    <a:bodyPr/>
                    <a:lstStyle/>
                    <a:p>
                      <a:r>
                        <a:rPr lang="en-US" b="1"/>
                        <a:t>Priority</a:t>
                      </a:r>
                      <a:endParaRPr lang="en-US"/>
                    </a:p>
                  </a:txBody>
                  <a:tcPr anchor="ctr"/>
                </a:tc>
                <a:tc>
                  <a:txBody>
                    <a:bodyPr/>
                    <a:lstStyle/>
                    <a:p>
                      <a:r>
                        <a:rPr lang="en-US" b="1" dirty="0"/>
                        <a:t>Dependency</a:t>
                      </a:r>
                      <a:endParaRPr lang="en-US" dirty="0"/>
                    </a:p>
                  </a:txBody>
                  <a:tcPr anchor="ctr"/>
                </a:tc>
                <a:extLst>
                  <a:ext uri="{0D108BD9-81ED-4DB2-BD59-A6C34878D82A}">
                    <a16:rowId xmlns:a16="http://schemas.microsoft.com/office/drawing/2014/main" val="1651903143"/>
                  </a:ext>
                </a:extLst>
              </a:tr>
              <a:tr h="743292">
                <a:tc>
                  <a:txBody>
                    <a:bodyPr/>
                    <a:lstStyle/>
                    <a:p>
                      <a:r>
                        <a:rPr lang="en-US" dirty="0"/>
                        <a:t>NFR1</a:t>
                      </a:r>
                    </a:p>
                  </a:txBody>
                  <a:tcPr anchor="ctr"/>
                </a:tc>
                <a:tc>
                  <a:txBody>
                    <a:bodyPr/>
                    <a:lstStyle/>
                    <a:p>
                      <a:r>
                        <a:rPr lang="en-US"/>
                        <a:t>Performance (≤5s per image)</a:t>
                      </a:r>
                    </a:p>
                  </a:txBody>
                  <a:tcPr anchor="ctr"/>
                </a:tc>
                <a:tc>
                  <a:txBody>
                    <a:bodyPr/>
                    <a:lstStyle/>
                    <a:p>
                      <a:r>
                        <a:rPr lang="en-US"/>
                        <a:t>Non-Functional</a:t>
                      </a:r>
                    </a:p>
                  </a:txBody>
                  <a:tcPr anchor="ctr"/>
                </a:tc>
                <a:tc>
                  <a:txBody>
                    <a:bodyPr/>
                    <a:lstStyle/>
                    <a:p>
                      <a:r>
                        <a:rPr lang="en-US"/>
                        <a:t>High</a:t>
                      </a:r>
                    </a:p>
                  </a:txBody>
                  <a:tcPr anchor="ctr"/>
                </a:tc>
                <a:tc>
                  <a:txBody>
                    <a:bodyPr/>
                    <a:lstStyle/>
                    <a:p>
                      <a:r>
                        <a:rPr lang="en-US" dirty="0"/>
                        <a:t>—</a:t>
                      </a:r>
                    </a:p>
                  </a:txBody>
                  <a:tcPr anchor="ctr"/>
                </a:tc>
                <a:extLst>
                  <a:ext uri="{0D108BD9-81ED-4DB2-BD59-A6C34878D82A}">
                    <a16:rowId xmlns:a16="http://schemas.microsoft.com/office/drawing/2014/main" val="2850165950"/>
                  </a:ext>
                </a:extLst>
              </a:tr>
              <a:tr h="430638">
                <a:tc>
                  <a:txBody>
                    <a:bodyPr/>
                    <a:lstStyle/>
                    <a:p>
                      <a:r>
                        <a:rPr lang="en-US"/>
                        <a:t>NFR2</a:t>
                      </a:r>
                    </a:p>
                  </a:txBody>
                  <a:tcPr anchor="ctr"/>
                </a:tc>
                <a:tc>
                  <a:txBody>
                    <a:bodyPr/>
                    <a:lstStyle/>
                    <a:p>
                      <a:r>
                        <a:rPr lang="en-US"/>
                        <a:t>Accuracy ≥ 90%</a:t>
                      </a:r>
                    </a:p>
                  </a:txBody>
                  <a:tcPr anchor="ctr"/>
                </a:tc>
                <a:tc>
                  <a:txBody>
                    <a:bodyPr/>
                    <a:lstStyle/>
                    <a:p>
                      <a:r>
                        <a:rPr lang="en-US" dirty="0"/>
                        <a:t>Non-Functional</a:t>
                      </a:r>
                    </a:p>
                  </a:txBody>
                  <a:tcPr anchor="ctr"/>
                </a:tc>
                <a:tc>
                  <a:txBody>
                    <a:bodyPr/>
                    <a:lstStyle/>
                    <a:p>
                      <a:r>
                        <a:rPr lang="en-US"/>
                        <a:t>High</a:t>
                      </a:r>
                    </a:p>
                  </a:txBody>
                  <a:tcPr anchor="ctr"/>
                </a:tc>
                <a:tc>
                  <a:txBody>
                    <a:bodyPr/>
                    <a:lstStyle/>
                    <a:p>
                      <a:r>
                        <a:rPr lang="en-US"/>
                        <a:t>—</a:t>
                      </a:r>
                    </a:p>
                  </a:txBody>
                  <a:tcPr anchor="ctr"/>
                </a:tc>
                <a:extLst>
                  <a:ext uri="{0D108BD9-81ED-4DB2-BD59-A6C34878D82A}">
                    <a16:rowId xmlns:a16="http://schemas.microsoft.com/office/drawing/2014/main" val="3773281903"/>
                  </a:ext>
                </a:extLst>
              </a:tr>
              <a:tr h="430638">
                <a:tc>
                  <a:txBody>
                    <a:bodyPr/>
                    <a:lstStyle/>
                    <a:p>
                      <a:r>
                        <a:rPr lang="en-US"/>
                        <a:t>NFR3</a:t>
                      </a:r>
                    </a:p>
                  </a:txBody>
                  <a:tcPr anchor="ctr"/>
                </a:tc>
                <a:tc>
                  <a:txBody>
                    <a:bodyPr/>
                    <a:lstStyle/>
                    <a:p>
                      <a:r>
                        <a:rPr lang="en-US" dirty="0"/>
                        <a:t>Security</a:t>
                      </a:r>
                    </a:p>
                  </a:txBody>
                  <a:tcPr anchor="ctr"/>
                </a:tc>
                <a:tc>
                  <a:txBody>
                    <a:bodyPr/>
                    <a:lstStyle/>
                    <a:p>
                      <a:r>
                        <a:rPr lang="en-US"/>
                        <a:t>Non-Functional</a:t>
                      </a:r>
                    </a:p>
                  </a:txBody>
                  <a:tcPr anchor="ctr"/>
                </a:tc>
                <a:tc>
                  <a:txBody>
                    <a:bodyPr/>
                    <a:lstStyle/>
                    <a:p>
                      <a:r>
                        <a:rPr lang="en-US"/>
                        <a:t>High</a:t>
                      </a:r>
                    </a:p>
                  </a:txBody>
                  <a:tcPr anchor="ctr"/>
                </a:tc>
                <a:tc>
                  <a:txBody>
                    <a:bodyPr/>
                    <a:lstStyle/>
                    <a:p>
                      <a:r>
                        <a:rPr lang="en-US"/>
                        <a:t>—</a:t>
                      </a:r>
                    </a:p>
                  </a:txBody>
                  <a:tcPr anchor="ctr"/>
                </a:tc>
                <a:extLst>
                  <a:ext uri="{0D108BD9-81ED-4DB2-BD59-A6C34878D82A}">
                    <a16:rowId xmlns:a16="http://schemas.microsoft.com/office/drawing/2014/main" val="1785907519"/>
                  </a:ext>
                </a:extLst>
              </a:tr>
              <a:tr h="743292">
                <a:tc>
                  <a:txBody>
                    <a:bodyPr/>
                    <a:lstStyle/>
                    <a:p>
                      <a:r>
                        <a:rPr lang="en-US"/>
                        <a:t>NFR4</a:t>
                      </a:r>
                    </a:p>
                  </a:txBody>
                  <a:tcPr anchor="ctr"/>
                </a:tc>
                <a:tc>
                  <a:txBody>
                    <a:bodyPr/>
                    <a:lstStyle/>
                    <a:p>
                      <a:r>
                        <a:rPr lang="en-US"/>
                        <a:t>Compatibility (Android ≥ 10)</a:t>
                      </a:r>
                    </a:p>
                  </a:txBody>
                  <a:tcPr anchor="ctr"/>
                </a:tc>
                <a:tc>
                  <a:txBody>
                    <a:bodyPr/>
                    <a:lstStyle/>
                    <a:p>
                      <a:r>
                        <a:rPr lang="en-US"/>
                        <a:t>Non-Functional</a:t>
                      </a:r>
                    </a:p>
                  </a:txBody>
                  <a:tcPr anchor="ctr"/>
                </a:tc>
                <a:tc>
                  <a:txBody>
                    <a:bodyPr/>
                    <a:lstStyle/>
                    <a:p>
                      <a:r>
                        <a:rPr lang="en-US"/>
                        <a:t>Medium</a:t>
                      </a:r>
                    </a:p>
                  </a:txBody>
                  <a:tcPr anchor="ctr"/>
                </a:tc>
                <a:tc>
                  <a:txBody>
                    <a:bodyPr/>
                    <a:lstStyle/>
                    <a:p>
                      <a:r>
                        <a:rPr lang="en-US"/>
                        <a:t>—</a:t>
                      </a:r>
                    </a:p>
                  </a:txBody>
                  <a:tcPr anchor="ctr"/>
                </a:tc>
                <a:extLst>
                  <a:ext uri="{0D108BD9-81ED-4DB2-BD59-A6C34878D82A}">
                    <a16:rowId xmlns:a16="http://schemas.microsoft.com/office/drawing/2014/main" val="2906238736"/>
                  </a:ext>
                </a:extLst>
              </a:tr>
              <a:tr h="430638">
                <a:tc>
                  <a:txBody>
                    <a:bodyPr/>
                    <a:lstStyle/>
                    <a:p>
                      <a:r>
                        <a:rPr lang="en-US"/>
                        <a:t>NFR5</a:t>
                      </a:r>
                    </a:p>
                  </a:txBody>
                  <a:tcPr anchor="ctr"/>
                </a:tc>
                <a:tc>
                  <a:txBody>
                    <a:bodyPr/>
                    <a:lstStyle/>
                    <a:p>
                      <a:r>
                        <a:rPr lang="en-US"/>
                        <a:t>Usability</a:t>
                      </a:r>
                    </a:p>
                  </a:txBody>
                  <a:tcPr anchor="ctr"/>
                </a:tc>
                <a:tc>
                  <a:txBody>
                    <a:bodyPr/>
                    <a:lstStyle/>
                    <a:p>
                      <a:r>
                        <a:rPr lang="en-US"/>
                        <a:t>Non-Functional</a:t>
                      </a:r>
                    </a:p>
                  </a:txBody>
                  <a:tcPr anchor="ctr"/>
                </a:tc>
                <a:tc>
                  <a:txBody>
                    <a:bodyPr/>
                    <a:lstStyle/>
                    <a:p>
                      <a:r>
                        <a:rPr lang="en-US"/>
                        <a:t>Medium</a:t>
                      </a:r>
                    </a:p>
                  </a:txBody>
                  <a:tcPr anchor="ctr"/>
                </a:tc>
                <a:tc>
                  <a:txBody>
                    <a:bodyPr/>
                    <a:lstStyle/>
                    <a:p>
                      <a:r>
                        <a:rPr lang="en-US" dirty="0"/>
                        <a:t>—</a:t>
                      </a:r>
                    </a:p>
                  </a:txBody>
                  <a:tcPr anchor="ctr"/>
                </a:tc>
                <a:extLst>
                  <a:ext uri="{0D108BD9-81ED-4DB2-BD59-A6C34878D82A}">
                    <a16:rowId xmlns:a16="http://schemas.microsoft.com/office/drawing/2014/main" val="3431205774"/>
                  </a:ext>
                </a:extLst>
              </a:tr>
            </a:tbl>
          </a:graphicData>
        </a:graphic>
      </p:graphicFrame>
      <p:sp>
        <p:nvSpPr>
          <p:cNvPr id="4" name="Date Placeholder 3">
            <a:extLst>
              <a:ext uri="{FF2B5EF4-FFF2-40B4-BE49-F238E27FC236}">
                <a16:creationId xmlns:a16="http://schemas.microsoft.com/office/drawing/2014/main" id="{3C9EEC66-8A71-0A59-104E-2E885195D4D0}"/>
              </a:ext>
            </a:extLst>
          </p:cNvPr>
          <p:cNvSpPr>
            <a:spLocks noGrp="1"/>
          </p:cNvSpPr>
          <p:nvPr>
            <p:ph type="dt" sz="half" idx="10"/>
          </p:nvPr>
        </p:nvSpPr>
        <p:spPr/>
        <p:txBody>
          <a:bodyPr/>
          <a:lstStyle/>
          <a:p>
            <a:fld id="{DF06F12F-02D3-425D-BF4C-BBE4220292D9}" type="datetime1">
              <a:rPr lang="en-US" smtClean="0"/>
              <a:t>12/22/2025</a:t>
            </a:fld>
            <a:endParaRPr lang="en-US"/>
          </a:p>
        </p:txBody>
      </p:sp>
      <p:sp>
        <p:nvSpPr>
          <p:cNvPr id="5" name="Slide Number Placeholder 4">
            <a:extLst>
              <a:ext uri="{FF2B5EF4-FFF2-40B4-BE49-F238E27FC236}">
                <a16:creationId xmlns:a16="http://schemas.microsoft.com/office/drawing/2014/main" id="{5B40DCD7-239D-A12B-4073-FA355EAF84F3}"/>
              </a:ext>
            </a:extLst>
          </p:cNvPr>
          <p:cNvSpPr>
            <a:spLocks noGrp="1"/>
          </p:cNvSpPr>
          <p:nvPr>
            <p:ph type="sldNum" sz="quarter" idx="12"/>
          </p:nvPr>
        </p:nvSpPr>
        <p:spPr/>
        <p:txBody>
          <a:bodyPr/>
          <a:lstStyle/>
          <a:p>
            <a:fld id="{40742BEA-48CF-4F32-AFB8-C9C4AAF5269A}" type="slidenum">
              <a:rPr lang="en-US" smtClean="0"/>
              <a:t>32</a:t>
            </a:fld>
            <a:endParaRPr lang="en-US"/>
          </a:p>
        </p:txBody>
      </p:sp>
    </p:spTree>
    <p:extLst>
      <p:ext uri="{BB962C8B-B14F-4D97-AF65-F5344CB8AC3E}">
        <p14:creationId xmlns:p14="http://schemas.microsoft.com/office/powerpoint/2010/main" val="841812625"/>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7FF9202-5BCE-BA09-5294-F262CACDA6B1}"/>
              </a:ext>
            </a:extLst>
          </p:cNvPr>
          <p:cNvSpPr>
            <a:spLocks noGrp="1"/>
          </p:cNvSpPr>
          <p:nvPr>
            <p:ph type="title"/>
          </p:nvPr>
        </p:nvSpPr>
        <p:spPr>
          <a:xfrm>
            <a:off x="410219" y="186611"/>
            <a:ext cx="10131425" cy="682257"/>
          </a:xfrm>
        </p:spPr>
        <p:txBody>
          <a:bodyPr/>
          <a:lstStyle/>
          <a:p>
            <a:r>
              <a:rPr lang="en-US" dirty="0"/>
              <a:t>Activity diagram</a:t>
            </a:r>
          </a:p>
        </p:txBody>
      </p:sp>
      <p:graphicFrame>
        <p:nvGraphicFramePr>
          <p:cNvPr id="6" name="Table 6">
            <a:extLst>
              <a:ext uri="{FF2B5EF4-FFF2-40B4-BE49-F238E27FC236}">
                <a16:creationId xmlns:a16="http://schemas.microsoft.com/office/drawing/2014/main" id="{D81F4DA6-A99F-4B42-B614-1F47DC2F0E27}"/>
              </a:ext>
            </a:extLst>
          </p:cNvPr>
          <p:cNvGraphicFramePr>
            <a:graphicFrameLocks noGrp="1"/>
          </p:cNvGraphicFramePr>
          <p:nvPr>
            <p:ph idx="1"/>
            <p:extLst>
              <p:ext uri="{D42A27DB-BD31-4B8C-83A1-F6EECF244321}">
                <p14:modId xmlns:p14="http://schemas.microsoft.com/office/powerpoint/2010/main" val="352533657"/>
              </p:ext>
            </p:extLst>
          </p:nvPr>
        </p:nvGraphicFramePr>
        <p:xfrm>
          <a:off x="312575" y="1093966"/>
          <a:ext cx="11108094" cy="4990088"/>
        </p:xfrm>
        <a:graphic>
          <a:graphicData uri="http://schemas.openxmlformats.org/drawingml/2006/table">
            <a:tbl>
              <a:tblPr firstRow="1" bandRow="1">
                <a:tableStyleId>{5C22544A-7EE6-4342-B048-85BDC9FD1C3A}</a:tableStyleId>
              </a:tblPr>
              <a:tblGrid>
                <a:gridCol w="1217645">
                  <a:extLst>
                    <a:ext uri="{9D8B030D-6E8A-4147-A177-3AD203B41FA5}">
                      <a16:colId xmlns:a16="http://schemas.microsoft.com/office/drawing/2014/main" val="3162796066"/>
                    </a:ext>
                  </a:extLst>
                </a:gridCol>
                <a:gridCol w="2407298">
                  <a:extLst>
                    <a:ext uri="{9D8B030D-6E8A-4147-A177-3AD203B41FA5}">
                      <a16:colId xmlns:a16="http://schemas.microsoft.com/office/drawing/2014/main" val="595401259"/>
                    </a:ext>
                  </a:extLst>
                </a:gridCol>
                <a:gridCol w="7483151">
                  <a:extLst>
                    <a:ext uri="{9D8B030D-6E8A-4147-A177-3AD203B41FA5}">
                      <a16:colId xmlns:a16="http://schemas.microsoft.com/office/drawing/2014/main" val="2672648948"/>
                    </a:ext>
                  </a:extLst>
                </a:gridCol>
              </a:tblGrid>
              <a:tr h="290732">
                <a:tc>
                  <a:txBody>
                    <a:bodyPr/>
                    <a:lstStyle/>
                    <a:p>
                      <a:r>
                        <a:rPr lang="en-US" sz="1800" b="1" dirty="0"/>
                        <a:t>Step No.</a:t>
                      </a:r>
                      <a:endParaRPr lang="en-US" sz="1800" dirty="0"/>
                    </a:p>
                  </a:txBody>
                  <a:tcPr anchor="ctr"/>
                </a:tc>
                <a:tc>
                  <a:txBody>
                    <a:bodyPr/>
                    <a:lstStyle/>
                    <a:p>
                      <a:r>
                        <a:rPr lang="en-US" sz="1800" b="1"/>
                        <a:t>Activity Name</a:t>
                      </a:r>
                      <a:endParaRPr lang="en-US" sz="1800"/>
                    </a:p>
                  </a:txBody>
                  <a:tcPr anchor="ctr"/>
                </a:tc>
                <a:tc>
                  <a:txBody>
                    <a:bodyPr/>
                    <a:lstStyle/>
                    <a:p>
                      <a:r>
                        <a:rPr lang="en-US" sz="1800" b="1"/>
                        <a:t>Description</a:t>
                      </a:r>
                      <a:endParaRPr lang="en-US" sz="1800"/>
                    </a:p>
                  </a:txBody>
                  <a:tcPr anchor="ctr"/>
                </a:tc>
                <a:extLst>
                  <a:ext uri="{0D108BD9-81ED-4DB2-BD59-A6C34878D82A}">
                    <a16:rowId xmlns:a16="http://schemas.microsoft.com/office/drawing/2014/main" val="367690178"/>
                  </a:ext>
                </a:extLst>
              </a:tr>
              <a:tr h="290732">
                <a:tc>
                  <a:txBody>
                    <a:bodyPr/>
                    <a:lstStyle/>
                    <a:p>
                      <a:r>
                        <a:rPr lang="en-US" sz="1800"/>
                        <a:t>1</a:t>
                      </a:r>
                    </a:p>
                  </a:txBody>
                  <a:tcPr anchor="ctr"/>
                </a:tc>
                <a:tc>
                  <a:txBody>
                    <a:bodyPr/>
                    <a:lstStyle/>
                    <a:p>
                      <a:r>
                        <a:rPr lang="en-US" sz="1800"/>
                        <a:t>Start</a:t>
                      </a:r>
                    </a:p>
                  </a:txBody>
                  <a:tcPr anchor="ctr"/>
                </a:tc>
                <a:tc>
                  <a:txBody>
                    <a:bodyPr/>
                    <a:lstStyle/>
                    <a:p>
                      <a:r>
                        <a:rPr lang="en-US" sz="1800" dirty="0"/>
                        <a:t>The user opens the application.</a:t>
                      </a:r>
                    </a:p>
                  </a:txBody>
                  <a:tcPr anchor="ctr"/>
                </a:tc>
                <a:extLst>
                  <a:ext uri="{0D108BD9-81ED-4DB2-BD59-A6C34878D82A}">
                    <a16:rowId xmlns:a16="http://schemas.microsoft.com/office/drawing/2014/main" val="848421470"/>
                  </a:ext>
                </a:extLst>
              </a:tr>
              <a:tr h="508782">
                <a:tc>
                  <a:txBody>
                    <a:bodyPr/>
                    <a:lstStyle/>
                    <a:p>
                      <a:r>
                        <a:rPr lang="en-US" sz="1800"/>
                        <a:t>2</a:t>
                      </a:r>
                    </a:p>
                  </a:txBody>
                  <a:tcPr anchor="ctr"/>
                </a:tc>
                <a:tc>
                  <a:txBody>
                    <a:bodyPr/>
                    <a:lstStyle/>
                    <a:p>
                      <a:r>
                        <a:rPr lang="en-US" sz="1800"/>
                        <a:t>Upload Image</a:t>
                      </a:r>
                    </a:p>
                  </a:txBody>
                  <a:tcPr anchor="ctr"/>
                </a:tc>
                <a:tc>
                  <a:txBody>
                    <a:bodyPr/>
                    <a:lstStyle/>
                    <a:p>
                      <a:r>
                        <a:rPr lang="en-US" sz="1800"/>
                        <a:t>The user selects or captures an MRI image.</a:t>
                      </a:r>
                    </a:p>
                  </a:txBody>
                  <a:tcPr anchor="ctr"/>
                </a:tc>
                <a:extLst>
                  <a:ext uri="{0D108BD9-81ED-4DB2-BD59-A6C34878D82A}">
                    <a16:rowId xmlns:a16="http://schemas.microsoft.com/office/drawing/2014/main" val="3892376468"/>
                  </a:ext>
                </a:extLst>
              </a:tr>
              <a:tr h="508782">
                <a:tc>
                  <a:txBody>
                    <a:bodyPr/>
                    <a:lstStyle/>
                    <a:p>
                      <a:r>
                        <a:rPr lang="en-US" sz="1800" dirty="0"/>
                        <a:t>3</a:t>
                      </a:r>
                    </a:p>
                  </a:txBody>
                  <a:tcPr anchor="ctr"/>
                </a:tc>
                <a:tc>
                  <a:txBody>
                    <a:bodyPr/>
                    <a:lstStyle/>
                    <a:p>
                      <a:r>
                        <a:rPr lang="en-US" sz="1800" dirty="0"/>
                        <a:t>Validate Image</a:t>
                      </a:r>
                    </a:p>
                  </a:txBody>
                  <a:tcPr anchor="ctr"/>
                </a:tc>
                <a:tc>
                  <a:txBody>
                    <a:bodyPr/>
                    <a:lstStyle/>
                    <a:p>
                      <a:r>
                        <a:rPr lang="en-US" sz="1800"/>
                        <a:t>The system checks that the uploaded file is a valid image.</a:t>
                      </a:r>
                    </a:p>
                  </a:txBody>
                  <a:tcPr anchor="ctr"/>
                </a:tc>
                <a:extLst>
                  <a:ext uri="{0D108BD9-81ED-4DB2-BD59-A6C34878D82A}">
                    <a16:rowId xmlns:a16="http://schemas.microsoft.com/office/drawing/2014/main" val="2605935568"/>
                  </a:ext>
                </a:extLst>
              </a:tr>
              <a:tr h="602938">
                <a:tc>
                  <a:txBody>
                    <a:bodyPr/>
                    <a:lstStyle/>
                    <a:p>
                      <a:r>
                        <a:rPr lang="en-US" sz="1800"/>
                        <a:t>4</a:t>
                      </a:r>
                    </a:p>
                  </a:txBody>
                  <a:tcPr anchor="ctr"/>
                </a:tc>
                <a:tc>
                  <a:txBody>
                    <a:bodyPr/>
                    <a:lstStyle/>
                    <a:p>
                      <a:r>
                        <a:rPr lang="en-US" sz="1800"/>
                        <a:t>Preprocess Image</a:t>
                      </a:r>
                    </a:p>
                  </a:txBody>
                  <a:tcPr anchor="ctr"/>
                </a:tc>
                <a:tc>
                  <a:txBody>
                    <a:bodyPr/>
                    <a:lstStyle/>
                    <a:p>
                      <a:r>
                        <a:rPr lang="en-US" sz="1800"/>
                        <a:t>The system resizes and normalizes the image for analysis.</a:t>
                      </a:r>
                    </a:p>
                  </a:txBody>
                  <a:tcPr anchor="ctr"/>
                </a:tc>
                <a:extLst>
                  <a:ext uri="{0D108BD9-81ED-4DB2-BD59-A6C34878D82A}">
                    <a16:rowId xmlns:a16="http://schemas.microsoft.com/office/drawing/2014/main" val="2105159763"/>
                  </a:ext>
                </a:extLst>
              </a:tr>
              <a:tr h="602938">
                <a:tc>
                  <a:txBody>
                    <a:bodyPr/>
                    <a:lstStyle/>
                    <a:p>
                      <a:r>
                        <a:rPr lang="en-US" sz="1800"/>
                        <a:t>5</a:t>
                      </a:r>
                    </a:p>
                  </a:txBody>
                  <a:tcPr anchor="ctr"/>
                </a:tc>
                <a:tc>
                  <a:txBody>
                    <a:bodyPr/>
                    <a:lstStyle/>
                    <a:p>
                      <a:r>
                        <a:rPr lang="en-US" sz="1800"/>
                        <a:t>Classify Image</a:t>
                      </a:r>
                    </a:p>
                  </a:txBody>
                  <a:tcPr anchor="ctr"/>
                </a:tc>
                <a:tc>
                  <a:txBody>
                    <a:bodyPr/>
                    <a:lstStyle/>
                    <a:p>
                      <a:r>
                        <a:rPr lang="en-US" sz="1800"/>
                        <a:t>The VGG16 model predicts if a tumor exists and determines its type.</a:t>
                      </a:r>
                    </a:p>
                  </a:txBody>
                  <a:tcPr anchor="ctr"/>
                </a:tc>
                <a:extLst>
                  <a:ext uri="{0D108BD9-81ED-4DB2-BD59-A6C34878D82A}">
                    <a16:rowId xmlns:a16="http://schemas.microsoft.com/office/drawing/2014/main" val="838465224"/>
                  </a:ext>
                </a:extLst>
              </a:tr>
              <a:tr h="508782">
                <a:tc>
                  <a:txBody>
                    <a:bodyPr/>
                    <a:lstStyle/>
                    <a:p>
                      <a:r>
                        <a:rPr lang="en-US" sz="1800"/>
                        <a:t>6</a:t>
                      </a:r>
                    </a:p>
                  </a:txBody>
                  <a:tcPr anchor="ctr"/>
                </a:tc>
                <a:tc>
                  <a:txBody>
                    <a:bodyPr/>
                    <a:lstStyle/>
                    <a:p>
                      <a:r>
                        <a:rPr lang="en-US" sz="1800"/>
                        <a:t>Display Result</a:t>
                      </a:r>
                    </a:p>
                  </a:txBody>
                  <a:tcPr anchor="ctr"/>
                </a:tc>
                <a:tc>
                  <a:txBody>
                    <a:bodyPr/>
                    <a:lstStyle/>
                    <a:p>
                      <a:r>
                        <a:rPr lang="en-US" sz="1800"/>
                        <a:t>The result is shown on screen (Tumor type + Confidence %).</a:t>
                      </a:r>
                    </a:p>
                  </a:txBody>
                  <a:tcPr anchor="ctr"/>
                </a:tc>
                <a:extLst>
                  <a:ext uri="{0D108BD9-81ED-4DB2-BD59-A6C34878D82A}">
                    <a16:rowId xmlns:a16="http://schemas.microsoft.com/office/drawing/2014/main" val="566064516"/>
                  </a:ext>
                </a:extLst>
              </a:tr>
              <a:tr h="508782">
                <a:tc>
                  <a:txBody>
                    <a:bodyPr/>
                    <a:lstStyle/>
                    <a:p>
                      <a:r>
                        <a:rPr lang="en-US" sz="1800"/>
                        <a:t>7</a:t>
                      </a:r>
                    </a:p>
                  </a:txBody>
                  <a:tcPr anchor="ctr"/>
                </a:tc>
                <a:tc>
                  <a:txBody>
                    <a:bodyPr/>
                    <a:lstStyle/>
                    <a:p>
                      <a:r>
                        <a:rPr lang="en-US" sz="1800"/>
                        <a:t>Save Result</a:t>
                      </a:r>
                    </a:p>
                  </a:txBody>
                  <a:tcPr anchor="ctr"/>
                </a:tc>
                <a:tc>
                  <a:txBody>
                    <a:bodyPr/>
                    <a:lstStyle/>
                    <a:p>
                      <a:r>
                        <a:rPr lang="en-US" sz="1800"/>
                        <a:t>The result and image path are saved in the database.</a:t>
                      </a:r>
                    </a:p>
                  </a:txBody>
                  <a:tcPr anchor="ctr"/>
                </a:tc>
                <a:extLst>
                  <a:ext uri="{0D108BD9-81ED-4DB2-BD59-A6C34878D82A}">
                    <a16:rowId xmlns:a16="http://schemas.microsoft.com/office/drawing/2014/main" val="4050834014"/>
                  </a:ext>
                </a:extLst>
              </a:tr>
              <a:tr h="508782">
                <a:tc>
                  <a:txBody>
                    <a:bodyPr/>
                    <a:lstStyle/>
                    <a:p>
                      <a:r>
                        <a:rPr lang="en-US" sz="1800"/>
                        <a:t>8</a:t>
                      </a:r>
                    </a:p>
                  </a:txBody>
                  <a:tcPr anchor="ctr"/>
                </a:tc>
                <a:tc>
                  <a:txBody>
                    <a:bodyPr/>
                    <a:lstStyle/>
                    <a:p>
                      <a:r>
                        <a:rPr lang="en-US" sz="1800"/>
                        <a:t>View History (optional)</a:t>
                      </a:r>
                    </a:p>
                  </a:txBody>
                  <a:tcPr anchor="ctr"/>
                </a:tc>
                <a:tc>
                  <a:txBody>
                    <a:bodyPr/>
                    <a:lstStyle/>
                    <a:p>
                      <a:r>
                        <a:rPr lang="en-US" sz="1800"/>
                        <a:t>The user can view previously analyzed images and results.</a:t>
                      </a:r>
                    </a:p>
                  </a:txBody>
                  <a:tcPr anchor="ctr"/>
                </a:tc>
                <a:extLst>
                  <a:ext uri="{0D108BD9-81ED-4DB2-BD59-A6C34878D82A}">
                    <a16:rowId xmlns:a16="http://schemas.microsoft.com/office/drawing/2014/main" val="1444320372"/>
                  </a:ext>
                </a:extLst>
              </a:tr>
              <a:tr h="508782">
                <a:tc>
                  <a:txBody>
                    <a:bodyPr/>
                    <a:lstStyle/>
                    <a:p>
                      <a:r>
                        <a:rPr lang="en-US" sz="1800"/>
                        <a:t>9</a:t>
                      </a:r>
                    </a:p>
                  </a:txBody>
                  <a:tcPr anchor="ctr"/>
                </a:tc>
                <a:tc>
                  <a:txBody>
                    <a:bodyPr/>
                    <a:lstStyle/>
                    <a:p>
                      <a:r>
                        <a:rPr lang="en-US" sz="1800" dirty="0"/>
                        <a:t>End</a:t>
                      </a:r>
                    </a:p>
                  </a:txBody>
                  <a:tcPr anchor="ctr"/>
                </a:tc>
                <a:tc>
                  <a:txBody>
                    <a:bodyPr/>
                    <a:lstStyle/>
                    <a:p>
                      <a:r>
                        <a:rPr lang="en-US" sz="1800" dirty="0"/>
                        <a:t>The process ends when the user exits or performs another test.</a:t>
                      </a:r>
                    </a:p>
                  </a:txBody>
                  <a:tcPr anchor="ctr"/>
                </a:tc>
                <a:extLst>
                  <a:ext uri="{0D108BD9-81ED-4DB2-BD59-A6C34878D82A}">
                    <a16:rowId xmlns:a16="http://schemas.microsoft.com/office/drawing/2014/main" val="3276636342"/>
                  </a:ext>
                </a:extLst>
              </a:tr>
            </a:tbl>
          </a:graphicData>
        </a:graphic>
      </p:graphicFrame>
      <p:sp>
        <p:nvSpPr>
          <p:cNvPr id="4" name="Date Placeholder 3">
            <a:extLst>
              <a:ext uri="{FF2B5EF4-FFF2-40B4-BE49-F238E27FC236}">
                <a16:creationId xmlns:a16="http://schemas.microsoft.com/office/drawing/2014/main" id="{93394CF4-B58E-2BFE-E449-FD94A93B01B6}"/>
              </a:ext>
            </a:extLst>
          </p:cNvPr>
          <p:cNvSpPr>
            <a:spLocks noGrp="1"/>
          </p:cNvSpPr>
          <p:nvPr>
            <p:ph type="dt" sz="half" idx="10"/>
          </p:nvPr>
        </p:nvSpPr>
        <p:spPr/>
        <p:txBody>
          <a:bodyPr/>
          <a:lstStyle/>
          <a:p>
            <a:fld id="{DF06F12F-02D3-425D-BF4C-BBE4220292D9}" type="datetime1">
              <a:rPr lang="en-US" smtClean="0"/>
              <a:t>12/22/2025</a:t>
            </a:fld>
            <a:endParaRPr lang="en-US"/>
          </a:p>
        </p:txBody>
      </p:sp>
      <p:sp>
        <p:nvSpPr>
          <p:cNvPr id="5" name="Slide Number Placeholder 4">
            <a:extLst>
              <a:ext uri="{FF2B5EF4-FFF2-40B4-BE49-F238E27FC236}">
                <a16:creationId xmlns:a16="http://schemas.microsoft.com/office/drawing/2014/main" id="{8198390F-6BD1-242B-A45F-FB068C6B4E2E}"/>
              </a:ext>
            </a:extLst>
          </p:cNvPr>
          <p:cNvSpPr>
            <a:spLocks noGrp="1"/>
          </p:cNvSpPr>
          <p:nvPr>
            <p:ph type="sldNum" sz="quarter" idx="12"/>
          </p:nvPr>
        </p:nvSpPr>
        <p:spPr/>
        <p:txBody>
          <a:bodyPr/>
          <a:lstStyle/>
          <a:p>
            <a:fld id="{40742BEA-48CF-4F32-AFB8-C9C4AAF5269A}" type="slidenum">
              <a:rPr lang="en-US" smtClean="0"/>
              <a:t>33</a:t>
            </a:fld>
            <a:endParaRPr lang="en-US"/>
          </a:p>
        </p:txBody>
      </p:sp>
    </p:spTree>
    <p:extLst>
      <p:ext uri="{BB962C8B-B14F-4D97-AF65-F5344CB8AC3E}">
        <p14:creationId xmlns:p14="http://schemas.microsoft.com/office/powerpoint/2010/main" val="2893100815"/>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9509658-101F-22AA-0DFF-238902254585}"/>
              </a:ext>
            </a:extLst>
          </p:cNvPr>
          <p:cNvSpPr>
            <a:spLocks noGrp="1"/>
          </p:cNvSpPr>
          <p:nvPr>
            <p:ph type="title"/>
          </p:nvPr>
        </p:nvSpPr>
        <p:spPr>
          <a:xfrm>
            <a:off x="779109" y="390993"/>
            <a:ext cx="4278082" cy="1204541"/>
          </a:xfrm>
        </p:spPr>
        <p:txBody>
          <a:bodyPr>
            <a:normAutofit/>
          </a:bodyPr>
          <a:lstStyle/>
          <a:p>
            <a:r>
              <a:rPr lang="en-US" dirty="0"/>
              <a:t>Upload image</a:t>
            </a:r>
          </a:p>
        </p:txBody>
      </p:sp>
      <p:graphicFrame>
        <p:nvGraphicFramePr>
          <p:cNvPr id="6" name="Table 6">
            <a:extLst>
              <a:ext uri="{FF2B5EF4-FFF2-40B4-BE49-F238E27FC236}">
                <a16:creationId xmlns:a16="http://schemas.microsoft.com/office/drawing/2014/main" id="{28661EDE-931F-BD35-1381-993745D08DA8}"/>
              </a:ext>
            </a:extLst>
          </p:cNvPr>
          <p:cNvGraphicFramePr>
            <a:graphicFrameLocks noGrp="1"/>
          </p:cNvGraphicFramePr>
          <p:nvPr>
            <p:ph idx="1"/>
            <p:extLst>
              <p:ext uri="{D42A27DB-BD31-4B8C-83A1-F6EECF244321}">
                <p14:modId xmlns:p14="http://schemas.microsoft.com/office/powerpoint/2010/main" val="2342530999"/>
              </p:ext>
            </p:extLst>
          </p:nvPr>
        </p:nvGraphicFramePr>
        <p:xfrm>
          <a:off x="685800" y="2225675"/>
          <a:ext cx="10131424" cy="3606800"/>
        </p:xfrm>
        <a:graphic>
          <a:graphicData uri="http://schemas.openxmlformats.org/drawingml/2006/table">
            <a:tbl>
              <a:tblPr firstRow="1" bandRow="1">
                <a:tableStyleId>{5C22544A-7EE6-4342-B048-85BDC9FD1C3A}</a:tableStyleId>
              </a:tblPr>
              <a:tblGrid>
                <a:gridCol w="5065712">
                  <a:extLst>
                    <a:ext uri="{9D8B030D-6E8A-4147-A177-3AD203B41FA5}">
                      <a16:colId xmlns:a16="http://schemas.microsoft.com/office/drawing/2014/main" val="1300309286"/>
                    </a:ext>
                  </a:extLst>
                </a:gridCol>
                <a:gridCol w="5065712">
                  <a:extLst>
                    <a:ext uri="{9D8B030D-6E8A-4147-A177-3AD203B41FA5}">
                      <a16:colId xmlns:a16="http://schemas.microsoft.com/office/drawing/2014/main" val="2318517975"/>
                    </a:ext>
                  </a:extLst>
                </a:gridCol>
              </a:tblGrid>
              <a:tr h="370840">
                <a:tc>
                  <a:txBody>
                    <a:bodyPr/>
                    <a:lstStyle/>
                    <a:p>
                      <a:r>
                        <a:rPr lang="en-US" dirty="0"/>
                        <a:t>Field</a:t>
                      </a:r>
                    </a:p>
                  </a:txBody>
                  <a:tcPr anchor="ctr"/>
                </a:tc>
                <a:tc>
                  <a:txBody>
                    <a:bodyPr/>
                    <a:lstStyle/>
                    <a:p>
                      <a:r>
                        <a:rPr lang="en-US"/>
                        <a:t>Description</a:t>
                      </a:r>
                    </a:p>
                  </a:txBody>
                  <a:tcPr anchor="ctr"/>
                </a:tc>
                <a:extLst>
                  <a:ext uri="{0D108BD9-81ED-4DB2-BD59-A6C34878D82A}">
                    <a16:rowId xmlns:a16="http://schemas.microsoft.com/office/drawing/2014/main" val="778844262"/>
                  </a:ext>
                </a:extLst>
              </a:tr>
              <a:tr h="370840">
                <a:tc>
                  <a:txBody>
                    <a:bodyPr/>
                    <a:lstStyle/>
                    <a:p>
                      <a:r>
                        <a:rPr lang="en-US"/>
                        <a:t>ID</a:t>
                      </a:r>
                    </a:p>
                  </a:txBody>
                  <a:tcPr anchor="ctr"/>
                </a:tc>
                <a:tc>
                  <a:txBody>
                    <a:bodyPr/>
                    <a:lstStyle/>
                    <a:p>
                      <a:r>
                        <a:rPr lang="en-US"/>
                        <a:t>FR1</a:t>
                      </a:r>
                    </a:p>
                  </a:txBody>
                  <a:tcPr anchor="ctr"/>
                </a:tc>
                <a:extLst>
                  <a:ext uri="{0D108BD9-81ED-4DB2-BD59-A6C34878D82A}">
                    <a16:rowId xmlns:a16="http://schemas.microsoft.com/office/drawing/2014/main" val="2328406659"/>
                  </a:ext>
                </a:extLst>
              </a:tr>
              <a:tr h="370840">
                <a:tc>
                  <a:txBody>
                    <a:bodyPr/>
                    <a:lstStyle/>
                    <a:p>
                      <a:r>
                        <a:rPr lang="en-US"/>
                        <a:t>Title</a:t>
                      </a:r>
                    </a:p>
                  </a:txBody>
                  <a:tcPr anchor="ctr"/>
                </a:tc>
                <a:tc>
                  <a:txBody>
                    <a:bodyPr/>
                    <a:lstStyle/>
                    <a:p>
                      <a:r>
                        <a:rPr lang="en-US"/>
                        <a:t>Upload MRI Image</a:t>
                      </a:r>
                    </a:p>
                  </a:txBody>
                  <a:tcPr anchor="ctr"/>
                </a:tc>
                <a:extLst>
                  <a:ext uri="{0D108BD9-81ED-4DB2-BD59-A6C34878D82A}">
                    <a16:rowId xmlns:a16="http://schemas.microsoft.com/office/drawing/2014/main" val="1817404463"/>
                  </a:ext>
                </a:extLst>
              </a:tr>
              <a:tr h="370840">
                <a:tc>
                  <a:txBody>
                    <a:bodyPr/>
                    <a:lstStyle/>
                    <a:p>
                      <a:r>
                        <a:rPr lang="en-US"/>
                        <a:t>Type</a:t>
                      </a:r>
                    </a:p>
                  </a:txBody>
                  <a:tcPr anchor="ctr"/>
                </a:tc>
                <a:tc>
                  <a:txBody>
                    <a:bodyPr/>
                    <a:lstStyle/>
                    <a:p>
                      <a:r>
                        <a:rPr lang="en-US"/>
                        <a:t>Functional</a:t>
                      </a:r>
                    </a:p>
                  </a:txBody>
                  <a:tcPr anchor="ctr"/>
                </a:tc>
                <a:extLst>
                  <a:ext uri="{0D108BD9-81ED-4DB2-BD59-A6C34878D82A}">
                    <a16:rowId xmlns:a16="http://schemas.microsoft.com/office/drawing/2014/main" val="4177898767"/>
                  </a:ext>
                </a:extLst>
              </a:tr>
              <a:tr h="370840">
                <a:tc>
                  <a:txBody>
                    <a:bodyPr/>
                    <a:lstStyle/>
                    <a:p>
                      <a:r>
                        <a:rPr lang="en-US"/>
                        <a:t>Priority</a:t>
                      </a:r>
                    </a:p>
                  </a:txBody>
                  <a:tcPr anchor="ctr"/>
                </a:tc>
                <a:tc>
                  <a:txBody>
                    <a:bodyPr/>
                    <a:lstStyle/>
                    <a:p>
                      <a:r>
                        <a:rPr lang="en-US"/>
                        <a:t>High</a:t>
                      </a:r>
                    </a:p>
                  </a:txBody>
                  <a:tcPr anchor="ctr"/>
                </a:tc>
                <a:extLst>
                  <a:ext uri="{0D108BD9-81ED-4DB2-BD59-A6C34878D82A}">
                    <a16:rowId xmlns:a16="http://schemas.microsoft.com/office/drawing/2014/main" val="652116204"/>
                  </a:ext>
                </a:extLst>
              </a:tr>
              <a:tr h="370840">
                <a:tc>
                  <a:txBody>
                    <a:bodyPr/>
                    <a:lstStyle/>
                    <a:p>
                      <a:r>
                        <a:rPr lang="en-US"/>
                        <a:t>Description</a:t>
                      </a:r>
                    </a:p>
                  </a:txBody>
                  <a:tcPr anchor="ctr"/>
                </a:tc>
                <a:tc>
                  <a:txBody>
                    <a:bodyPr/>
                    <a:lstStyle/>
                    <a:p>
                      <a:r>
                        <a:rPr lang="en-US"/>
                        <a:t>User selects an MRI image from the phone’s storage.</a:t>
                      </a:r>
                    </a:p>
                  </a:txBody>
                  <a:tcPr anchor="ctr"/>
                </a:tc>
                <a:extLst>
                  <a:ext uri="{0D108BD9-81ED-4DB2-BD59-A6C34878D82A}">
                    <a16:rowId xmlns:a16="http://schemas.microsoft.com/office/drawing/2014/main" val="2843506324"/>
                  </a:ext>
                </a:extLst>
              </a:tr>
              <a:tr h="370840">
                <a:tc>
                  <a:txBody>
                    <a:bodyPr/>
                    <a:lstStyle/>
                    <a:p>
                      <a:r>
                        <a:rPr lang="en-US"/>
                        <a:t>Pre-conditions</a:t>
                      </a:r>
                    </a:p>
                  </a:txBody>
                  <a:tcPr anchor="ctr"/>
                </a:tc>
                <a:tc>
                  <a:txBody>
                    <a:bodyPr/>
                    <a:lstStyle/>
                    <a:p>
                      <a:r>
                        <a:rPr lang="en-US"/>
                        <a:t>App installed, storage permission granted.</a:t>
                      </a:r>
                    </a:p>
                  </a:txBody>
                  <a:tcPr anchor="ctr"/>
                </a:tc>
                <a:extLst>
                  <a:ext uri="{0D108BD9-81ED-4DB2-BD59-A6C34878D82A}">
                    <a16:rowId xmlns:a16="http://schemas.microsoft.com/office/drawing/2014/main" val="4004485759"/>
                  </a:ext>
                </a:extLst>
              </a:tr>
              <a:tr h="370840">
                <a:tc>
                  <a:txBody>
                    <a:bodyPr/>
                    <a:lstStyle/>
                    <a:p>
                      <a:r>
                        <a:rPr lang="en-US"/>
                        <a:t>Post-conditions</a:t>
                      </a:r>
                    </a:p>
                  </a:txBody>
                  <a:tcPr anchor="ctr"/>
                </a:tc>
                <a:tc>
                  <a:txBody>
                    <a:bodyPr/>
                    <a:lstStyle/>
                    <a:p>
                      <a:r>
                        <a:rPr lang="en-US"/>
                        <a:t>The MRI image is loaded into the app.</a:t>
                      </a:r>
                    </a:p>
                  </a:txBody>
                  <a:tcPr anchor="ctr"/>
                </a:tc>
                <a:extLst>
                  <a:ext uri="{0D108BD9-81ED-4DB2-BD59-A6C34878D82A}">
                    <a16:rowId xmlns:a16="http://schemas.microsoft.com/office/drawing/2014/main" val="1878729602"/>
                  </a:ext>
                </a:extLst>
              </a:tr>
              <a:tr h="370840">
                <a:tc>
                  <a:txBody>
                    <a:bodyPr/>
                    <a:lstStyle/>
                    <a:p>
                      <a:r>
                        <a:rPr lang="en-US"/>
                        <a:t>Primary Actor</a:t>
                      </a:r>
                    </a:p>
                  </a:txBody>
                  <a:tcPr anchor="ctr"/>
                </a:tc>
                <a:tc>
                  <a:txBody>
                    <a:bodyPr/>
                    <a:lstStyle/>
                    <a:p>
                      <a:r>
                        <a:rPr lang="en-US" dirty="0"/>
                        <a:t>User</a:t>
                      </a:r>
                    </a:p>
                  </a:txBody>
                  <a:tcPr anchor="ctr"/>
                </a:tc>
                <a:extLst>
                  <a:ext uri="{0D108BD9-81ED-4DB2-BD59-A6C34878D82A}">
                    <a16:rowId xmlns:a16="http://schemas.microsoft.com/office/drawing/2014/main" val="1846320586"/>
                  </a:ext>
                </a:extLst>
              </a:tr>
            </a:tbl>
          </a:graphicData>
        </a:graphic>
      </p:graphicFrame>
      <p:sp>
        <p:nvSpPr>
          <p:cNvPr id="4" name="Date Placeholder 3">
            <a:extLst>
              <a:ext uri="{FF2B5EF4-FFF2-40B4-BE49-F238E27FC236}">
                <a16:creationId xmlns:a16="http://schemas.microsoft.com/office/drawing/2014/main" id="{0B15AAE3-8F79-9BA2-17BB-331007C603BE}"/>
              </a:ext>
            </a:extLst>
          </p:cNvPr>
          <p:cNvSpPr>
            <a:spLocks noGrp="1"/>
          </p:cNvSpPr>
          <p:nvPr>
            <p:ph type="dt" sz="half" idx="10"/>
          </p:nvPr>
        </p:nvSpPr>
        <p:spPr/>
        <p:txBody>
          <a:bodyPr/>
          <a:lstStyle/>
          <a:p>
            <a:fld id="{DF06F12F-02D3-425D-BF4C-BBE4220292D9}" type="datetime1">
              <a:rPr lang="en-US" smtClean="0"/>
              <a:t>12/22/2025</a:t>
            </a:fld>
            <a:endParaRPr lang="en-US"/>
          </a:p>
        </p:txBody>
      </p:sp>
      <p:sp>
        <p:nvSpPr>
          <p:cNvPr id="5" name="Slide Number Placeholder 4">
            <a:extLst>
              <a:ext uri="{FF2B5EF4-FFF2-40B4-BE49-F238E27FC236}">
                <a16:creationId xmlns:a16="http://schemas.microsoft.com/office/drawing/2014/main" id="{9DD15BF5-160C-6CB3-A024-D73E2279744D}"/>
              </a:ext>
            </a:extLst>
          </p:cNvPr>
          <p:cNvSpPr>
            <a:spLocks noGrp="1"/>
          </p:cNvSpPr>
          <p:nvPr>
            <p:ph type="sldNum" sz="quarter" idx="12"/>
          </p:nvPr>
        </p:nvSpPr>
        <p:spPr/>
        <p:txBody>
          <a:bodyPr/>
          <a:lstStyle/>
          <a:p>
            <a:fld id="{40742BEA-48CF-4F32-AFB8-C9C4AAF5269A}" type="slidenum">
              <a:rPr lang="en-US" smtClean="0"/>
              <a:t>34</a:t>
            </a:fld>
            <a:endParaRPr lang="en-US"/>
          </a:p>
        </p:txBody>
      </p:sp>
    </p:spTree>
    <p:extLst>
      <p:ext uri="{BB962C8B-B14F-4D97-AF65-F5344CB8AC3E}">
        <p14:creationId xmlns:p14="http://schemas.microsoft.com/office/powerpoint/2010/main" val="121588790"/>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3C5FD4D-335C-BFFF-0C70-A904216430F7}"/>
              </a:ext>
            </a:extLst>
          </p:cNvPr>
          <p:cNvSpPr>
            <a:spLocks noGrp="1"/>
          </p:cNvSpPr>
          <p:nvPr>
            <p:ph type="title"/>
          </p:nvPr>
        </p:nvSpPr>
        <p:spPr>
          <a:xfrm>
            <a:off x="522514" y="251926"/>
            <a:ext cx="7598166" cy="812885"/>
          </a:xfrm>
        </p:spPr>
        <p:txBody>
          <a:bodyPr/>
          <a:lstStyle/>
          <a:p>
            <a:r>
              <a:rPr lang="en-US" dirty="0"/>
              <a:t>Upload image</a:t>
            </a:r>
          </a:p>
        </p:txBody>
      </p:sp>
      <p:pic>
        <p:nvPicPr>
          <p:cNvPr id="7" name="Content Placeholder 6" descr="acitivity&#10;">
            <a:extLst>
              <a:ext uri="{FF2B5EF4-FFF2-40B4-BE49-F238E27FC236}">
                <a16:creationId xmlns:a16="http://schemas.microsoft.com/office/drawing/2014/main" id="{FA13C8CD-90C8-7A9F-4B84-DDDEE7D3CF2C}"/>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1382370" y="1114511"/>
            <a:ext cx="7766407" cy="944563"/>
          </a:xfrm>
        </p:spPr>
      </p:pic>
      <p:sp>
        <p:nvSpPr>
          <p:cNvPr id="4" name="Date Placeholder 3">
            <a:extLst>
              <a:ext uri="{FF2B5EF4-FFF2-40B4-BE49-F238E27FC236}">
                <a16:creationId xmlns:a16="http://schemas.microsoft.com/office/drawing/2014/main" id="{196AC3C1-A85E-E3A7-359E-C62FD9EEAB70}"/>
              </a:ext>
            </a:extLst>
          </p:cNvPr>
          <p:cNvSpPr>
            <a:spLocks noGrp="1"/>
          </p:cNvSpPr>
          <p:nvPr>
            <p:ph type="dt" sz="half" idx="10"/>
          </p:nvPr>
        </p:nvSpPr>
        <p:spPr/>
        <p:txBody>
          <a:bodyPr/>
          <a:lstStyle/>
          <a:p>
            <a:fld id="{DF06F12F-02D3-425D-BF4C-BBE4220292D9}" type="datetime1">
              <a:rPr lang="en-US" smtClean="0"/>
              <a:t>12/22/2025</a:t>
            </a:fld>
            <a:endParaRPr lang="en-US"/>
          </a:p>
        </p:txBody>
      </p:sp>
      <p:sp>
        <p:nvSpPr>
          <p:cNvPr id="5" name="Slide Number Placeholder 4">
            <a:extLst>
              <a:ext uri="{FF2B5EF4-FFF2-40B4-BE49-F238E27FC236}">
                <a16:creationId xmlns:a16="http://schemas.microsoft.com/office/drawing/2014/main" id="{D74F4F1F-6D95-1ADF-FB62-0D860CE252ED}"/>
              </a:ext>
            </a:extLst>
          </p:cNvPr>
          <p:cNvSpPr>
            <a:spLocks noGrp="1"/>
          </p:cNvSpPr>
          <p:nvPr>
            <p:ph type="sldNum" sz="quarter" idx="12"/>
          </p:nvPr>
        </p:nvSpPr>
        <p:spPr/>
        <p:txBody>
          <a:bodyPr/>
          <a:lstStyle/>
          <a:p>
            <a:fld id="{40742BEA-48CF-4F32-AFB8-C9C4AAF5269A}" type="slidenum">
              <a:rPr lang="en-US" smtClean="0"/>
              <a:t>35</a:t>
            </a:fld>
            <a:endParaRPr lang="en-US"/>
          </a:p>
        </p:txBody>
      </p:sp>
      <p:pic>
        <p:nvPicPr>
          <p:cNvPr id="9" name="Picture 8">
            <a:extLst>
              <a:ext uri="{FF2B5EF4-FFF2-40B4-BE49-F238E27FC236}">
                <a16:creationId xmlns:a16="http://schemas.microsoft.com/office/drawing/2014/main" id="{A38EE74B-32AC-424C-5360-1B8DC6218570}"/>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382370" y="2625196"/>
            <a:ext cx="7629525" cy="4114800"/>
          </a:xfrm>
          <a:prstGeom prst="rect">
            <a:avLst/>
          </a:prstGeom>
          <a:ln>
            <a:noFill/>
          </a:ln>
          <a:effectLst>
            <a:softEdge rad="112500"/>
          </a:effectLst>
        </p:spPr>
      </p:pic>
    </p:spTree>
    <p:extLst>
      <p:ext uri="{BB962C8B-B14F-4D97-AF65-F5344CB8AC3E}">
        <p14:creationId xmlns:p14="http://schemas.microsoft.com/office/powerpoint/2010/main" val="1774449307"/>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15E633D-25C4-58F5-559F-7B31408F6AD5}"/>
              </a:ext>
            </a:extLst>
          </p:cNvPr>
          <p:cNvSpPr>
            <a:spLocks noGrp="1"/>
          </p:cNvSpPr>
          <p:nvPr>
            <p:ph type="title"/>
          </p:nvPr>
        </p:nvSpPr>
        <p:spPr>
          <a:xfrm>
            <a:off x="685802" y="255252"/>
            <a:ext cx="10131425" cy="756672"/>
          </a:xfrm>
        </p:spPr>
        <p:txBody>
          <a:bodyPr/>
          <a:lstStyle/>
          <a:p>
            <a:r>
              <a:rPr lang="en-US" dirty="0"/>
              <a:t>Send Image to ML model</a:t>
            </a:r>
          </a:p>
        </p:txBody>
      </p:sp>
      <p:graphicFrame>
        <p:nvGraphicFramePr>
          <p:cNvPr id="6" name="Table 6">
            <a:extLst>
              <a:ext uri="{FF2B5EF4-FFF2-40B4-BE49-F238E27FC236}">
                <a16:creationId xmlns:a16="http://schemas.microsoft.com/office/drawing/2014/main" id="{ADA0EAC3-CDAA-F86C-12A1-D307AB25AE46}"/>
              </a:ext>
            </a:extLst>
          </p:cNvPr>
          <p:cNvGraphicFramePr>
            <a:graphicFrameLocks noGrp="1"/>
          </p:cNvGraphicFramePr>
          <p:nvPr>
            <p:ph idx="1"/>
            <p:extLst>
              <p:ext uri="{D42A27DB-BD31-4B8C-83A1-F6EECF244321}">
                <p14:modId xmlns:p14="http://schemas.microsoft.com/office/powerpoint/2010/main" val="3008938483"/>
              </p:ext>
            </p:extLst>
          </p:nvPr>
        </p:nvGraphicFramePr>
        <p:xfrm>
          <a:off x="685800" y="1502229"/>
          <a:ext cx="7665098" cy="3832748"/>
        </p:xfrm>
        <a:graphic>
          <a:graphicData uri="http://schemas.openxmlformats.org/drawingml/2006/table">
            <a:tbl>
              <a:tblPr firstRow="1" bandRow="1">
                <a:tableStyleId>{5C22544A-7EE6-4342-B048-85BDC9FD1C3A}</a:tableStyleId>
              </a:tblPr>
              <a:tblGrid>
                <a:gridCol w="3832549">
                  <a:extLst>
                    <a:ext uri="{9D8B030D-6E8A-4147-A177-3AD203B41FA5}">
                      <a16:colId xmlns:a16="http://schemas.microsoft.com/office/drawing/2014/main" val="1293166913"/>
                    </a:ext>
                  </a:extLst>
                </a:gridCol>
                <a:gridCol w="3832549">
                  <a:extLst>
                    <a:ext uri="{9D8B030D-6E8A-4147-A177-3AD203B41FA5}">
                      <a16:colId xmlns:a16="http://schemas.microsoft.com/office/drawing/2014/main" val="3336294540"/>
                    </a:ext>
                  </a:extLst>
                </a:gridCol>
              </a:tblGrid>
              <a:tr h="600434">
                <a:tc>
                  <a:txBody>
                    <a:bodyPr/>
                    <a:lstStyle/>
                    <a:p>
                      <a:r>
                        <a:rPr lang="en-US" dirty="0"/>
                        <a:t>Step</a:t>
                      </a:r>
                    </a:p>
                  </a:txBody>
                  <a:tcPr anchor="ctr"/>
                </a:tc>
                <a:tc>
                  <a:txBody>
                    <a:bodyPr/>
                    <a:lstStyle/>
                    <a:p>
                      <a:r>
                        <a:rPr lang="en-US"/>
                        <a:t>Description</a:t>
                      </a:r>
                    </a:p>
                  </a:txBody>
                  <a:tcPr anchor="ctr"/>
                </a:tc>
                <a:extLst>
                  <a:ext uri="{0D108BD9-81ED-4DB2-BD59-A6C34878D82A}">
                    <a16:rowId xmlns:a16="http://schemas.microsoft.com/office/drawing/2014/main" val="3384965611"/>
                  </a:ext>
                </a:extLst>
              </a:tr>
              <a:tr h="600434">
                <a:tc>
                  <a:txBody>
                    <a:bodyPr/>
                    <a:lstStyle/>
                    <a:p>
                      <a:r>
                        <a:rPr lang="en-US"/>
                        <a:t>1</a:t>
                      </a:r>
                    </a:p>
                  </a:txBody>
                  <a:tcPr anchor="ctr"/>
                </a:tc>
                <a:tc>
                  <a:txBody>
                    <a:bodyPr/>
                    <a:lstStyle/>
                    <a:p>
                      <a:r>
                        <a:rPr lang="en-US"/>
                        <a:t>The user taps “Analyze Image”.</a:t>
                      </a:r>
                    </a:p>
                  </a:txBody>
                  <a:tcPr anchor="ctr"/>
                </a:tc>
                <a:extLst>
                  <a:ext uri="{0D108BD9-81ED-4DB2-BD59-A6C34878D82A}">
                    <a16:rowId xmlns:a16="http://schemas.microsoft.com/office/drawing/2014/main" val="4245282295"/>
                  </a:ext>
                </a:extLst>
              </a:tr>
              <a:tr h="600434">
                <a:tc>
                  <a:txBody>
                    <a:bodyPr/>
                    <a:lstStyle/>
                    <a:p>
                      <a:r>
                        <a:rPr lang="en-US"/>
                        <a:t>2</a:t>
                      </a:r>
                    </a:p>
                  </a:txBody>
                  <a:tcPr anchor="ctr"/>
                </a:tc>
                <a:tc>
                  <a:txBody>
                    <a:bodyPr/>
                    <a:lstStyle/>
                    <a:p>
                      <a:r>
                        <a:rPr lang="en-US"/>
                        <a:t>The system preprocesses the image.</a:t>
                      </a:r>
                    </a:p>
                  </a:txBody>
                  <a:tcPr anchor="ctr"/>
                </a:tc>
                <a:extLst>
                  <a:ext uri="{0D108BD9-81ED-4DB2-BD59-A6C34878D82A}">
                    <a16:rowId xmlns:a16="http://schemas.microsoft.com/office/drawing/2014/main" val="2158622238"/>
                  </a:ext>
                </a:extLst>
              </a:tr>
              <a:tr h="790932">
                <a:tc>
                  <a:txBody>
                    <a:bodyPr/>
                    <a:lstStyle/>
                    <a:p>
                      <a:r>
                        <a:rPr lang="en-US"/>
                        <a:t>3</a:t>
                      </a:r>
                    </a:p>
                  </a:txBody>
                  <a:tcPr anchor="ctr"/>
                </a:tc>
                <a:tc>
                  <a:txBody>
                    <a:bodyPr/>
                    <a:lstStyle/>
                    <a:p>
                      <a:r>
                        <a:rPr lang="en-US"/>
                        <a:t>The system sends the image to the ML model.</a:t>
                      </a:r>
                    </a:p>
                  </a:txBody>
                  <a:tcPr anchor="ctr"/>
                </a:tc>
                <a:extLst>
                  <a:ext uri="{0D108BD9-81ED-4DB2-BD59-A6C34878D82A}">
                    <a16:rowId xmlns:a16="http://schemas.microsoft.com/office/drawing/2014/main" val="1165367955"/>
                  </a:ext>
                </a:extLst>
              </a:tr>
              <a:tr h="600434">
                <a:tc>
                  <a:txBody>
                    <a:bodyPr/>
                    <a:lstStyle/>
                    <a:p>
                      <a:r>
                        <a:rPr lang="en-US"/>
                        <a:t>4</a:t>
                      </a:r>
                    </a:p>
                  </a:txBody>
                  <a:tcPr anchor="ctr"/>
                </a:tc>
                <a:tc>
                  <a:txBody>
                    <a:bodyPr/>
                    <a:lstStyle/>
                    <a:p>
                      <a:r>
                        <a:rPr lang="en-US"/>
                        <a:t>The system waits for the model's output.</a:t>
                      </a:r>
                    </a:p>
                  </a:txBody>
                  <a:tcPr anchor="ctr"/>
                </a:tc>
                <a:extLst>
                  <a:ext uri="{0D108BD9-81ED-4DB2-BD59-A6C34878D82A}">
                    <a16:rowId xmlns:a16="http://schemas.microsoft.com/office/drawing/2014/main" val="2773771978"/>
                  </a:ext>
                </a:extLst>
              </a:tr>
              <a:tr h="600434">
                <a:tc>
                  <a:txBody>
                    <a:bodyPr/>
                    <a:lstStyle/>
                    <a:p>
                      <a:r>
                        <a:rPr lang="en-US"/>
                        <a:t>5</a:t>
                      </a:r>
                    </a:p>
                  </a:txBody>
                  <a:tcPr anchor="ctr"/>
                </a:tc>
                <a:tc>
                  <a:txBody>
                    <a:bodyPr/>
                    <a:lstStyle/>
                    <a:p>
                      <a:r>
                        <a:rPr lang="en-US" dirty="0"/>
                        <a:t>The model returns results.</a:t>
                      </a:r>
                    </a:p>
                  </a:txBody>
                  <a:tcPr anchor="ctr"/>
                </a:tc>
                <a:extLst>
                  <a:ext uri="{0D108BD9-81ED-4DB2-BD59-A6C34878D82A}">
                    <a16:rowId xmlns:a16="http://schemas.microsoft.com/office/drawing/2014/main" val="2943478909"/>
                  </a:ext>
                </a:extLst>
              </a:tr>
            </a:tbl>
          </a:graphicData>
        </a:graphic>
      </p:graphicFrame>
      <p:sp>
        <p:nvSpPr>
          <p:cNvPr id="4" name="Date Placeholder 3">
            <a:extLst>
              <a:ext uri="{FF2B5EF4-FFF2-40B4-BE49-F238E27FC236}">
                <a16:creationId xmlns:a16="http://schemas.microsoft.com/office/drawing/2014/main" id="{91E4C439-1041-3C28-D248-C1780421D8FF}"/>
              </a:ext>
            </a:extLst>
          </p:cNvPr>
          <p:cNvSpPr>
            <a:spLocks noGrp="1"/>
          </p:cNvSpPr>
          <p:nvPr>
            <p:ph type="dt" sz="half" idx="10"/>
          </p:nvPr>
        </p:nvSpPr>
        <p:spPr/>
        <p:txBody>
          <a:bodyPr/>
          <a:lstStyle/>
          <a:p>
            <a:fld id="{DF06F12F-02D3-425D-BF4C-BBE4220292D9}" type="datetime1">
              <a:rPr lang="en-US" smtClean="0"/>
              <a:t>12/22/2025</a:t>
            </a:fld>
            <a:endParaRPr lang="en-US"/>
          </a:p>
        </p:txBody>
      </p:sp>
      <p:sp>
        <p:nvSpPr>
          <p:cNvPr id="5" name="Slide Number Placeholder 4">
            <a:extLst>
              <a:ext uri="{FF2B5EF4-FFF2-40B4-BE49-F238E27FC236}">
                <a16:creationId xmlns:a16="http://schemas.microsoft.com/office/drawing/2014/main" id="{ECD3611F-5AAD-F2B6-417C-C9C37193576D}"/>
              </a:ext>
            </a:extLst>
          </p:cNvPr>
          <p:cNvSpPr>
            <a:spLocks noGrp="1"/>
          </p:cNvSpPr>
          <p:nvPr>
            <p:ph type="sldNum" sz="quarter" idx="12"/>
          </p:nvPr>
        </p:nvSpPr>
        <p:spPr/>
        <p:txBody>
          <a:bodyPr/>
          <a:lstStyle/>
          <a:p>
            <a:fld id="{40742BEA-48CF-4F32-AFB8-C9C4AAF5269A}" type="slidenum">
              <a:rPr lang="en-US" smtClean="0"/>
              <a:t>36</a:t>
            </a:fld>
            <a:endParaRPr lang="en-US"/>
          </a:p>
        </p:txBody>
      </p:sp>
    </p:spTree>
    <p:extLst>
      <p:ext uri="{BB962C8B-B14F-4D97-AF65-F5344CB8AC3E}">
        <p14:creationId xmlns:p14="http://schemas.microsoft.com/office/powerpoint/2010/main" val="1790149169"/>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D300AF3-F947-0280-66C3-2DD0019A07F2}"/>
              </a:ext>
            </a:extLst>
          </p:cNvPr>
          <p:cNvSpPr>
            <a:spLocks noGrp="1"/>
          </p:cNvSpPr>
          <p:nvPr>
            <p:ph type="title"/>
          </p:nvPr>
        </p:nvSpPr>
        <p:spPr>
          <a:xfrm>
            <a:off x="825762" y="186526"/>
            <a:ext cx="10131425" cy="1120882"/>
          </a:xfrm>
        </p:spPr>
        <p:txBody>
          <a:bodyPr/>
          <a:lstStyle/>
          <a:p>
            <a:r>
              <a:rPr lang="en-US" dirty="0"/>
              <a:t>Send image to ml model</a:t>
            </a:r>
          </a:p>
        </p:txBody>
      </p:sp>
      <p:pic>
        <p:nvPicPr>
          <p:cNvPr id="7" name="Content Placeholder 6">
            <a:extLst>
              <a:ext uri="{FF2B5EF4-FFF2-40B4-BE49-F238E27FC236}">
                <a16:creationId xmlns:a16="http://schemas.microsoft.com/office/drawing/2014/main" id="{85BCFDDD-36C2-8525-E972-AD82B849A960}"/>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1121425" y="1418253"/>
            <a:ext cx="8683695" cy="4683341"/>
          </a:xfrm>
          <a:prstGeom prst="rect">
            <a:avLst/>
          </a:prstGeom>
          <a:ln>
            <a:noFill/>
          </a:ln>
          <a:effectLst>
            <a:softEdge rad="112500"/>
          </a:effectLst>
        </p:spPr>
      </p:pic>
      <p:sp>
        <p:nvSpPr>
          <p:cNvPr id="4" name="Date Placeholder 3">
            <a:extLst>
              <a:ext uri="{FF2B5EF4-FFF2-40B4-BE49-F238E27FC236}">
                <a16:creationId xmlns:a16="http://schemas.microsoft.com/office/drawing/2014/main" id="{CF0025DF-C795-FA15-3402-2067C451D383}"/>
              </a:ext>
            </a:extLst>
          </p:cNvPr>
          <p:cNvSpPr>
            <a:spLocks noGrp="1"/>
          </p:cNvSpPr>
          <p:nvPr>
            <p:ph type="dt" sz="half" idx="10"/>
          </p:nvPr>
        </p:nvSpPr>
        <p:spPr/>
        <p:txBody>
          <a:bodyPr/>
          <a:lstStyle/>
          <a:p>
            <a:fld id="{DF06F12F-02D3-425D-BF4C-BBE4220292D9}" type="datetime1">
              <a:rPr lang="en-US" smtClean="0"/>
              <a:t>12/22/2025</a:t>
            </a:fld>
            <a:endParaRPr lang="en-US"/>
          </a:p>
        </p:txBody>
      </p:sp>
      <p:sp>
        <p:nvSpPr>
          <p:cNvPr id="5" name="Slide Number Placeholder 4">
            <a:extLst>
              <a:ext uri="{FF2B5EF4-FFF2-40B4-BE49-F238E27FC236}">
                <a16:creationId xmlns:a16="http://schemas.microsoft.com/office/drawing/2014/main" id="{905F693C-6F4F-684D-EFFC-0E3760D49D8C}"/>
              </a:ext>
            </a:extLst>
          </p:cNvPr>
          <p:cNvSpPr>
            <a:spLocks noGrp="1"/>
          </p:cNvSpPr>
          <p:nvPr>
            <p:ph type="sldNum" sz="quarter" idx="12"/>
          </p:nvPr>
        </p:nvSpPr>
        <p:spPr/>
        <p:txBody>
          <a:bodyPr/>
          <a:lstStyle/>
          <a:p>
            <a:fld id="{40742BEA-48CF-4F32-AFB8-C9C4AAF5269A}" type="slidenum">
              <a:rPr lang="en-US" smtClean="0"/>
              <a:t>37</a:t>
            </a:fld>
            <a:endParaRPr lang="en-US"/>
          </a:p>
        </p:txBody>
      </p:sp>
    </p:spTree>
    <p:extLst>
      <p:ext uri="{BB962C8B-B14F-4D97-AF65-F5344CB8AC3E}">
        <p14:creationId xmlns:p14="http://schemas.microsoft.com/office/powerpoint/2010/main" val="2676248899"/>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788E8C1-6C94-8E86-D20F-FBC440E62B93}"/>
              </a:ext>
            </a:extLst>
          </p:cNvPr>
          <p:cNvSpPr>
            <a:spLocks noGrp="1"/>
          </p:cNvSpPr>
          <p:nvPr>
            <p:ph type="title"/>
          </p:nvPr>
        </p:nvSpPr>
        <p:spPr>
          <a:xfrm>
            <a:off x="577337" y="-68920"/>
            <a:ext cx="10131425" cy="1513574"/>
          </a:xfrm>
        </p:spPr>
        <p:txBody>
          <a:bodyPr/>
          <a:lstStyle/>
          <a:p>
            <a:r>
              <a:rPr lang="en-US" dirty="0"/>
              <a:t>Use case diagram</a:t>
            </a:r>
          </a:p>
        </p:txBody>
      </p:sp>
      <p:sp>
        <p:nvSpPr>
          <p:cNvPr id="4" name="Date Placeholder 3">
            <a:extLst>
              <a:ext uri="{FF2B5EF4-FFF2-40B4-BE49-F238E27FC236}">
                <a16:creationId xmlns:a16="http://schemas.microsoft.com/office/drawing/2014/main" id="{98B6434C-83F8-F112-6E17-A6F651939B32}"/>
              </a:ext>
            </a:extLst>
          </p:cNvPr>
          <p:cNvSpPr>
            <a:spLocks noGrp="1"/>
          </p:cNvSpPr>
          <p:nvPr>
            <p:ph type="dt" sz="half" idx="10"/>
          </p:nvPr>
        </p:nvSpPr>
        <p:spPr/>
        <p:txBody>
          <a:bodyPr/>
          <a:lstStyle/>
          <a:p>
            <a:fld id="{DF06F12F-02D3-425D-BF4C-BBE4220292D9}" type="datetime1">
              <a:rPr lang="en-US" smtClean="0"/>
              <a:t>12/22/2025</a:t>
            </a:fld>
            <a:endParaRPr lang="en-US"/>
          </a:p>
        </p:txBody>
      </p:sp>
      <p:sp>
        <p:nvSpPr>
          <p:cNvPr id="5" name="Slide Number Placeholder 4">
            <a:extLst>
              <a:ext uri="{FF2B5EF4-FFF2-40B4-BE49-F238E27FC236}">
                <a16:creationId xmlns:a16="http://schemas.microsoft.com/office/drawing/2014/main" id="{93050C0D-DF2B-F81C-1146-FCECBC5C0A53}"/>
              </a:ext>
            </a:extLst>
          </p:cNvPr>
          <p:cNvSpPr>
            <a:spLocks noGrp="1"/>
          </p:cNvSpPr>
          <p:nvPr>
            <p:ph type="sldNum" sz="quarter" idx="12"/>
          </p:nvPr>
        </p:nvSpPr>
        <p:spPr/>
        <p:txBody>
          <a:bodyPr/>
          <a:lstStyle/>
          <a:p>
            <a:fld id="{40742BEA-48CF-4F32-AFB8-C9C4AAF5269A}" type="slidenum">
              <a:rPr lang="en-US" smtClean="0"/>
              <a:t>38</a:t>
            </a:fld>
            <a:endParaRPr lang="en-US"/>
          </a:p>
        </p:txBody>
      </p:sp>
      <p:pic>
        <p:nvPicPr>
          <p:cNvPr id="6" name="Picture 5">
            <a:extLst>
              <a:ext uri="{FF2B5EF4-FFF2-40B4-BE49-F238E27FC236}">
                <a16:creationId xmlns:a16="http://schemas.microsoft.com/office/drawing/2014/main" id="{46A381FE-92E1-57CF-632A-D31233F16185}"/>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115010" y="1370132"/>
            <a:ext cx="7086598" cy="5124155"/>
          </a:xfrm>
          <a:prstGeom prst="rect">
            <a:avLst/>
          </a:prstGeom>
        </p:spPr>
      </p:pic>
    </p:spTree>
    <p:extLst>
      <p:ext uri="{BB962C8B-B14F-4D97-AF65-F5344CB8AC3E}">
        <p14:creationId xmlns:p14="http://schemas.microsoft.com/office/powerpoint/2010/main" val="1160663268"/>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3889584F-1BAB-625E-6806-4EB3B3405173}"/>
              </a:ext>
            </a:extLst>
          </p:cNvPr>
          <p:cNvSpPr>
            <a:spLocks noGrp="1"/>
          </p:cNvSpPr>
          <p:nvPr>
            <p:ph idx="1"/>
          </p:nvPr>
        </p:nvSpPr>
        <p:spPr>
          <a:xfrm>
            <a:off x="615820" y="438540"/>
            <a:ext cx="10627568" cy="5663054"/>
          </a:xfrm>
        </p:spPr>
        <p:txBody>
          <a:bodyPr>
            <a:normAutofit/>
          </a:bodyPr>
          <a:lstStyle/>
          <a:p>
            <a:pPr marL="0" indent="0">
              <a:buNone/>
            </a:pPr>
            <a:r>
              <a:rPr lang="en-US" sz="2400" dirty="0"/>
              <a:t>Recommendations for Improving Brain Tumor Classification</a:t>
            </a:r>
          </a:p>
          <a:p>
            <a:pPr marL="0" indent="0">
              <a:buNone/>
            </a:pPr>
            <a:endParaRPr lang="en-US" sz="2400" dirty="0"/>
          </a:p>
          <a:p>
            <a:pPr marL="0" indent="0">
              <a:buNone/>
            </a:pPr>
            <a:r>
              <a:rPr lang="en-US" b="1" dirty="0">
                <a:solidFill>
                  <a:schemeClr val="accent1">
                    <a:lumMod val="60000"/>
                    <a:lumOff val="40000"/>
                  </a:schemeClr>
                </a:solidFill>
              </a:rPr>
              <a:t>1. Dataset Enhancements</a:t>
            </a:r>
          </a:p>
          <a:p>
            <a:pPr marL="0" indent="0">
              <a:buNone/>
            </a:pPr>
            <a:r>
              <a:rPr lang="en-US" dirty="0"/>
              <a:t>Expand the dataset with more diverse MRI scans, especially underrepresented tumor types.</a:t>
            </a:r>
          </a:p>
          <a:p>
            <a:pPr marL="0" indent="0">
              <a:buNone/>
            </a:pPr>
            <a:r>
              <a:rPr lang="en-US" dirty="0"/>
              <a:t>Include MRIs from different machines and patient demographics for better generalization.</a:t>
            </a:r>
          </a:p>
          <a:p>
            <a:pPr marL="0" indent="0">
              <a:buNone/>
            </a:pPr>
            <a:endParaRPr lang="en-US" dirty="0"/>
          </a:p>
          <a:p>
            <a:pPr marL="0" indent="0">
              <a:buNone/>
            </a:pPr>
            <a:r>
              <a:rPr lang="en-US" b="1" dirty="0">
                <a:solidFill>
                  <a:schemeClr val="accent1">
                    <a:lumMod val="60000"/>
                    <a:lumOff val="40000"/>
                  </a:schemeClr>
                </a:solidFill>
              </a:rPr>
              <a:t>2. Model &amp; Training Improvements</a:t>
            </a:r>
          </a:p>
          <a:p>
            <a:pPr marL="0" indent="0">
              <a:buNone/>
            </a:pPr>
            <a:r>
              <a:rPr lang="en-US" dirty="0"/>
              <a:t>Experiment with modern architectures like </a:t>
            </a:r>
            <a:r>
              <a:rPr lang="en-US" dirty="0" err="1"/>
              <a:t>EfficientNet</a:t>
            </a:r>
            <a:r>
              <a:rPr lang="en-US" dirty="0"/>
              <a:t> or ResNet50 for comparison.</a:t>
            </a:r>
          </a:p>
          <a:p>
            <a:pPr marL="0" indent="0">
              <a:buNone/>
            </a:pPr>
            <a:r>
              <a:rPr lang="en-US" dirty="0"/>
              <a:t>Optimize hyperparameters (learning rate, batch size) using </a:t>
            </a:r>
            <a:r>
              <a:rPr lang="en-US" dirty="0" err="1"/>
              <a:t>Keras</a:t>
            </a:r>
            <a:r>
              <a:rPr lang="en-US" dirty="0"/>
              <a:t> Tuner or </a:t>
            </a:r>
            <a:r>
              <a:rPr lang="en-US" dirty="0" err="1"/>
              <a:t>Optuna</a:t>
            </a:r>
            <a:r>
              <a:rPr lang="en-US" dirty="0"/>
              <a:t>.</a:t>
            </a:r>
          </a:p>
          <a:p>
            <a:pPr marL="0" indent="0">
              <a:buNone/>
            </a:pPr>
            <a:r>
              <a:rPr lang="en-US" dirty="0"/>
              <a:t>Use medical-specific pretrained models (e.g., </a:t>
            </a:r>
            <a:r>
              <a:rPr lang="en-US" dirty="0" err="1"/>
              <a:t>RadImageNet</a:t>
            </a:r>
            <a:r>
              <a:rPr lang="en-US" dirty="0"/>
              <a:t>) instead of ImageNet weights.</a:t>
            </a:r>
          </a:p>
        </p:txBody>
      </p:sp>
      <p:sp>
        <p:nvSpPr>
          <p:cNvPr id="4" name="Date Placeholder 3">
            <a:extLst>
              <a:ext uri="{FF2B5EF4-FFF2-40B4-BE49-F238E27FC236}">
                <a16:creationId xmlns:a16="http://schemas.microsoft.com/office/drawing/2014/main" id="{7BE5AAB7-C5A3-E4E1-84F5-4A168542AF92}"/>
              </a:ext>
            </a:extLst>
          </p:cNvPr>
          <p:cNvSpPr>
            <a:spLocks noGrp="1"/>
          </p:cNvSpPr>
          <p:nvPr>
            <p:ph type="dt" sz="half" idx="10"/>
          </p:nvPr>
        </p:nvSpPr>
        <p:spPr/>
        <p:txBody>
          <a:bodyPr/>
          <a:lstStyle/>
          <a:p>
            <a:fld id="{DF06F12F-02D3-425D-BF4C-BBE4220292D9}" type="datetime1">
              <a:rPr lang="en-US" smtClean="0"/>
              <a:t>12/22/2025</a:t>
            </a:fld>
            <a:endParaRPr lang="en-US"/>
          </a:p>
        </p:txBody>
      </p:sp>
      <p:sp>
        <p:nvSpPr>
          <p:cNvPr id="5" name="Slide Number Placeholder 4">
            <a:extLst>
              <a:ext uri="{FF2B5EF4-FFF2-40B4-BE49-F238E27FC236}">
                <a16:creationId xmlns:a16="http://schemas.microsoft.com/office/drawing/2014/main" id="{FDE80C27-D76A-437C-F61D-EB2A910F60E7}"/>
              </a:ext>
            </a:extLst>
          </p:cNvPr>
          <p:cNvSpPr>
            <a:spLocks noGrp="1"/>
          </p:cNvSpPr>
          <p:nvPr>
            <p:ph type="sldNum" sz="quarter" idx="12"/>
          </p:nvPr>
        </p:nvSpPr>
        <p:spPr/>
        <p:txBody>
          <a:bodyPr/>
          <a:lstStyle/>
          <a:p>
            <a:fld id="{40742BEA-48CF-4F32-AFB8-C9C4AAF5269A}" type="slidenum">
              <a:rPr lang="en-US" smtClean="0"/>
              <a:t>39</a:t>
            </a:fld>
            <a:endParaRPr lang="en-US"/>
          </a:p>
        </p:txBody>
      </p:sp>
    </p:spTree>
    <p:extLst>
      <p:ext uri="{BB962C8B-B14F-4D97-AF65-F5344CB8AC3E}">
        <p14:creationId xmlns:p14="http://schemas.microsoft.com/office/powerpoint/2010/main" val="357692028"/>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75C0AF88-3463-9297-61CA-481817CAD44A}"/>
              </a:ext>
            </a:extLst>
          </p:cNvPr>
          <p:cNvSpPr>
            <a:spLocks noGrp="1"/>
          </p:cNvSpPr>
          <p:nvPr>
            <p:ph idx="1"/>
          </p:nvPr>
        </p:nvSpPr>
        <p:spPr>
          <a:xfrm>
            <a:off x="167951" y="357356"/>
            <a:ext cx="4052589" cy="6136931"/>
          </a:xfrm>
        </p:spPr>
        <p:txBody>
          <a:bodyPr>
            <a:normAutofit/>
          </a:bodyPr>
          <a:lstStyle/>
          <a:p>
            <a:endParaRPr lang="en-US" dirty="0"/>
          </a:p>
        </p:txBody>
      </p:sp>
      <p:sp>
        <p:nvSpPr>
          <p:cNvPr id="4" name="Date Placeholder 3">
            <a:extLst>
              <a:ext uri="{FF2B5EF4-FFF2-40B4-BE49-F238E27FC236}">
                <a16:creationId xmlns:a16="http://schemas.microsoft.com/office/drawing/2014/main" id="{99F996DD-F379-1B43-C36A-B9F91B6ED436}"/>
              </a:ext>
            </a:extLst>
          </p:cNvPr>
          <p:cNvSpPr>
            <a:spLocks noGrp="1"/>
          </p:cNvSpPr>
          <p:nvPr>
            <p:ph type="dt" sz="half" idx="10"/>
          </p:nvPr>
        </p:nvSpPr>
        <p:spPr/>
        <p:txBody>
          <a:bodyPr/>
          <a:lstStyle/>
          <a:p>
            <a:fld id="{DF06F12F-02D3-425D-BF4C-BBE4220292D9}" type="datetime1">
              <a:rPr lang="en-US" smtClean="0"/>
              <a:t>12/22/2025</a:t>
            </a:fld>
            <a:endParaRPr lang="en-US"/>
          </a:p>
        </p:txBody>
      </p:sp>
      <p:sp>
        <p:nvSpPr>
          <p:cNvPr id="5" name="Slide Number Placeholder 4">
            <a:extLst>
              <a:ext uri="{FF2B5EF4-FFF2-40B4-BE49-F238E27FC236}">
                <a16:creationId xmlns:a16="http://schemas.microsoft.com/office/drawing/2014/main" id="{B85DF42A-5D60-6A56-F14C-039D3BDE938D}"/>
              </a:ext>
            </a:extLst>
          </p:cNvPr>
          <p:cNvSpPr>
            <a:spLocks noGrp="1"/>
          </p:cNvSpPr>
          <p:nvPr>
            <p:ph type="sldNum" sz="quarter" idx="12"/>
          </p:nvPr>
        </p:nvSpPr>
        <p:spPr/>
        <p:txBody>
          <a:bodyPr/>
          <a:lstStyle/>
          <a:p>
            <a:fld id="{40742BEA-48CF-4F32-AFB8-C9C4AAF5269A}" type="slidenum">
              <a:rPr lang="en-US" smtClean="0"/>
              <a:t>40</a:t>
            </a:fld>
            <a:endParaRPr lang="en-US"/>
          </a:p>
        </p:txBody>
      </p:sp>
      <p:pic>
        <p:nvPicPr>
          <p:cNvPr id="8" name="Picture 7">
            <a:extLst>
              <a:ext uri="{FF2B5EF4-FFF2-40B4-BE49-F238E27FC236}">
                <a16:creationId xmlns:a16="http://schemas.microsoft.com/office/drawing/2014/main" id="{D0D2693C-C63E-FDC7-5109-98099B5F19AE}"/>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4296741" y="385348"/>
            <a:ext cx="3877945" cy="6034125"/>
          </a:xfrm>
          <a:prstGeom prst="rect">
            <a:avLst/>
          </a:prstGeom>
        </p:spPr>
      </p:pic>
      <p:pic>
        <p:nvPicPr>
          <p:cNvPr id="9" name="Picture 8">
            <a:extLst>
              <a:ext uri="{FF2B5EF4-FFF2-40B4-BE49-F238E27FC236}">
                <a16:creationId xmlns:a16="http://schemas.microsoft.com/office/drawing/2014/main" id="{9C086B8C-B5EF-5CD2-854F-F39E0460A61E}"/>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8250887" y="668959"/>
            <a:ext cx="3877945" cy="2820690"/>
          </a:xfrm>
          <a:prstGeom prst="rect">
            <a:avLst/>
          </a:prstGeom>
        </p:spPr>
      </p:pic>
    </p:spTree>
    <p:extLst>
      <p:ext uri="{BB962C8B-B14F-4D97-AF65-F5344CB8AC3E}">
        <p14:creationId xmlns:p14="http://schemas.microsoft.com/office/powerpoint/2010/main" val="1970940180"/>
      </p:ext>
    </p:extLst>
  </p:cSld>
  <p:clrMapOvr>
    <a:masterClrMapping/>
  </p:clrMapOvr>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Celestial">
  <a:themeElements>
    <a:clrScheme name="Celestial">
      <a:dk1>
        <a:sysClr val="windowText" lastClr="000000"/>
      </a:dk1>
      <a:lt1>
        <a:sysClr val="window" lastClr="FFFFFF"/>
      </a:lt1>
      <a:dk2>
        <a:srgbClr val="18276C"/>
      </a:dk2>
      <a:lt2>
        <a:srgbClr val="EBEBEB"/>
      </a:lt2>
      <a:accent1>
        <a:srgbClr val="AC3EC1"/>
      </a:accent1>
      <a:accent2>
        <a:srgbClr val="477BD1"/>
      </a:accent2>
      <a:accent3>
        <a:srgbClr val="46B298"/>
      </a:accent3>
      <a:accent4>
        <a:srgbClr val="90BA4C"/>
      </a:accent4>
      <a:accent5>
        <a:srgbClr val="DD9D31"/>
      </a:accent5>
      <a:accent6>
        <a:srgbClr val="E25247"/>
      </a:accent6>
      <a:hlink>
        <a:srgbClr val="C573D2"/>
      </a:hlink>
      <a:folHlink>
        <a:srgbClr val="CCAEE8"/>
      </a:folHlink>
    </a:clrScheme>
    <a:fontScheme name="Celestial">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Celestial">
      <a:fillStyleLst>
        <a:solidFill>
          <a:schemeClr val="phClr"/>
        </a:solidFill>
        <a:gradFill rotWithShape="1">
          <a:gsLst>
            <a:gs pos="0">
              <a:schemeClr val="phClr">
                <a:tint val="70000"/>
                <a:lumMod val="110000"/>
              </a:schemeClr>
            </a:gs>
            <a:gs pos="100000">
              <a:schemeClr val="phClr">
                <a:tint val="82000"/>
                <a:alpha val="74000"/>
              </a:schemeClr>
            </a:gs>
          </a:gsLst>
          <a:lin ang="5400000" scaled="0"/>
        </a:gradFill>
        <a:gradFill rotWithShape="1">
          <a:gsLst>
            <a:gs pos="0">
              <a:schemeClr val="phClr">
                <a:tint val="98000"/>
                <a:lumMod val="100000"/>
              </a:schemeClr>
            </a:gs>
            <a:gs pos="100000">
              <a:schemeClr val="phClr">
                <a:shade val="88000"/>
                <a:lumMod val="88000"/>
              </a:schemeClr>
            </a:gs>
          </a:gsLst>
          <a:lin ang="5400000" scaled="1"/>
        </a:gradFill>
      </a:fillStyleLst>
      <a:lnStyleLst>
        <a:ln w="9525" cap="rnd" cmpd="sng" algn="ctr">
          <a:solidFill>
            <a:schemeClr val="phClr"/>
          </a:solidFill>
          <a:prstDash val="solid"/>
        </a:ln>
        <a:ln w="19050" cap="rnd" cmpd="sng" algn="ctr">
          <a:solidFill>
            <a:schemeClr val="phClr"/>
          </a:solidFill>
          <a:prstDash val="solid"/>
        </a:ln>
        <a:ln w="25400" cap="rnd" cmpd="sng" algn="ctr">
          <a:solidFill>
            <a:schemeClr val="phClr"/>
          </a:solidFill>
          <a:prstDash val="solid"/>
        </a:ln>
      </a:lnStyleLst>
      <a:effectStyleLst>
        <a:effectStyle>
          <a:effectLst/>
        </a:effectStyle>
        <a:effectStyle>
          <a:effectLst>
            <a:outerShdw blurRad="50800" dist="38100" dir="5400000" rotWithShape="0">
              <a:srgbClr val="000000">
                <a:alpha val="35000"/>
              </a:srgbClr>
            </a:outerShdw>
          </a:effectLst>
        </a:effectStyle>
        <a:effectStyle>
          <a:effectLst>
            <a:outerShdw blurRad="63500" dist="38100" dir="5400000" rotWithShape="0">
              <a:srgbClr val="000000">
                <a:alpha val="65000"/>
              </a:srgbClr>
            </a:outerShdw>
          </a:effectLst>
          <a:scene3d>
            <a:camera prst="orthographicFront">
              <a:rot lat="0" lon="0" rev="0"/>
            </a:camera>
            <a:lightRig rig="threePt" dir="tl">
              <a:rot lat="0" lon="0" rev="1200000"/>
            </a:lightRig>
          </a:scene3d>
          <a:sp3d>
            <a:bevelT w="38100" h="12700"/>
          </a:sp3d>
        </a:effectStyle>
      </a:effectStyleLst>
      <a:bgFillStyleLst>
        <a:solidFill>
          <a:schemeClr val="phClr"/>
        </a:solidFill>
        <a:gradFill rotWithShape="1">
          <a:gsLst>
            <a:gs pos="0">
              <a:schemeClr val="phClr">
                <a:tint val="90000"/>
                <a:shade val="96000"/>
                <a:hueMod val="100000"/>
                <a:satMod val="180000"/>
                <a:lumMod val="110000"/>
              </a:schemeClr>
            </a:gs>
            <a:gs pos="100000">
              <a:schemeClr val="phClr">
                <a:shade val="96000"/>
                <a:satMod val="160000"/>
                <a:lumMod val="100000"/>
              </a:schemeClr>
            </a:gs>
          </a:gsLst>
          <a:lin ang="4740000" scaled="1"/>
        </a:gradFill>
        <a:blipFill>
          <a:blip xmlns:r="http://schemas.openxmlformats.org/officeDocument/2006/relationships" r:embed="rId1"/>
          <a:stretch/>
        </a:blipFill>
      </a:bgFillStyleLst>
    </a:fmtScheme>
  </a:themeElements>
  <a:objectDefaults/>
  <a:extraClrSchemeLst/>
  <a:extLst>
    <a:ext uri="{05A4C25C-085E-4340-85A3-A5531E510DB2}">
      <thm15:themeFamily xmlns:thm15="http://schemas.microsoft.com/office/thememl/2012/main" name="Celestial" id="{C4BB2A3D-0E93-4C5F-B0D2-9D3FCE089CC5}" vid="{42E5908D-19A2-46FD-89FA-638B126129EF}"/>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Celestial</Template>
  <TotalTime>3540</TotalTime>
  <Words>2352</Words>
  <Application>Microsoft Office PowerPoint</Application>
  <PresentationFormat>Custom</PresentationFormat>
  <Paragraphs>546</Paragraphs>
  <Slides>40</Slides>
  <Notes>0</Notes>
  <HiddenSlides>0</HiddenSlides>
  <MMClips>0</MMClips>
  <ScaleCrop>false</ScaleCrop>
  <HeadingPairs>
    <vt:vector size="6" baseType="variant">
      <vt:variant>
        <vt:lpstr>Fonts Used</vt:lpstr>
      </vt:variant>
      <vt:variant>
        <vt:i4>7</vt:i4>
      </vt:variant>
      <vt:variant>
        <vt:lpstr>Theme</vt:lpstr>
      </vt:variant>
      <vt:variant>
        <vt:i4>1</vt:i4>
      </vt:variant>
      <vt:variant>
        <vt:lpstr>Slide Titles</vt:lpstr>
      </vt:variant>
      <vt:variant>
        <vt:i4>40</vt:i4>
      </vt:variant>
    </vt:vector>
  </HeadingPairs>
  <TitlesOfParts>
    <vt:vector size="48" baseType="lpstr">
      <vt:lpstr>Arial</vt:lpstr>
      <vt:lpstr>Calibri</vt:lpstr>
      <vt:lpstr>Calibri Light</vt:lpstr>
      <vt:lpstr>inherit</vt:lpstr>
      <vt:lpstr>Inter</vt:lpstr>
      <vt:lpstr>Symbol</vt:lpstr>
      <vt:lpstr>Times New Roman</vt:lpstr>
      <vt:lpstr>Celestial</vt:lpstr>
      <vt:lpstr>Using Ai technology to detect brain tumors</vt:lpstr>
      <vt:lpstr>PowerPoint Presentation</vt:lpstr>
      <vt:lpstr>MRI pictures to show the difference between a normal brain and a brain with tumor</vt:lpstr>
      <vt:lpstr>Project goals</vt:lpstr>
      <vt:lpstr>Project goals</vt:lpstr>
      <vt:lpstr>PowerPoint Presentation</vt:lpstr>
      <vt:lpstr>PowerPoint Presentation</vt:lpstr>
      <vt:lpstr>PowerPoint Presentation</vt:lpstr>
      <vt:lpstr>PowerPoint Presentation</vt:lpstr>
      <vt:lpstr>My dataset</vt:lpstr>
      <vt:lpstr>New Data</vt:lpstr>
      <vt:lpstr>Dataset description </vt:lpstr>
      <vt:lpstr>Dataset</vt:lpstr>
      <vt:lpstr>Dataset</vt:lpstr>
      <vt:lpstr>What’s new ?</vt:lpstr>
      <vt:lpstr>Why vgg16 and resnet101?</vt:lpstr>
      <vt:lpstr>PowerPoint Presentation</vt:lpstr>
      <vt:lpstr>Preprocessing</vt:lpstr>
      <vt:lpstr>VGG16 Model Architecture</vt:lpstr>
      <vt:lpstr>Restnet 101 model architecture </vt:lpstr>
      <vt:lpstr>Data agumentation </vt:lpstr>
      <vt:lpstr>Data agumentation </vt:lpstr>
      <vt:lpstr>Training (VGG16+Resnet101)</vt:lpstr>
      <vt:lpstr>Accuracy and loss (resnet101)</vt:lpstr>
      <vt:lpstr>Accuracy &amp; loss (Old vgg16)</vt:lpstr>
      <vt:lpstr>Confusion matrix (resnet101)</vt:lpstr>
      <vt:lpstr>Confusion matrix old(vgg16)</vt:lpstr>
      <vt:lpstr>PowerPoint Presentation</vt:lpstr>
      <vt:lpstr>System Requirements Specification</vt:lpstr>
      <vt:lpstr>Non-functional requirements </vt:lpstr>
      <vt:lpstr> Requirements Traceability Matrix (RTM)</vt:lpstr>
      <vt:lpstr>RTM</vt:lpstr>
      <vt:lpstr>Activity diagram</vt:lpstr>
      <vt:lpstr>Upload image</vt:lpstr>
      <vt:lpstr>Upload image</vt:lpstr>
      <vt:lpstr>Send Image to ML model</vt:lpstr>
      <vt:lpstr>Send image to ml model</vt:lpstr>
      <vt:lpstr>Use case diagram</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Using Ai to detect brain tumors</dc:title>
  <dc:creator>mayar sy</dc:creator>
  <cp:lastModifiedBy>mayar sy</cp:lastModifiedBy>
  <cp:revision>25</cp:revision>
  <dcterms:created xsi:type="dcterms:W3CDTF">2024-10-13T03:40:01Z</dcterms:created>
  <dcterms:modified xsi:type="dcterms:W3CDTF">2025-12-22T16:07:16Z</dcterms:modified>
</cp:coreProperties>
</file>